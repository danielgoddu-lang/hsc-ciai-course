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bookmarkIdSeed="3">
  <p:sldMasterIdLst>
    <p:sldMasterId id="2147483672" r:id="rId2"/>
  </p:sldMasterIdLst>
  <p:notesMasterIdLst>
    <p:notesMasterId r:id="rId27"/>
  </p:notesMasterIdLst>
  <p:handoutMasterIdLst>
    <p:handoutMasterId r:id="rId28"/>
  </p:handoutMasterIdLst>
  <p:sldIdLst>
    <p:sldId id="256" r:id="rId3"/>
    <p:sldId id="708" r:id="rId4"/>
    <p:sldId id="715" r:id="rId5"/>
    <p:sldId id="764" r:id="rId6"/>
    <p:sldId id="763" r:id="rId7"/>
    <p:sldId id="765" r:id="rId8"/>
    <p:sldId id="766" r:id="rId9"/>
    <p:sldId id="767" r:id="rId10"/>
    <p:sldId id="768" r:id="rId11"/>
    <p:sldId id="730" r:id="rId12"/>
    <p:sldId id="758" r:id="rId13"/>
    <p:sldId id="760" r:id="rId14"/>
    <p:sldId id="761" r:id="rId15"/>
    <p:sldId id="762" r:id="rId16"/>
    <p:sldId id="769" r:id="rId17"/>
    <p:sldId id="770" r:id="rId18"/>
    <p:sldId id="731" r:id="rId19"/>
    <p:sldId id="753" r:id="rId20"/>
    <p:sldId id="771" r:id="rId21"/>
    <p:sldId id="772" r:id="rId22"/>
    <p:sldId id="607" r:id="rId23"/>
    <p:sldId id="397" r:id="rId24"/>
    <p:sldId id="710" r:id="rId25"/>
    <p:sldId id="716" r:id="rId2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pos="3840" userDrawn="1">
          <p15:clr>
            <a:srgbClr val="A4A3A4"/>
          </p15:clr>
        </p15:guide>
        <p15:guide id="2" orient="horz" pos="216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0397" autoAdjust="0"/>
    <p:restoredTop sz="90392" autoAdjust="0"/>
  </p:normalViewPr>
  <p:slideViewPr>
    <p:cSldViewPr>
      <p:cViewPr varScale="1">
        <p:scale>
          <a:sx n="50" d="100"/>
          <a:sy n="50" d="100"/>
        </p:scale>
        <p:origin x="50" y="578"/>
      </p:cViewPr>
      <p:guideLst>
        <p:guide pos="3840"/>
        <p:guide orient="horz" pos="2160"/>
      </p:guideLst>
    </p:cSldViewPr>
  </p:slideViewPr>
  <p:outlineViewPr>
    <p:cViewPr>
      <p:scale>
        <a:sx n="33" d="100"/>
        <a:sy n="33" d="100"/>
      </p:scale>
      <p:origin x="0" y="0"/>
    </p:cViewPr>
  </p:outlineViewPr>
  <p:notesTextViewPr>
    <p:cViewPr>
      <p:scale>
        <a:sx n="3" d="2"/>
        <a:sy n="3" d="2"/>
      </p:scale>
      <p:origin x="0" y="0"/>
    </p:cViewPr>
  </p:notesTextViewPr>
  <p:notesViewPr>
    <p:cSldViewPr showGuides="1">
      <p:cViewPr varScale="1">
        <p:scale>
          <a:sx n="63" d="100"/>
          <a:sy n="63" d="100"/>
        </p:scale>
        <p:origin x="2838" y="108"/>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2" Type="http://schemas.openxmlformats.org/officeDocument/2006/relationships/slideMaster" Target="slideMasters/slideMaster1.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tableStyles" Target="tableStyle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handoutMaster" Target="handoutMasters/handoutMaster1.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theme" Target="theme/theme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notesMaster" Target="notesMasters/notesMaster1.xml"/><Relationship Id="rId30" Type="http://schemas.openxmlformats.org/officeDocument/2006/relationships/viewProps" Target="viewProps.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pieChart>
        <c:varyColors val="1"/>
        <c:ser>
          <c:idx val="0"/>
          <c:order val="0"/>
          <c:tx>
            <c:strRef>
              <c:f>Sheet1!$B$1</c:f>
              <c:strCache>
                <c:ptCount val="1"/>
                <c:pt idx="0">
                  <c:v>AI</c:v>
                </c:pt>
              </c:strCache>
            </c:strRef>
          </c:tx>
          <c:dPt>
            <c:idx val="0"/>
            <c:bubble3D val="0"/>
            <c:spPr>
              <a:solidFill>
                <a:schemeClr val="accent1"/>
              </a:solidFill>
              <a:ln w="19050">
                <a:solidFill>
                  <a:schemeClr val="lt1"/>
                </a:solidFill>
              </a:ln>
              <a:effectLst/>
            </c:spPr>
            <c:extLst>
              <c:ext xmlns:c16="http://schemas.microsoft.com/office/drawing/2014/chart" uri="{C3380CC4-5D6E-409C-BE32-E72D297353CC}">
                <c16:uniqueId val="{00000001-22B8-42B3-8F80-468F5008CF07}"/>
              </c:ext>
            </c:extLst>
          </c:dPt>
          <c:dPt>
            <c:idx val="1"/>
            <c:bubble3D val="0"/>
            <c:spPr>
              <a:solidFill>
                <a:schemeClr val="accent2"/>
              </a:solidFill>
              <a:ln w="19050">
                <a:solidFill>
                  <a:schemeClr val="lt1"/>
                </a:solidFill>
              </a:ln>
              <a:effectLst/>
            </c:spPr>
            <c:extLst>
              <c:ext xmlns:c16="http://schemas.microsoft.com/office/drawing/2014/chart" uri="{C3380CC4-5D6E-409C-BE32-E72D297353CC}">
                <c16:uniqueId val="{00000003-22B8-42B3-8F80-468F5008CF07}"/>
              </c:ext>
            </c:extLst>
          </c:dPt>
          <c:dPt>
            <c:idx val="2"/>
            <c:bubble3D val="0"/>
            <c:spPr>
              <a:solidFill>
                <a:schemeClr val="accent3"/>
              </a:solidFill>
              <a:ln w="19050">
                <a:solidFill>
                  <a:schemeClr val="lt1"/>
                </a:solidFill>
              </a:ln>
              <a:effectLst/>
            </c:spPr>
            <c:extLst>
              <c:ext xmlns:c16="http://schemas.microsoft.com/office/drawing/2014/chart" uri="{C3380CC4-5D6E-409C-BE32-E72D297353CC}">
                <c16:uniqueId val="{00000005-22B8-42B3-8F80-468F5008CF07}"/>
              </c:ext>
            </c:extLst>
          </c:dPt>
          <c:dPt>
            <c:idx val="3"/>
            <c:bubble3D val="0"/>
            <c:spPr>
              <a:solidFill>
                <a:schemeClr val="accent4"/>
              </a:solidFill>
              <a:ln w="19050">
                <a:solidFill>
                  <a:schemeClr val="lt1"/>
                </a:solidFill>
              </a:ln>
              <a:effectLst/>
            </c:spPr>
            <c:extLst>
              <c:ext xmlns:c16="http://schemas.microsoft.com/office/drawing/2014/chart" uri="{C3380CC4-5D6E-409C-BE32-E72D297353CC}">
                <c16:uniqueId val="{00000007-22B8-42B3-8F80-468F5008CF07}"/>
              </c:ext>
            </c:extLst>
          </c:dPt>
          <c:cat>
            <c:strRef>
              <c:f>Sheet1!$A$2:$A$5</c:f>
              <c:strCache>
                <c:ptCount val="4"/>
                <c:pt idx="0">
                  <c:v>Predictive</c:v>
                </c:pt>
                <c:pt idx="1">
                  <c:v>Ranking</c:v>
                </c:pt>
                <c:pt idx="2">
                  <c:v>Vision</c:v>
                </c:pt>
                <c:pt idx="3">
                  <c:v>Generative</c:v>
                </c:pt>
              </c:strCache>
            </c:strRef>
          </c:cat>
          <c:val>
            <c:numRef>
              <c:f>Sheet1!$B$2:$B$5</c:f>
              <c:numCache>
                <c:formatCode>General</c:formatCode>
                <c:ptCount val="4"/>
                <c:pt idx="0">
                  <c:v>50</c:v>
                </c:pt>
                <c:pt idx="1">
                  <c:v>20</c:v>
                </c:pt>
                <c:pt idx="2">
                  <c:v>15</c:v>
                </c:pt>
                <c:pt idx="3">
                  <c:v>10</c:v>
                </c:pt>
              </c:numCache>
            </c:numRef>
          </c:val>
          <c:extLst>
            <c:ext xmlns:c16="http://schemas.microsoft.com/office/drawing/2014/chart" uri="{C3380CC4-5D6E-409C-BE32-E72D297353CC}">
              <c16:uniqueId val="{00000000-CF45-49BB-8C84-403B0DBE8907}"/>
            </c:ext>
          </c:extLst>
        </c:ser>
        <c:dLbls>
          <c:showLegendKey val="0"/>
          <c:showVal val="0"/>
          <c:showCatName val="0"/>
          <c:showSerName val="0"/>
          <c:showPercent val="0"/>
          <c:showBubbleSize val="0"/>
          <c:showLeaderLines val="1"/>
        </c:dLbls>
        <c:firstSliceAng val="0"/>
      </c:pieChart>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1EACA714-536E-4746-87BE-E433361DBBEB}" type="doc">
      <dgm:prSet loTypeId="urn:microsoft.com/office/officeart/2005/8/layout/vList2" loCatId="list" qsTypeId="urn:microsoft.com/office/officeart/2005/8/quickstyle/3d3" qsCatId="3D" csTypeId="urn:microsoft.com/office/officeart/2005/8/colors/accent1_2" csCatId="accent1" phldr="1"/>
      <dgm:spPr/>
      <dgm:t>
        <a:bodyPr/>
        <a:lstStyle/>
        <a:p>
          <a:endParaRPr lang="en-US"/>
        </a:p>
      </dgm:t>
    </dgm:pt>
    <dgm:pt modelId="{C91A4BB9-5CEA-48AF-A17D-C32E05AD848D}">
      <dgm:prSet/>
      <dgm:spPr/>
      <dgm:t>
        <a:bodyPr/>
        <a:lstStyle/>
        <a:p>
          <a:r>
            <a:rPr lang="en-US" dirty="0"/>
            <a:t>St. Michael the Archangel, </a:t>
          </a:r>
          <a:br>
            <a:rPr lang="en-US" dirty="0"/>
          </a:br>
          <a:r>
            <a:rPr lang="en-US" dirty="0"/>
            <a:t>defend us in battle. </a:t>
          </a:r>
          <a:br>
            <a:rPr lang="en-US" dirty="0"/>
          </a:br>
          <a:r>
            <a:rPr lang="en-US" dirty="0"/>
            <a:t>Be our protection against the wickedness and snares of the Devil. </a:t>
          </a:r>
          <a:br>
            <a:rPr lang="en-US" dirty="0"/>
          </a:br>
          <a:r>
            <a:rPr lang="en-US" dirty="0"/>
            <a:t>May God rebuke him, we humbly pray.</a:t>
          </a:r>
          <a:br>
            <a:rPr lang="en-US" dirty="0"/>
          </a:br>
          <a:r>
            <a:rPr lang="en-US" dirty="0"/>
            <a:t>And do thou, O Prince of the heavenly hosts, </a:t>
          </a:r>
          <a:br>
            <a:rPr lang="en-US" dirty="0"/>
          </a:br>
          <a:r>
            <a:rPr lang="en-US" dirty="0"/>
            <a:t>by the power of God, </a:t>
          </a:r>
          <a:br>
            <a:rPr lang="en-US" dirty="0"/>
          </a:br>
          <a:r>
            <a:rPr lang="en-US" dirty="0"/>
            <a:t>cast into hell Satan, and all the evil spirits, </a:t>
          </a:r>
          <a:br>
            <a:rPr lang="en-US" dirty="0"/>
          </a:br>
          <a:r>
            <a:rPr lang="en-US" dirty="0"/>
            <a:t>who prowl about the world </a:t>
          </a:r>
          <a:br>
            <a:rPr lang="en-US" dirty="0"/>
          </a:br>
          <a:r>
            <a:rPr lang="en-US" dirty="0"/>
            <a:t>seeking the ruin of souls. Amen.</a:t>
          </a:r>
        </a:p>
      </dgm:t>
    </dgm:pt>
    <dgm:pt modelId="{DCE8C8DF-A426-4B45-8E8E-DF91CABC50DF}" type="parTrans" cxnId="{633A9793-D4D1-4646-89DC-CF4C57719116}">
      <dgm:prSet/>
      <dgm:spPr/>
      <dgm:t>
        <a:bodyPr/>
        <a:lstStyle/>
        <a:p>
          <a:endParaRPr lang="en-US"/>
        </a:p>
      </dgm:t>
    </dgm:pt>
    <dgm:pt modelId="{E7D2FBD2-EE11-4ABF-BC6A-5C34D90322EB}" type="sibTrans" cxnId="{633A9793-D4D1-4646-89DC-CF4C57719116}">
      <dgm:prSet/>
      <dgm:spPr/>
      <dgm:t>
        <a:bodyPr/>
        <a:lstStyle/>
        <a:p>
          <a:endParaRPr lang="en-US"/>
        </a:p>
      </dgm:t>
    </dgm:pt>
    <dgm:pt modelId="{C76AD353-2A12-4DC9-9594-29C8D8501785}" type="pres">
      <dgm:prSet presAssocID="{1EACA714-536E-4746-87BE-E433361DBBEB}" presName="linear" presStyleCnt="0">
        <dgm:presLayoutVars>
          <dgm:animLvl val="lvl"/>
          <dgm:resizeHandles val="exact"/>
        </dgm:presLayoutVars>
      </dgm:prSet>
      <dgm:spPr/>
    </dgm:pt>
    <dgm:pt modelId="{4F88ADB4-04BB-41C5-A825-234AB106EDF8}" type="pres">
      <dgm:prSet presAssocID="{C91A4BB9-5CEA-48AF-A17D-C32E05AD848D}" presName="parentText" presStyleLbl="node1" presStyleIdx="0" presStyleCnt="1">
        <dgm:presLayoutVars>
          <dgm:chMax val="0"/>
          <dgm:bulletEnabled val="1"/>
        </dgm:presLayoutVars>
      </dgm:prSet>
      <dgm:spPr/>
    </dgm:pt>
  </dgm:ptLst>
  <dgm:cxnLst>
    <dgm:cxn modelId="{4267750D-C31D-49D3-B893-6823390389F4}" type="presOf" srcId="{C91A4BB9-5CEA-48AF-A17D-C32E05AD848D}" destId="{4F88ADB4-04BB-41C5-A825-234AB106EDF8}" srcOrd="0" destOrd="0" presId="urn:microsoft.com/office/officeart/2005/8/layout/vList2"/>
    <dgm:cxn modelId="{3C52F25C-7DC7-487A-8E38-7C3C8A518DE6}" type="presOf" srcId="{1EACA714-536E-4746-87BE-E433361DBBEB}" destId="{C76AD353-2A12-4DC9-9594-29C8D8501785}" srcOrd="0" destOrd="0" presId="urn:microsoft.com/office/officeart/2005/8/layout/vList2"/>
    <dgm:cxn modelId="{633A9793-D4D1-4646-89DC-CF4C57719116}" srcId="{1EACA714-536E-4746-87BE-E433361DBBEB}" destId="{C91A4BB9-5CEA-48AF-A17D-C32E05AD848D}" srcOrd="0" destOrd="0" parTransId="{DCE8C8DF-A426-4B45-8E8E-DF91CABC50DF}" sibTransId="{E7D2FBD2-EE11-4ABF-BC6A-5C34D90322EB}"/>
    <dgm:cxn modelId="{453010A8-55AF-447E-A8A8-DD7B64773EC7}" type="presParOf" srcId="{C76AD353-2A12-4DC9-9594-29C8D8501785}" destId="{4F88ADB4-04BB-41C5-A825-234AB106EDF8}"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F88ADB4-04BB-41C5-A825-234AB106EDF8}">
      <dsp:nvSpPr>
        <dsp:cNvPr id="0" name=""/>
        <dsp:cNvSpPr/>
      </dsp:nvSpPr>
      <dsp:spPr>
        <a:xfrm>
          <a:off x="0" y="21892"/>
          <a:ext cx="6771640" cy="3980340"/>
        </a:xfrm>
        <a:prstGeom prst="roundRect">
          <a:avLst/>
        </a:prstGeom>
        <a:solidFill>
          <a:schemeClr val="accent1">
            <a:hueOff val="0"/>
            <a:satOff val="0"/>
            <a:lumOff val="0"/>
            <a:alphaOff val="0"/>
          </a:schemeClr>
        </a:solidFill>
        <a:ln>
          <a:noFill/>
        </a:ln>
        <a:effectLst>
          <a:outerShdw blurRad="50800" dist="12700" dir="5400000" algn="ctr" rotWithShape="0">
            <a:srgbClr val="000000">
              <a:alpha val="50000"/>
            </a:srgbClr>
          </a:outerShdw>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l" defTabSz="1200150">
            <a:lnSpc>
              <a:spcPct val="90000"/>
            </a:lnSpc>
            <a:spcBef>
              <a:spcPct val="0"/>
            </a:spcBef>
            <a:spcAft>
              <a:spcPct val="35000"/>
            </a:spcAft>
            <a:buNone/>
          </a:pPr>
          <a:r>
            <a:rPr lang="en-US" sz="2700" kern="1200" dirty="0"/>
            <a:t>St. Michael the Archangel, </a:t>
          </a:r>
          <a:br>
            <a:rPr lang="en-US" sz="2700" kern="1200" dirty="0"/>
          </a:br>
          <a:r>
            <a:rPr lang="en-US" sz="2700" kern="1200" dirty="0"/>
            <a:t>defend us in battle. </a:t>
          </a:r>
          <a:br>
            <a:rPr lang="en-US" sz="2700" kern="1200" dirty="0"/>
          </a:br>
          <a:r>
            <a:rPr lang="en-US" sz="2700" kern="1200" dirty="0"/>
            <a:t>Be our protection against the wickedness and snares of the Devil. </a:t>
          </a:r>
          <a:br>
            <a:rPr lang="en-US" sz="2700" kern="1200" dirty="0"/>
          </a:br>
          <a:r>
            <a:rPr lang="en-US" sz="2700" kern="1200" dirty="0"/>
            <a:t>May God rebuke him, we humbly pray.</a:t>
          </a:r>
          <a:br>
            <a:rPr lang="en-US" sz="2700" kern="1200" dirty="0"/>
          </a:br>
          <a:r>
            <a:rPr lang="en-US" sz="2700" kern="1200" dirty="0"/>
            <a:t>And do thou, O Prince of the heavenly hosts, </a:t>
          </a:r>
          <a:br>
            <a:rPr lang="en-US" sz="2700" kern="1200" dirty="0"/>
          </a:br>
          <a:r>
            <a:rPr lang="en-US" sz="2700" kern="1200" dirty="0"/>
            <a:t>by the power of God, </a:t>
          </a:r>
          <a:br>
            <a:rPr lang="en-US" sz="2700" kern="1200" dirty="0"/>
          </a:br>
          <a:r>
            <a:rPr lang="en-US" sz="2700" kern="1200" dirty="0"/>
            <a:t>cast into hell Satan, and all the evil spirits, </a:t>
          </a:r>
          <a:br>
            <a:rPr lang="en-US" sz="2700" kern="1200" dirty="0"/>
          </a:br>
          <a:r>
            <a:rPr lang="en-US" sz="2700" kern="1200" dirty="0"/>
            <a:t>who prowl about the world </a:t>
          </a:r>
          <a:br>
            <a:rPr lang="en-US" sz="2700" kern="1200" dirty="0"/>
          </a:br>
          <a:r>
            <a:rPr lang="en-US" sz="2700" kern="1200" dirty="0"/>
            <a:t>seeking the ruin of souls. Amen.</a:t>
          </a:r>
        </a:p>
      </dsp:txBody>
      <dsp:txXfrm>
        <a:off x="194304" y="216196"/>
        <a:ext cx="6383032" cy="3591732"/>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3d3">
  <dgm:title val=""/>
  <dgm:desc val=""/>
  <dgm:catLst>
    <dgm:cat type="3D" pri="11300"/>
  </dgm:catLst>
  <dgm:scene3d>
    <a:camera prst="orthographicFront"/>
    <a:lightRig rig="threePt" dir="t"/>
  </dgm:scene3d>
  <dgm:styleLbl name="node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l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vennNode1">
    <dgm:scene3d>
      <a:camera prst="orthographicFront">
        <a:rot lat="0" lon="0" rev="0"/>
      </a:camera>
      <a:lightRig rig="contrasting" dir="t">
        <a:rot lat="0" lon="0" rev="1200000"/>
      </a:lightRig>
    </dgm:scene3d>
    <dgm:sp3d contourW="12700" prstMaterial="clear">
      <a:bevelT w="177800" h="254000"/>
      <a:bevelB w="152400"/>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f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alignImgPlace1">
    <dgm:scene3d>
      <a:camera prst="orthographicFront">
        <a:rot lat="0" lon="0" rev="0"/>
      </a:camera>
      <a:lightRig rig="contrasting" dir="t">
        <a:rot lat="0" lon="0" rev="1200000"/>
      </a:lightRig>
    </dgm:scene3d>
    <dgm:sp3d contourW="12700" prstMaterial="flat">
      <a:bevelT w="177800" h="254000"/>
      <a:bevelB w="152400"/>
    </dgm:sp3d>
    <dgm:txPr/>
    <dgm:style>
      <a:lnRef idx="0">
        <a:scrgbClr r="0" g="0" b="0"/>
      </a:lnRef>
      <a:fillRef idx="1">
        <a:scrgbClr r="0" g="0" b="0"/>
      </a:fillRef>
      <a:effectRef idx="1">
        <a:scrgbClr r="0" g="0" b="0"/>
      </a:effectRef>
      <a:fontRef idx="minor"/>
    </dgm:style>
  </dgm:styleLbl>
  <dgm:styleLbl name="b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sibTrans2D1">
    <dgm:scene3d>
      <a:camera prst="orthographicFront">
        <a:rot lat="0" lon="0" rev="0"/>
      </a:camera>
      <a:lightRig rig="contrasting" dir="t">
        <a:rot lat="0" lon="0" rev="1200000"/>
      </a:lightRig>
    </dgm:scene3d>
    <dgm:sp3d z="-182000" contourW="19050" prstMaterial="metal">
      <a:bevelT w="88900" h="203200"/>
      <a:bevelB w="165100" h="254000"/>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ibTrans1D1">
    <dgm:scene3d>
      <a:camera prst="orthographicFront">
        <a:rot lat="0" lon="0" rev="0"/>
      </a:camera>
      <a:lightRig rig="contrasting" dir="t">
        <a:rot lat="0" lon="0" rev="1200000"/>
      </a:lightRig>
    </dgm:scene3d>
    <dgm:sp3d z="-110000"/>
    <dgm:txPr/>
    <dgm:style>
      <a:lnRef idx="1">
        <a:scrgbClr r="0" g="0" b="0"/>
      </a:lnRef>
      <a:fillRef idx="0">
        <a:scrgbClr r="0" g="0" b="0"/>
      </a:fillRef>
      <a:effectRef idx="0">
        <a:scrgbClr r="0" g="0" b="0"/>
      </a:effectRef>
      <a:fontRef idx="minor"/>
    </dgm:style>
  </dgm:styleLbl>
  <dgm:styleLbl name="callout">
    <dgm:scene3d>
      <a:camera prst="orthographicFront">
        <a:rot lat="0" lon="0" rev="0"/>
      </a:camera>
      <a:lightRig rig="contrasting" dir="t">
        <a:rot lat="0" lon="0" rev="1200000"/>
      </a:lightRig>
    </dgm:scene3d>
    <dgm:sp3d z="10000"/>
    <dgm:txPr/>
    <dgm:style>
      <a:lnRef idx="2">
        <a:scrgbClr r="0" g="0" b="0"/>
      </a:lnRef>
      <a:fillRef idx="1">
        <a:scrgbClr r="0" g="0" b="0"/>
      </a:fillRef>
      <a:effectRef idx="0">
        <a:scrgbClr r="0" g="0" b="0"/>
      </a:effectRef>
      <a:fontRef idx="minor"/>
    </dgm:style>
  </dgm:styleLbl>
  <dgm:styleLbl name="asst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parChTrans2D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1D1">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2">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3">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4">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con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tr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FgAcc1">
    <dgm:scene3d>
      <a:camera prst="orthographicFront">
        <a:rot lat="0" lon="0" rev="0"/>
      </a:camera>
      <a:lightRig rig="contrasting" dir="t">
        <a:rot lat="0" lon="0" rev="1200000"/>
      </a:lightRig>
    </dgm:scene3d>
    <dgm:sp3d z="300000" contourW="12700" prstMaterial="flat">
      <a:bevelT w="177800" h="254000"/>
      <a:bevelB w="152400"/>
    </dgm:sp3d>
    <dgm:txPr/>
    <dgm:style>
      <a:lnRef idx="0">
        <a:scrgbClr r="0" g="0" b="0"/>
      </a:lnRef>
      <a:fillRef idx="1">
        <a:scrgbClr r="0" g="0" b="0"/>
      </a:fillRef>
      <a:effectRef idx="0">
        <a:scrgbClr r="0" g="0" b="0"/>
      </a:effectRef>
      <a:fontRef idx="minor"/>
    </dgm:style>
  </dgm:styleLbl>
  <dgm:styleLbl name="solid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Follow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0">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2">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3">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4">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hp">
    <dgm:scene3d>
      <a:camera prst="orthographicFront">
        <a:rot lat="0" lon="0" rev="0"/>
      </a:camera>
      <a:lightRig rig="contrasting" dir="t">
        <a:rot lat="0" lon="0" rev="1200000"/>
      </a:lightRig>
    </dgm:scene3d>
    <dgm:sp3d z="-300000" prstMaterial="plastic"/>
    <dgm:txPr/>
    <dgm:style>
      <a:lnRef idx="1">
        <a:scrgbClr r="0" g="0" b="0"/>
      </a:lnRef>
      <a:fillRef idx="1">
        <a:scrgbClr r="0" g="0" b="0"/>
      </a:fillRef>
      <a:effectRef idx="0">
        <a:scrgbClr r="0" g="0" b="0"/>
      </a:effectRef>
      <a:fontRef idx="minor"/>
    </dgm:style>
  </dgm:styleLbl>
  <dgm:styleLbl name="dkBgShp">
    <dgm:scene3d>
      <a:camera prst="orthographicFront">
        <a:rot lat="0" lon="0" rev="0"/>
      </a:camera>
      <a:lightRig rig="contrasting" dir="t">
        <a:rot lat="0" lon="0" rev="1200000"/>
      </a:lightRig>
    </dgm:scene3d>
    <dgm:sp3d contourW="12700" prstMaterial="flat">
      <a:bevelT w="100800" h="154000"/>
      <a:bevelB w="152400"/>
    </dgm:sp3d>
    <dgm:txPr/>
    <dgm:style>
      <a:lnRef idx="0">
        <a:scrgbClr r="0" g="0" b="0"/>
      </a:lnRef>
      <a:fillRef idx="1">
        <a:scrgbClr r="0" g="0" b="0"/>
      </a:fillRef>
      <a:effectRef idx="0">
        <a:scrgbClr r="0" g="0" b="0"/>
      </a:effectRef>
      <a:fontRef idx="minor"/>
    </dgm:style>
  </dgm:styleLbl>
  <dgm:styleLbl name="trBgShp">
    <dgm:scene3d>
      <a:camera prst="orthographicFront">
        <a:rot lat="0" lon="0" rev="0"/>
      </a:camera>
      <a:lightRig rig="contrasting" dir="t">
        <a:rot lat="0" lon="0" rev="1200000"/>
      </a:lightRig>
    </dgm:scene3d>
    <dgm:sp3d z="-152400" prstMaterial="matte"/>
    <dgm:txPr/>
    <dgm:style>
      <a:lnRef idx="1">
        <a:scrgbClr r="0" g="0" b="0"/>
      </a:lnRef>
      <a:fillRef idx="1">
        <a:scrgbClr r="0" g="0" b="0"/>
      </a:fillRef>
      <a:effectRef idx="0">
        <a:scrgbClr r="0" g="0" b="0"/>
      </a:effectRef>
      <a:fontRef idx="minor"/>
    </dgm:style>
  </dgm:styleLbl>
  <dgm:styleLbl name="fgShp">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1">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762B48F5-BACC-47D6-A0F7-82FBF9C6BC85}" type="datetimeFigureOut">
              <a:rPr lang="en-US"/>
              <a:t>7/22/2026</a:t>
            </a:fld>
            <a:endParaRPr/>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45ACAF8E-318A-4EFE-8633-D9E72ABCE0ED}" type="slidenum">
              <a:rPr/>
              <a:t>‹#›</a:t>
            </a:fld>
            <a:endParaRPr/>
          </a:p>
        </p:txBody>
      </p:sp>
    </p:spTree>
    <p:extLst>
      <p:ext uri="{BB962C8B-B14F-4D97-AF65-F5344CB8AC3E}">
        <p14:creationId xmlns:p14="http://schemas.microsoft.com/office/powerpoint/2010/main" val="240655979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CB1CD00-5424-4675-AB18-2C419B060449}" type="datetimeFigureOut">
              <a:rPr lang="en-US"/>
              <a:t>7/22/2026</a:t>
            </a:fld>
            <a:endParaRPr/>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t>Click to edit Master text styles</a:t>
            </a:r>
          </a:p>
          <a:p>
            <a:pPr lvl="1"/>
            <a:r>
              <a:t>Second level</a:t>
            </a:r>
          </a:p>
          <a:p>
            <a:pPr lvl="2"/>
            <a:r>
              <a:t>Third level</a:t>
            </a:r>
          </a:p>
          <a:p>
            <a:pPr lvl="3"/>
            <a:r>
              <a:t>Fourth level</a:t>
            </a:r>
          </a:p>
          <a:p>
            <a:pPr lvl="4"/>
            <a:r>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EE2CF44-2B13-41B4-A334-1CDF534EEBBF}" type="slidenum">
              <a:rPr/>
              <a:t>‹#›</a:t>
            </a:fld>
            <a:endParaRPr/>
          </a:p>
        </p:txBody>
      </p:sp>
    </p:spTree>
    <p:extLst>
      <p:ext uri="{BB962C8B-B14F-4D97-AF65-F5344CB8AC3E}">
        <p14:creationId xmlns:p14="http://schemas.microsoft.com/office/powerpoint/2010/main" val="44538567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EE2CF44-2B13-41B4-A334-1CDF534EEBBF}" type="slidenum">
              <a:rPr lang="en-US" smtClean="0"/>
              <a:t>1</a:t>
            </a:fld>
            <a:endParaRPr lang="en-US"/>
          </a:p>
        </p:txBody>
      </p:sp>
    </p:spTree>
    <p:extLst>
      <p:ext uri="{BB962C8B-B14F-4D97-AF65-F5344CB8AC3E}">
        <p14:creationId xmlns:p14="http://schemas.microsoft.com/office/powerpoint/2010/main" val="238509910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Generative pre-trained transformer</a:t>
            </a:r>
          </a:p>
        </p:txBody>
      </p:sp>
      <p:sp>
        <p:nvSpPr>
          <p:cNvPr id="4" name="Slide Number Placeholder 3"/>
          <p:cNvSpPr>
            <a:spLocks noGrp="1"/>
          </p:cNvSpPr>
          <p:nvPr>
            <p:ph type="sldNum" sz="quarter" idx="5"/>
          </p:nvPr>
        </p:nvSpPr>
        <p:spPr/>
        <p:txBody>
          <a:bodyPr/>
          <a:lstStyle/>
          <a:p>
            <a:fld id="{5EE2CF44-2B13-41B4-A334-1CDF534EEBBF}" type="slidenum">
              <a:rPr lang="en-US" smtClean="0"/>
              <a:t>17</a:t>
            </a:fld>
            <a:endParaRPr lang="en-US"/>
          </a:p>
        </p:txBody>
      </p:sp>
    </p:spTree>
    <p:extLst>
      <p:ext uri="{BB962C8B-B14F-4D97-AF65-F5344CB8AC3E}">
        <p14:creationId xmlns:p14="http://schemas.microsoft.com/office/powerpoint/2010/main" val="399891757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457200" y="4960137"/>
            <a:ext cx="7772400" cy="1463040"/>
          </a:xfrm>
        </p:spPr>
        <p:txBody>
          <a:bodyPr anchor="ctr">
            <a:normAutofit/>
          </a:bodyPr>
          <a:lstStyle>
            <a:lvl1pPr algn="r">
              <a:defRPr sz="5000" spc="200" baseline="0"/>
            </a:lvl1pPr>
          </a:lstStyle>
          <a:p>
            <a:r>
              <a:rPr lang="en-US"/>
              <a:t>Click to edit Master title style</a:t>
            </a:r>
            <a:endParaRPr lang="en-US" dirty="0"/>
          </a:p>
        </p:txBody>
      </p:sp>
      <p:sp>
        <p:nvSpPr>
          <p:cNvPr id="3" name="Subtitle 2"/>
          <p:cNvSpPr>
            <a:spLocks noGrp="1"/>
          </p:cNvSpPr>
          <p:nvPr>
            <p:ph type="subTitle" idx="1"/>
          </p:nvPr>
        </p:nvSpPr>
        <p:spPr>
          <a:xfrm>
            <a:off x="8610600" y="4960137"/>
            <a:ext cx="3200400" cy="1463040"/>
          </a:xfrm>
        </p:spPr>
        <p:txBody>
          <a:bodyPr lIns="91440" rIns="91440" anchor="ctr">
            <a:normAutofit/>
          </a:bodyPr>
          <a:lstStyle>
            <a:lvl1pPr marL="0" indent="0" algn="l">
              <a:lnSpc>
                <a:spcPct val="100000"/>
              </a:lnSpc>
              <a:spcBef>
                <a:spcPts val="0"/>
              </a:spcBef>
              <a:buNone/>
              <a:defRPr sz="1800">
                <a:solidFill>
                  <a:schemeClr val="tx1">
                    <a:lumMod val="95000"/>
                    <a:lumOff val="5000"/>
                  </a:schemeClr>
                </a:solidFill>
              </a:defRPr>
            </a:lvl1pPr>
            <a:lvl2pPr marL="457200" indent="0" algn="ctr">
              <a:buNone/>
              <a:defRPr sz="1800"/>
            </a:lvl2pPr>
            <a:lvl3pPr marL="914400" indent="0" algn="ctr">
              <a:buNone/>
              <a:defRPr sz="1800"/>
            </a:lvl3pPr>
            <a:lvl4pPr marL="1371600" indent="0" algn="ctr">
              <a:buNone/>
              <a:defRPr sz="1800"/>
            </a:lvl4pPr>
            <a:lvl5pPr marL="1828800" indent="0" algn="ctr">
              <a:buNone/>
              <a:defRPr sz="1800"/>
            </a:lvl5pPr>
            <a:lvl6pPr marL="2286000" indent="0" algn="ctr">
              <a:buNone/>
              <a:defRPr sz="1800"/>
            </a:lvl6pPr>
            <a:lvl7pPr marL="2743200" indent="0" algn="ctr">
              <a:buNone/>
              <a:defRPr sz="1800"/>
            </a:lvl7pPr>
            <a:lvl8pPr marL="3200400" indent="0" algn="ctr">
              <a:buNone/>
              <a:defRPr sz="1800"/>
            </a:lvl8pPr>
            <a:lvl9pPr marL="3657600" indent="0" algn="ctr">
              <a:buNone/>
              <a:defRPr sz="18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lvl1pPr algn="l">
              <a:defRPr/>
            </a:lvl1pPr>
          </a:lstStyle>
          <a:p>
            <a:fld id="{CBA2217F-BE4B-422D-88A0-F3333EFA9FF0}" type="datetime1">
              <a:rPr lang="en-US" smtClean="0"/>
              <a:t>7/22/2026</a:t>
            </a:fld>
            <a:endParaRPr lang="en-US" dirty="0"/>
          </a:p>
        </p:txBody>
      </p:sp>
      <p:sp>
        <p:nvSpPr>
          <p:cNvPr id="5" name="Footer Placeholder 4"/>
          <p:cNvSpPr>
            <a:spLocks noGrp="1"/>
          </p:cNvSpPr>
          <p:nvPr>
            <p:ph type="ftr" sz="quarter" idx="11"/>
          </p:nvPr>
        </p:nvSpPr>
        <p:spPr/>
        <p:txBody>
          <a:bodyPr/>
          <a:lstStyle/>
          <a:p>
            <a:r>
              <a:rPr lang="en-US"/>
              <a:t>A CATHOLIC INTRODUCTION TO ARTIFICIAL INTELLIGENCE</a:t>
            </a:r>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smtClean="0"/>
              <a:t>‹#›</a:t>
            </a:fld>
            <a:endParaRPr lang="en-US" dirty="0"/>
          </a:p>
        </p:txBody>
      </p:sp>
      <p:cxnSp>
        <p:nvCxnSpPr>
          <p:cNvPr id="13" name="Straight Connector 12"/>
          <p:cNvCxnSpPr/>
          <p:nvPr/>
        </p:nvCxnSpPr>
        <p:spPr>
          <a:xfrm flipV="1">
            <a:off x="8386842" y="5264106"/>
            <a:ext cx="0" cy="914400"/>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sp>
        <p:nvSpPr>
          <p:cNvPr id="10" name="Rectangle 9"/>
          <p:cNvSpPr/>
          <p:nvPr/>
        </p:nvSpPr>
        <p:spPr>
          <a:xfrm>
            <a:off x="0" y="-1"/>
            <a:ext cx="12192000" cy="457200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Rectangle 6">
            <a:extLst>
              <a:ext uri="{FF2B5EF4-FFF2-40B4-BE49-F238E27FC236}">
                <a16:creationId xmlns:a16="http://schemas.microsoft.com/office/drawing/2014/main" id="{BA23E17B-2FD4-A481-29F1-8CF2D804DD61}"/>
              </a:ext>
            </a:extLst>
          </p:cNvPr>
          <p:cNvSpPr/>
          <p:nvPr userDrawn="1"/>
        </p:nvSpPr>
        <p:spPr bwMode="gray">
          <a:xfrm>
            <a:off x="0" y="2825016"/>
            <a:ext cx="12188952" cy="3180930"/>
          </a:xfrm>
          <a:prstGeom prst="rect">
            <a:avLst/>
          </a:prstGeom>
          <a:solidFill>
            <a:schemeClr val="bg1">
              <a:lumMod val="85000"/>
              <a:lumOff val="15000"/>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6B68993E-F5C2-0FD3-88E1-F3CE5EC2B93C}"/>
              </a:ext>
            </a:extLst>
          </p:cNvPr>
          <p:cNvSpPr/>
          <p:nvPr userDrawn="1"/>
        </p:nvSpPr>
        <p:spPr bwMode="black">
          <a:xfrm>
            <a:off x="0" y="3075709"/>
            <a:ext cx="12188952" cy="263929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89195072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p:txBody>
          <a:bodyPr>
            <a:normAutofit/>
          </a:bodyPr>
          <a:lstStyle>
            <a:lvl1pPr indent="-274320">
              <a:buFont typeface="Wingdings" panose="05000000000000000000" pitchFamily="2" charset="2"/>
              <a:buChar char="§"/>
              <a:defRPr sz="2800">
                <a:latin typeface="Figtree"/>
              </a:defRPr>
            </a:lvl1pPr>
            <a:lvl2pPr>
              <a:defRPr sz="2400">
                <a:latin typeface="Figtree"/>
              </a:defRPr>
            </a:lvl2pPr>
            <a:lvl3pPr>
              <a:defRPr sz="1800">
                <a:latin typeface="Figtree"/>
              </a:defRPr>
            </a:lvl3pPr>
            <a:lvl4pPr>
              <a:defRPr sz="1800">
                <a:latin typeface="Figtree"/>
              </a:defRPr>
            </a:lvl4pPr>
            <a:lvl5pPr>
              <a:defRPr sz="1800">
                <a:latin typeface="Figtree"/>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88A6FB8C-85A9-49A2-928D-A0F5E1221B7E}" type="datetime1">
              <a:rPr lang="en-US" smtClean="0"/>
              <a:t>7/22/2026</a:t>
            </a:fld>
            <a:endParaRPr lang="en-US"/>
          </a:p>
        </p:txBody>
      </p:sp>
      <p:sp>
        <p:nvSpPr>
          <p:cNvPr id="5" name="Footer Placeholder 4"/>
          <p:cNvSpPr>
            <a:spLocks noGrp="1"/>
          </p:cNvSpPr>
          <p:nvPr>
            <p:ph type="ftr" sz="quarter" idx="11"/>
          </p:nvPr>
        </p:nvSpPr>
        <p:spPr/>
        <p:txBody>
          <a:bodyPr/>
          <a:lstStyle/>
          <a:p>
            <a:r>
              <a:rPr lang="en-US" dirty="0"/>
              <a:t>A CATHOLIC INTRODUCTION TO ARTIFICIAL INTELLIGENCE – PART 1</a:t>
            </a:r>
          </a:p>
        </p:txBody>
      </p:sp>
      <p:sp>
        <p:nvSpPr>
          <p:cNvPr id="6" name="Slide Number Placeholder 5"/>
          <p:cNvSpPr>
            <a:spLocks noGrp="1"/>
          </p:cNvSpPr>
          <p:nvPr>
            <p:ph type="sldNum" sz="quarter" idx="12"/>
          </p:nvPr>
        </p:nvSpPr>
        <p:spPr/>
        <p:txBody>
          <a:bodyPr/>
          <a:lstStyle/>
          <a:p>
            <a:fld id="{E31375A4-56A4-47D6-9801-1991572033F7}" type="slidenum">
              <a:rPr lang="en-US" smtClean="0"/>
              <a:t>‹#›</a:t>
            </a:fld>
            <a:endParaRPr lang="en-US"/>
          </a:p>
        </p:txBody>
      </p:sp>
      <p:pic>
        <p:nvPicPr>
          <p:cNvPr id="8" name="Picture 7">
            <a:extLst>
              <a:ext uri="{FF2B5EF4-FFF2-40B4-BE49-F238E27FC236}">
                <a16:creationId xmlns:a16="http://schemas.microsoft.com/office/drawing/2014/main" id="{7CD9FDC7-D031-DD43-1BB4-0214EE774A54}"/>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600917" y="13716"/>
            <a:ext cx="1579626" cy="1053084"/>
          </a:xfrm>
          <a:prstGeom prst="rect">
            <a:avLst/>
          </a:prstGeom>
        </p:spPr>
      </p:pic>
      <p:pic>
        <p:nvPicPr>
          <p:cNvPr id="10" name="Picture 9">
            <a:extLst>
              <a:ext uri="{FF2B5EF4-FFF2-40B4-BE49-F238E27FC236}">
                <a16:creationId xmlns:a16="http://schemas.microsoft.com/office/drawing/2014/main" id="{5BFEE248-71E4-CFFF-1062-1A417172CBEA}"/>
              </a:ext>
            </a:extLst>
          </p:cNvPr>
          <p:cNvPicPr>
            <a:picLocks noChangeAspect="1"/>
          </p:cNvPicPr>
          <p:nvPr userDrawn="1"/>
        </p:nvPicPr>
        <p:blipFill>
          <a:blip r:embed="rId3"/>
          <a:stretch>
            <a:fillRect/>
          </a:stretch>
        </p:blipFill>
        <p:spPr>
          <a:xfrm>
            <a:off x="11158347" y="5259124"/>
            <a:ext cx="1022196" cy="1485900"/>
          </a:xfrm>
          <a:prstGeom prst="rect">
            <a:avLst/>
          </a:prstGeom>
        </p:spPr>
      </p:pic>
    </p:spTree>
    <p:extLst>
      <p:ext uri="{BB962C8B-B14F-4D97-AF65-F5344CB8AC3E}">
        <p14:creationId xmlns:p14="http://schemas.microsoft.com/office/powerpoint/2010/main" val="124731782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457200" y="4960137"/>
            <a:ext cx="7772400" cy="1463040"/>
          </a:xfrm>
        </p:spPr>
        <p:txBody>
          <a:bodyPr anchor="ctr">
            <a:normAutofit/>
          </a:bodyPr>
          <a:lstStyle>
            <a:lvl1pPr algn="r">
              <a:defRPr sz="5000" b="0" spc="200" baseline="0"/>
            </a:lvl1pPr>
          </a:lstStyle>
          <a:p>
            <a:r>
              <a:rPr lang="en-US"/>
              <a:t>Click to edit Master title style</a:t>
            </a:r>
            <a:endParaRPr lang="en-US" dirty="0"/>
          </a:p>
        </p:txBody>
      </p:sp>
      <p:sp>
        <p:nvSpPr>
          <p:cNvPr id="3" name="Text Placeholder 2"/>
          <p:cNvSpPr>
            <a:spLocks noGrp="1"/>
          </p:cNvSpPr>
          <p:nvPr>
            <p:ph type="body" idx="1"/>
          </p:nvPr>
        </p:nvSpPr>
        <p:spPr>
          <a:xfrm>
            <a:off x="8610600" y="4960137"/>
            <a:ext cx="3200400" cy="1463040"/>
          </a:xfrm>
        </p:spPr>
        <p:txBody>
          <a:bodyPr lIns="91440" rIns="91440" anchor="ctr">
            <a:normAutofit/>
          </a:bodyPr>
          <a:lstStyle>
            <a:lvl1pPr marL="0" indent="0">
              <a:lnSpc>
                <a:spcPct val="100000"/>
              </a:lnSpc>
              <a:spcBef>
                <a:spcPts val="0"/>
              </a:spcBef>
              <a:buNone/>
              <a:defRPr sz="1800">
                <a:solidFill>
                  <a:schemeClr val="tx1">
                    <a:lumMod val="95000"/>
                    <a:lumOff val="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9A3C757-3945-4C01-A387-3D6ABEA6B886}" type="datetime1">
              <a:rPr lang="en-US" smtClean="0"/>
              <a:t>7/22/2026</a:t>
            </a:fld>
            <a:endParaRPr lang="en-US" dirty="0"/>
          </a:p>
        </p:txBody>
      </p:sp>
      <p:sp>
        <p:nvSpPr>
          <p:cNvPr id="5" name="Footer Placeholder 4"/>
          <p:cNvSpPr>
            <a:spLocks noGrp="1"/>
          </p:cNvSpPr>
          <p:nvPr>
            <p:ph type="ftr" sz="quarter" idx="11"/>
          </p:nvPr>
        </p:nvSpPr>
        <p:spPr/>
        <p:txBody>
          <a:bodyPr/>
          <a:lstStyle/>
          <a:p>
            <a:r>
              <a:rPr lang="en-US" dirty="0"/>
              <a:t>A CATHOLIC INTRODUCTION TO ARTIFICIAL INTELLIGENCE – PART 1</a:t>
            </a:r>
          </a:p>
        </p:txBody>
      </p:sp>
      <p:sp>
        <p:nvSpPr>
          <p:cNvPr id="6" name="Slide Number Placeholder 5"/>
          <p:cNvSpPr>
            <a:spLocks noGrp="1"/>
          </p:cNvSpPr>
          <p:nvPr>
            <p:ph type="sldNum" sz="quarter" idx="12"/>
          </p:nvPr>
        </p:nvSpPr>
        <p:spPr/>
        <p:txBody>
          <a:bodyPr/>
          <a:lstStyle/>
          <a:p>
            <a:fld id="{4FAB73BC-B049-4115-A692-8D63A059BFB8}" type="slidenum">
              <a:rPr lang="en-US" smtClean="0"/>
              <a:t>‹#›</a:t>
            </a:fld>
            <a:endParaRPr lang="en-US" dirty="0"/>
          </a:p>
        </p:txBody>
      </p:sp>
      <p:cxnSp>
        <p:nvCxnSpPr>
          <p:cNvPr id="8" name="Straight Connector 7"/>
          <p:cNvCxnSpPr/>
          <p:nvPr/>
        </p:nvCxnSpPr>
        <p:spPr>
          <a:xfrm flipV="1">
            <a:off x="8386843" y="5264106"/>
            <a:ext cx="0" cy="91440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p:nvCxnSpPr>
        <p:spPr>
          <a:xfrm flipV="1">
            <a:off x="8386842" y="5264106"/>
            <a:ext cx="0" cy="914400"/>
          </a:xfrm>
          <a:prstGeom prst="line">
            <a:avLst/>
          </a:prstGeom>
          <a:ln w="19050">
            <a:solidFill>
              <a:schemeClr val="accent3"/>
            </a:solidFill>
          </a:ln>
        </p:spPr>
        <p:style>
          <a:lnRef idx="1">
            <a:schemeClr val="accent1"/>
          </a:lnRef>
          <a:fillRef idx="0">
            <a:schemeClr val="accent1"/>
          </a:fillRef>
          <a:effectRef idx="0">
            <a:schemeClr val="accent1"/>
          </a:effectRef>
          <a:fontRef idx="minor">
            <a:schemeClr val="tx1"/>
          </a:fontRef>
        </p:style>
      </p:cxnSp>
      <p:sp>
        <p:nvSpPr>
          <p:cNvPr id="13" name="Rectangle 12"/>
          <p:cNvSpPr/>
          <p:nvPr/>
        </p:nvSpPr>
        <p:spPr>
          <a:xfrm>
            <a:off x="0" y="-1"/>
            <a:ext cx="12192000" cy="4572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222243171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024128" y="585216"/>
            <a:ext cx="9720072" cy="1499616"/>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24127" y="2286000"/>
            <a:ext cx="475488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989320" y="2286000"/>
            <a:ext cx="475488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0C1CE33D-DDEC-46AB-BEA0-84E89F53469A}" type="datetime1">
              <a:rPr lang="en-US" smtClean="0"/>
              <a:t>7/22/2026</a:t>
            </a:fld>
            <a:endParaRPr lang="en-US"/>
          </a:p>
        </p:txBody>
      </p:sp>
      <p:sp>
        <p:nvSpPr>
          <p:cNvPr id="6" name="Footer Placeholder 5"/>
          <p:cNvSpPr>
            <a:spLocks noGrp="1"/>
          </p:cNvSpPr>
          <p:nvPr>
            <p:ph type="ftr" sz="quarter" idx="11"/>
          </p:nvPr>
        </p:nvSpPr>
        <p:spPr/>
        <p:txBody>
          <a:bodyPr/>
          <a:lstStyle/>
          <a:p>
            <a:r>
              <a:rPr lang="en-US" dirty="0"/>
              <a:t>A CATHOLIC INTRODUCTION TO ARTIFICIAL INTELLIGENCE – PART 1</a:t>
            </a:r>
          </a:p>
        </p:txBody>
      </p:sp>
      <p:sp>
        <p:nvSpPr>
          <p:cNvPr id="7" name="Slide Number Placeholder 6"/>
          <p:cNvSpPr>
            <a:spLocks noGrp="1"/>
          </p:cNvSpPr>
          <p:nvPr>
            <p:ph type="sldNum" sz="quarter" idx="12"/>
          </p:nvPr>
        </p:nvSpPr>
        <p:spPr/>
        <p:txBody>
          <a:bodyPr/>
          <a:lstStyle/>
          <a:p>
            <a:fld id="{E31375A4-56A4-47D6-9801-1991572033F7}" type="slidenum">
              <a:rPr lang="en-US" smtClean="0"/>
              <a:t>‹#›</a:t>
            </a:fld>
            <a:endParaRPr lang="en-US"/>
          </a:p>
        </p:txBody>
      </p:sp>
      <p:pic>
        <p:nvPicPr>
          <p:cNvPr id="9" name="Picture 8">
            <a:extLst>
              <a:ext uri="{FF2B5EF4-FFF2-40B4-BE49-F238E27FC236}">
                <a16:creationId xmlns:a16="http://schemas.microsoft.com/office/drawing/2014/main" id="{90F70ADD-2AAB-25DF-8FC6-A48D83CC9DAD}"/>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600917" y="13716"/>
            <a:ext cx="1579626" cy="1053084"/>
          </a:xfrm>
          <a:prstGeom prst="rect">
            <a:avLst/>
          </a:prstGeom>
        </p:spPr>
      </p:pic>
      <p:pic>
        <p:nvPicPr>
          <p:cNvPr id="11" name="Picture 10">
            <a:extLst>
              <a:ext uri="{FF2B5EF4-FFF2-40B4-BE49-F238E27FC236}">
                <a16:creationId xmlns:a16="http://schemas.microsoft.com/office/drawing/2014/main" id="{8BD570C8-2292-39FB-1727-DF24712C5502}"/>
              </a:ext>
            </a:extLst>
          </p:cNvPr>
          <p:cNvPicPr>
            <a:picLocks noChangeAspect="1"/>
          </p:cNvPicPr>
          <p:nvPr userDrawn="1"/>
        </p:nvPicPr>
        <p:blipFill>
          <a:blip r:embed="rId3"/>
          <a:stretch>
            <a:fillRect/>
          </a:stretch>
        </p:blipFill>
        <p:spPr>
          <a:xfrm>
            <a:off x="11158347" y="5259124"/>
            <a:ext cx="1022196" cy="1485900"/>
          </a:xfrm>
          <a:prstGeom prst="rect">
            <a:avLst/>
          </a:prstGeom>
        </p:spPr>
      </p:pic>
    </p:spTree>
    <p:extLst>
      <p:ext uri="{BB962C8B-B14F-4D97-AF65-F5344CB8AC3E}">
        <p14:creationId xmlns:p14="http://schemas.microsoft.com/office/powerpoint/2010/main" val="345370588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024128" y="2179636"/>
            <a:ext cx="4754880" cy="822960"/>
          </a:xfrm>
        </p:spPr>
        <p:txBody>
          <a:bodyPr lIns="137160" rIns="137160" anchor="ctr">
            <a:normAutofit/>
          </a:bodyPr>
          <a:lstStyle>
            <a:lvl1pPr marL="0" indent="0">
              <a:spcBef>
                <a:spcPts val="0"/>
              </a:spcBef>
              <a:spcAft>
                <a:spcPts val="0"/>
              </a:spcAft>
              <a:buNone/>
              <a:defRPr sz="2400" b="0" cap="none" baseline="0">
                <a:solidFill>
                  <a:schemeClr val="accent2">
                    <a:lumMod val="75000"/>
                  </a:schemeClr>
                </a:solidFill>
                <a:latin typeface="Figtree"/>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1024128" y="2967788"/>
            <a:ext cx="4754880" cy="3341572"/>
          </a:xfrm>
        </p:spPr>
        <p:txBody>
          <a:bodyPr>
            <a:normAutofit/>
          </a:bodyPr>
          <a:lstStyle>
            <a:lvl1pPr>
              <a:defRPr sz="2400">
                <a:latin typeface="Figtree"/>
              </a:defRPr>
            </a:lvl1pPr>
            <a:lvl2pPr>
              <a:defRPr sz="2000">
                <a:latin typeface="Figtree"/>
              </a:defRPr>
            </a:lvl2pPr>
            <a:lvl3pPr>
              <a:defRPr sz="1600">
                <a:latin typeface="Figtree"/>
              </a:defRPr>
            </a:lvl3pPr>
            <a:lvl4pPr>
              <a:defRPr sz="1600">
                <a:latin typeface="Figtree"/>
              </a:defRPr>
            </a:lvl4pPr>
            <a:lvl5pPr>
              <a:defRPr sz="1600">
                <a:latin typeface="Figtree"/>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5990888" y="2179636"/>
            <a:ext cx="4754880" cy="822960"/>
          </a:xfrm>
        </p:spPr>
        <p:txBody>
          <a:bodyPr lIns="137160" rIns="137160" anchor="ctr">
            <a:normAutofit/>
          </a:bodyPr>
          <a:lstStyle>
            <a:lvl1pPr marL="0" indent="0">
              <a:spcBef>
                <a:spcPts val="0"/>
              </a:spcBef>
              <a:spcAft>
                <a:spcPts val="0"/>
              </a:spcAft>
              <a:buNone/>
              <a:defRPr lang="en-US" sz="2400" b="0" kern="1200" cap="none" baseline="0" dirty="0">
                <a:solidFill>
                  <a:schemeClr val="accent2">
                    <a:lumMod val="75000"/>
                  </a:schemeClr>
                </a:solidFill>
                <a:latin typeface="Figtree"/>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1800"/>
              </a:spcBef>
              <a:buNone/>
            </a:pPr>
            <a:r>
              <a:rPr lang="en-US" dirty="0"/>
              <a:t>Click to edit Master text styles</a:t>
            </a:r>
          </a:p>
        </p:txBody>
      </p:sp>
      <p:sp>
        <p:nvSpPr>
          <p:cNvPr id="6" name="Content Placeholder 5"/>
          <p:cNvSpPr>
            <a:spLocks noGrp="1"/>
          </p:cNvSpPr>
          <p:nvPr>
            <p:ph sz="quarter" idx="4"/>
          </p:nvPr>
        </p:nvSpPr>
        <p:spPr>
          <a:xfrm>
            <a:off x="5990888" y="2967788"/>
            <a:ext cx="4754880" cy="3341572"/>
          </a:xfrm>
        </p:spPr>
        <p:txBody>
          <a:bodyPr>
            <a:normAutofit/>
          </a:bodyPr>
          <a:lstStyle>
            <a:lvl1pPr>
              <a:defRPr sz="2400">
                <a:latin typeface="Figtree"/>
              </a:defRPr>
            </a:lvl1pPr>
            <a:lvl2pPr>
              <a:defRPr sz="2000">
                <a:latin typeface="Figtree"/>
              </a:defRPr>
            </a:lvl2pPr>
            <a:lvl3pPr>
              <a:defRPr sz="1600">
                <a:latin typeface="Figtree"/>
              </a:defRPr>
            </a:lvl3pPr>
            <a:lvl4pPr>
              <a:defRPr sz="1600">
                <a:latin typeface="Figtree"/>
              </a:defRPr>
            </a:lvl4pPr>
            <a:lvl5pPr>
              <a:defRPr sz="1600">
                <a:latin typeface="Figtree"/>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p:cNvSpPr>
            <a:spLocks noGrp="1"/>
          </p:cNvSpPr>
          <p:nvPr>
            <p:ph type="dt" sz="half" idx="10"/>
          </p:nvPr>
        </p:nvSpPr>
        <p:spPr/>
        <p:txBody>
          <a:bodyPr/>
          <a:lstStyle/>
          <a:p>
            <a:fld id="{C83D8F67-C812-480E-8EA9-66078F8F6ED2}" type="datetime1">
              <a:rPr lang="en-US" smtClean="0"/>
              <a:t>7/22/2026</a:t>
            </a:fld>
            <a:endParaRPr lang="en-US"/>
          </a:p>
        </p:txBody>
      </p:sp>
      <p:sp>
        <p:nvSpPr>
          <p:cNvPr id="8" name="Footer Placeholder 7"/>
          <p:cNvSpPr>
            <a:spLocks noGrp="1"/>
          </p:cNvSpPr>
          <p:nvPr>
            <p:ph type="ftr" sz="quarter" idx="11"/>
          </p:nvPr>
        </p:nvSpPr>
        <p:spPr/>
        <p:txBody>
          <a:bodyPr/>
          <a:lstStyle/>
          <a:p>
            <a:r>
              <a:rPr lang="en-US" dirty="0"/>
              <a:t>A CATHOLIC INTRODUCTION TO ARTIFICIAL INTELLIGENCE – PART 1</a:t>
            </a:r>
          </a:p>
        </p:txBody>
      </p:sp>
      <p:sp>
        <p:nvSpPr>
          <p:cNvPr id="9" name="Slide Number Placeholder 8"/>
          <p:cNvSpPr>
            <a:spLocks noGrp="1"/>
          </p:cNvSpPr>
          <p:nvPr>
            <p:ph type="sldNum" sz="quarter" idx="12"/>
          </p:nvPr>
        </p:nvSpPr>
        <p:spPr/>
        <p:txBody>
          <a:bodyPr/>
          <a:lstStyle/>
          <a:p>
            <a:fld id="{E31375A4-56A4-47D6-9801-1991572033F7}" type="slidenum">
              <a:rPr lang="en-US" smtClean="0"/>
              <a:t>‹#›</a:t>
            </a:fld>
            <a:endParaRPr lang="en-US"/>
          </a:p>
        </p:txBody>
      </p:sp>
      <p:pic>
        <p:nvPicPr>
          <p:cNvPr id="11" name="Picture 10">
            <a:extLst>
              <a:ext uri="{FF2B5EF4-FFF2-40B4-BE49-F238E27FC236}">
                <a16:creationId xmlns:a16="http://schemas.microsoft.com/office/drawing/2014/main" id="{8FB89469-6E56-059D-D1C4-3C51FECB76E8}"/>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600917" y="13716"/>
            <a:ext cx="1579626" cy="1053084"/>
          </a:xfrm>
          <a:prstGeom prst="rect">
            <a:avLst/>
          </a:prstGeom>
        </p:spPr>
      </p:pic>
      <p:pic>
        <p:nvPicPr>
          <p:cNvPr id="13" name="Picture 12">
            <a:extLst>
              <a:ext uri="{FF2B5EF4-FFF2-40B4-BE49-F238E27FC236}">
                <a16:creationId xmlns:a16="http://schemas.microsoft.com/office/drawing/2014/main" id="{8561A9C2-92C5-B420-B907-6BF1BA9133EE}"/>
              </a:ext>
            </a:extLst>
          </p:cNvPr>
          <p:cNvPicPr>
            <a:picLocks noChangeAspect="1"/>
          </p:cNvPicPr>
          <p:nvPr userDrawn="1"/>
        </p:nvPicPr>
        <p:blipFill>
          <a:blip r:embed="rId3"/>
          <a:stretch>
            <a:fillRect/>
          </a:stretch>
        </p:blipFill>
        <p:spPr>
          <a:xfrm>
            <a:off x="11158347" y="5259124"/>
            <a:ext cx="1022196" cy="1485900"/>
          </a:xfrm>
          <a:prstGeom prst="rect">
            <a:avLst/>
          </a:prstGeom>
        </p:spPr>
      </p:pic>
    </p:spTree>
    <p:extLst>
      <p:ext uri="{BB962C8B-B14F-4D97-AF65-F5344CB8AC3E}">
        <p14:creationId xmlns:p14="http://schemas.microsoft.com/office/powerpoint/2010/main" val="411164095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7499464-B0A7-43A1-B476-C9FD5432459E}" type="datetime1">
              <a:rPr lang="en-US" smtClean="0"/>
              <a:t>7/22/2026</a:t>
            </a:fld>
            <a:endParaRPr lang="en-US"/>
          </a:p>
        </p:txBody>
      </p:sp>
      <p:sp>
        <p:nvSpPr>
          <p:cNvPr id="4" name="Footer Placeholder 3"/>
          <p:cNvSpPr>
            <a:spLocks noGrp="1"/>
          </p:cNvSpPr>
          <p:nvPr>
            <p:ph type="ftr" sz="quarter" idx="11"/>
          </p:nvPr>
        </p:nvSpPr>
        <p:spPr/>
        <p:txBody>
          <a:bodyPr/>
          <a:lstStyle/>
          <a:p>
            <a:r>
              <a:rPr lang="en-US" dirty="0"/>
              <a:t>A CATHOLIC INTRODUCTION TO ARTIFICIAL INTELLIGENCE – PART 1</a:t>
            </a:r>
          </a:p>
        </p:txBody>
      </p:sp>
      <p:sp>
        <p:nvSpPr>
          <p:cNvPr id="5" name="Slide Number Placeholder 4"/>
          <p:cNvSpPr>
            <a:spLocks noGrp="1"/>
          </p:cNvSpPr>
          <p:nvPr>
            <p:ph type="sldNum" sz="quarter" idx="12"/>
          </p:nvPr>
        </p:nvSpPr>
        <p:spPr/>
        <p:txBody>
          <a:bodyPr/>
          <a:lstStyle/>
          <a:p>
            <a:fld id="{E31375A4-56A4-47D6-9801-1991572033F7}" type="slidenum">
              <a:rPr lang="en-US" smtClean="0"/>
              <a:t>‹#›</a:t>
            </a:fld>
            <a:endParaRPr lang="en-US"/>
          </a:p>
        </p:txBody>
      </p:sp>
      <p:pic>
        <p:nvPicPr>
          <p:cNvPr id="7" name="Picture 6">
            <a:extLst>
              <a:ext uri="{FF2B5EF4-FFF2-40B4-BE49-F238E27FC236}">
                <a16:creationId xmlns:a16="http://schemas.microsoft.com/office/drawing/2014/main" id="{7DB61C78-84A7-E6FB-0C80-232F645AD7C3}"/>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600917" y="13716"/>
            <a:ext cx="1579626" cy="1053084"/>
          </a:xfrm>
          <a:prstGeom prst="rect">
            <a:avLst/>
          </a:prstGeom>
        </p:spPr>
      </p:pic>
      <p:pic>
        <p:nvPicPr>
          <p:cNvPr id="9" name="Picture 8">
            <a:extLst>
              <a:ext uri="{FF2B5EF4-FFF2-40B4-BE49-F238E27FC236}">
                <a16:creationId xmlns:a16="http://schemas.microsoft.com/office/drawing/2014/main" id="{6E615551-4235-C0AF-1EB2-D812E1E6A1E8}"/>
              </a:ext>
            </a:extLst>
          </p:cNvPr>
          <p:cNvPicPr>
            <a:picLocks noChangeAspect="1"/>
          </p:cNvPicPr>
          <p:nvPr userDrawn="1"/>
        </p:nvPicPr>
        <p:blipFill>
          <a:blip r:embed="rId3"/>
          <a:stretch>
            <a:fillRect/>
          </a:stretch>
        </p:blipFill>
        <p:spPr>
          <a:xfrm>
            <a:off x="11158347" y="5259124"/>
            <a:ext cx="1022196" cy="1485900"/>
          </a:xfrm>
          <a:prstGeom prst="rect">
            <a:avLst/>
          </a:prstGeom>
        </p:spPr>
      </p:pic>
    </p:spTree>
    <p:extLst>
      <p:ext uri="{BB962C8B-B14F-4D97-AF65-F5344CB8AC3E}">
        <p14:creationId xmlns:p14="http://schemas.microsoft.com/office/powerpoint/2010/main" val="143538056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92BF094-ADCB-4A11-96C0-987A57E42AD4}" type="datetime1">
              <a:rPr lang="en-US" smtClean="0"/>
              <a:t>7/22/2026</a:t>
            </a:fld>
            <a:endParaRPr lang="en-US"/>
          </a:p>
        </p:txBody>
      </p:sp>
      <p:sp>
        <p:nvSpPr>
          <p:cNvPr id="3" name="Footer Placeholder 2"/>
          <p:cNvSpPr>
            <a:spLocks noGrp="1"/>
          </p:cNvSpPr>
          <p:nvPr>
            <p:ph type="ftr" sz="quarter" idx="11"/>
          </p:nvPr>
        </p:nvSpPr>
        <p:spPr/>
        <p:txBody>
          <a:bodyPr/>
          <a:lstStyle/>
          <a:p>
            <a:r>
              <a:rPr lang="en-US" dirty="0"/>
              <a:t>A CATHOLIC INTRODUCTION TO ARTIFICIAL INTELLIGENCE – PART 1</a:t>
            </a:r>
          </a:p>
        </p:txBody>
      </p:sp>
      <p:sp>
        <p:nvSpPr>
          <p:cNvPr id="4" name="Slide Number Placeholder 3"/>
          <p:cNvSpPr>
            <a:spLocks noGrp="1"/>
          </p:cNvSpPr>
          <p:nvPr>
            <p:ph type="sldNum" sz="quarter" idx="12"/>
          </p:nvPr>
        </p:nvSpPr>
        <p:spPr/>
        <p:txBody>
          <a:bodyPr/>
          <a:lstStyle/>
          <a:p>
            <a:fld id="{E31375A4-56A4-47D6-9801-1991572033F7}" type="slidenum">
              <a:rPr lang="en-US" smtClean="0"/>
              <a:t>‹#›</a:t>
            </a:fld>
            <a:endParaRPr lang="en-US"/>
          </a:p>
        </p:txBody>
      </p:sp>
    </p:spTree>
    <p:extLst>
      <p:ext uri="{BB962C8B-B14F-4D97-AF65-F5344CB8AC3E}">
        <p14:creationId xmlns:p14="http://schemas.microsoft.com/office/powerpoint/2010/main" val="16416530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Title 7"/>
          <p:cNvSpPr>
            <a:spLocks noGrp="1"/>
          </p:cNvSpPr>
          <p:nvPr>
            <p:ph type="title"/>
          </p:nvPr>
        </p:nvSpPr>
        <p:spPr>
          <a:xfrm>
            <a:off x="1024128" y="471509"/>
            <a:ext cx="4389120" cy="1737360"/>
          </a:xfrm>
        </p:spPr>
        <p:txBody>
          <a:bodyPr>
            <a:noAutofit/>
          </a:bodyPr>
          <a:lstStyle>
            <a:lvl1pPr>
              <a:lnSpc>
                <a:spcPct val="80000"/>
              </a:lnSpc>
              <a:defRPr sz="4000"/>
            </a:lvl1pPr>
          </a:lstStyle>
          <a:p>
            <a:r>
              <a:rPr lang="en-US"/>
              <a:t>Click to edit Master title style</a:t>
            </a:r>
            <a:endParaRPr lang="en-US" dirty="0"/>
          </a:p>
        </p:txBody>
      </p:sp>
      <p:sp>
        <p:nvSpPr>
          <p:cNvPr id="3" name="Content Placeholder 2"/>
          <p:cNvSpPr>
            <a:spLocks noGrp="1"/>
          </p:cNvSpPr>
          <p:nvPr>
            <p:ph idx="1"/>
          </p:nvPr>
        </p:nvSpPr>
        <p:spPr>
          <a:xfrm>
            <a:off x="5715000" y="822960"/>
            <a:ext cx="5678424" cy="5184648"/>
          </a:xfrm>
        </p:spPr>
        <p:txBody>
          <a:bodyPr/>
          <a:lstStyle>
            <a:lvl1pPr>
              <a:defRPr sz="2400"/>
            </a:lvl1pPr>
            <a:lvl2pPr>
              <a:defRPr sz="20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024128" y="2257506"/>
            <a:ext cx="4389120" cy="3762294"/>
          </a:xfrm>
        </p:spPr>
        <p:txBody>
          <a:bodyPr lIns="91440" rIns="91440">
            <a:normAutofit/>
          </a:bodyPr>
          <a:lstStyle>
            <a:lvl1pPr marL="0" indent="0">
              <a:lnSpc>
                <a:spcPct val="108000"/>
              </a:lnSpc>
              <a:spcBef>
                <a:spcPts val="600"/>
              </a:spcBef>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A6E7C4D-3C95-47E5-B746-4A52E184A102}" type="datetime1">
              <a:rPr lang="en-US" smtClean="0"/>
              <a:t>7/22/2026</a:t>
            </a:fld>
            <a:endParaRPr lang="en-US"/>
          </a:p>
        </p:txBody>
      </p:sp>
      <p:sp>
        <p:nvSpPr>
          <p:cNvPr id="6" name="Footer Placeholder 5"/>
          <p:cNvSpPr>
            <a:spLocks noGrp="1"/>
          </p:cNvSpPr>
          <p:nvPr>
            <p:ph type="ftr" sz="quarter" idx="11"/>
          </p:nvPr>
        </p:nvSpPr>
        <p:spPr/>
        <p:txBody>
          <a:bodyPr/>
          <a:lstStyle/>
          <a:p>
            <a:r>
              <a:rPr lang="en-US"/>
              <a:t>A CATHOLIC INTRODUCTION TO ARTIFICIAL INTELLIGENCE</a:t>
            </a:r>
          </a:p>
        </p:txBody>
      </p:sp>
      <p:sp>
        <p:nvSpPr>
          <p:cNvPr id="7" name="Slide Number Placeholder 6"/>
          <p:cNvSpPr>
            <a:spLocks noGrp="1"/>
          </p:cNvSpPr>
          <p:nvPr>
            <p:ph type="sldNum" sz="quarter" idx="12"/>
          </p:nvPr>
        </p:nvSpPr>
        <p:spPr/>
        <p:txBody>
          <a:bodyPr/>
          <a:lstStyle/>
          <a:p>
            <a:fld id="{E31375A4-56A4-47D6-9801-1991572033F7}" type="slidenum">
              <a:rPr lang="en-US" smtClean="0"/>
              <a:t>‹#›</a:t>
            </a:fld>
            <a:endParaRPr lang="en-US"/>
          </a:p>
        </p:txBody>
      </p:sp>
      <p:pic>
        <p:nvPicPr>
          <p:cNvPr id="9" name="Picture 8">
            <a:extLst>
              <a:ext uri="{FF2B5EF4-FFF2-40B4-BE49-F238E27FC236}">
                <a16:creationId xmlns:a16="http://schemas.microsoft.com/office/drawing/2014/main" id="{EBF950FB-E66E-1BFD-3BC3-236061E8FD34}"/>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600917" y="13716"/>
            <a:ext cx="1579626" cy="1053084"/>
          </a:xfrm>
          <a:prstGeom prst="rect">
            <a:avLst/>
          </a:prstGeom>
        </p:spPr>
      </p:pic>
      <p:pic>
        <p:nvPicPr>
          <p:cNvPr id="11" name="Picture 10">
            <a:extLst>
              <a:ext uri="{FF2B5EF4-FFF2-40B4-BE49-F238E27FC236}">
                <a16:creationId xmlns:a16="http://schemas.microsoft.com/office/drawing/2014/main" id="{547D8D2E-19FD-3279-6D65-61C52A31FBDE}"/>
              </a:ext>
            </a:extLst>
          </p:cNvPr>
          <p:cNvPicPr>
            <a:picLocks noChangeAspect="1"/>
          </p:cNvPicPr>
          <p:nvPr userDrawn="1"/>
        </p:nvPicPr>
        <p:blipFill>
          <a:blip r:embed="rId3"/>
          <a:stretch>
            <a:fillRect/>
          </a:stretch>
        </p:blipFill>
        <p:spPr>
          <a:xfrm>
            <a:off x="11158347" y="5259124"/>
            <a:ext cx="1022196" cy="1485900"/>
          </a:xfrm>
          <a:prstGeom prst="rect">
            <a:avLst/>
          </a:prstGeom>
        </p:spPr>
      </p:pic>
    </p:spTree>
    <p:extLst>
      <p:ext uri="{BB962C8B-B14F-4D97-AF65-F5344CB8AC3E}">
        <p14:creationId xmlns:p14="http://schemas.microsoft.com/office/powerpoint/2010/main" val="403193490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4960138"/>
            <a:ext cx="7772400" cy="1463040"/>
          </a:xfrm>
        </p:spPr>
        <p:txBody>
          <a:bodyPr anchor="ctr">
            <a:normAutofit/>
          </a:bodyPr>
          <a:lstStyle>
            <a:lvl1pPr algn="r">
              <a:defRPr sz="5000" spc="200" baseline="0"/>
            </a:lvl1pPr>
          </a:lstStyle>
          <a:p>
            <a:r>
              <a:rPr lang="en-US"/>
              <a:t>Click to edit Master title style</a:t>
            </a:r>
            <a:endParaRPr lang="en-US" dirty="0"/>
          </a:p>
        </p:txBody>
      </p:sp>
      <p:sp>
        <p:nvSpPr>
          <p:cNvPr id="3" name="Picture Placeholder 2"/>
          <p:cNvSpPr>
            <a:spLocks noGrp="1" noChangeAspect="1"/>
          </p:cNvSpPr>
          <p:nvPr>
            <p:ph type="pic" idx="1"/>
          </p:nvPr>
        </p:nvSpPr>
        <p:spPr>
          <a:xfrm>
            <a:off x="0" y="-1"/>
            <a:ext cx="12188952" cy="4572000"/>
          </a:xfrm>
          <a:solidFill>
            <a:schemeClr val="accent2">
              <a:lumMod val="60000"/>
              <a:lumOff val="40000"/>
            </a:schemeClr>
          </a:solidFill>
        </p:spPr>
        <p:txBody>
          <a:bodyPr lIns="457200" tIns="365760" rIns="45720" bIns="4572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610600" y="4960138"/>
            <a:ext cx="3200400" cy="1463040"/>
          </a:xfrm>
        </p:spPr>
        <p:txBody>
          <a:bodyPr lIns="91440" rIns="91440" anchor="ctr">
            <a:normAutofit/>
          </a:bodyPr>
          <a:lstStyle>
            <a:lvl1pPr marL="0" indent="0">
              <a:lnSpc>
                <a:spcPct val="100000"/>
              </a:lnSpc>
              <a:spcBef>
                <a:spcPts val="0"/>
              </a:spcBef>
              <a:buNone/>
              <a:defRPr sz="1800">
                <a:solidFill>
                  <a:schemeClr val="tx1">
                    <a:lumMod val="95000"/>
                    <a:lumOff val="5000"/>
                  </a:schemeClr>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1FA61AC1-A611-4AAA-ACBC-68DB19972495}" type="datetime1">
              <a:rPr lang="en-US" smtClean="0"/>
              <a:t>7/22/2026</a:t>
            </a:fld>
            <a:endParaRPr lang="en-US"/>
          </a:p>
        </p:txBody>
      </p:sp>
      <p:sp>
        <p:nvSpPr>
          <p:cNvPr id="6" name="Footer Placeholder 5"/>
          <p:cNvSpPr>
            <a:spLocks noGrp="1"/>
          </p:cNvSpPr>
          <p:nvPr>
            <p:ph type="ftr" sz="quarter" idx="11"/>
          </p:nvPr>
        </p:nvSpPr>
        <p:spPr/>
        <p:txBody>
          <a:bodyPr/>
          <a:lstStyle/>
          <a:p>
            <a:r>
              <a:rPr lang="en-US"/>
              <a:t>A CATHOLIC INTRODUCTION TO ARTIFICIAL INTELLIGENCE</a:t>
            </a:r>
          </a:p>
        </p:txBody>
      </p:sp>
      <p:sp>
        <p:nvSpPr>
          <p:cNvPr id="7" name="Slide Number Placeholder 6"/>
          <p:cNvSpPr>
            <a:spLocks noGrp="1"/>
          </p:cNvSpPr>
          <p:nvPr>
            <p:ph type="sldNum" sz="quarter" idx="12"/>
          </p:nvPr>
        </p:nvSpPr>
        <p:spPr/>
        <p:txBody>
          <a:bodyPr/>
          <a:lstStyle/>
          <a:p>
            <a:fld id="{E31375A4-56A4-47D6-9801-1991572033F7}" type="slidenum">
              <a:rPr lang="en-US" smtClean="0"/>
              <a:t>‹#›</a:t>
            </a:fld>
            <a:endParaRPr lang="en-US"/>
          </a:p>
        </p:txBody>
      </p:sp>
      <p:cxnSp>
        <p:nvCxnSpPr>
          <p:cNvPr id="8" name="Straight Connector 7"/>
          <p:cNvCxnSpPr/>
          <p:nvPr/>
        </p:nvCxnSpPr>
        <p:spPr>
          <a:xfrm flipV="1">
            <a:off x="8386843" y="5264106"/>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9" name="Rectangle 8">
            <a:extLst>
              <a:ext uri="{FF2B5EF4-FFF2-40B4-BE49-F238E27FC236}">
                <a16:creationId xmlns:a16="http://schemas.microsoft.com/office/drawing/2014/main" id="{E4A10DE5-43C3-E43E-A721-A27C608399F9}"/>
              </a:ext>
            </a:extLst>
          </p:cNvPr>
          <p:cNvSpPr/>
          <p:nvPr userDrawn="1"/>
        </p:nvSpPr>
        <p:spPr bwMode="blackWhite">
          <a:xfrm>
            <a:off x="644091" y="640080"/>
            <a:ext cx="6675120" cy="5577840"/>
          </a:xfrm>
          <a:prstGeom prst="rect">
            <a:avLst/>
          </a:prstGeom>
          <a:solidFill>
            <a:srgbClr val="000000"/>
          </a:solidFill>
          <a:ln w="101600">
            <a:solidFill>
              <a:schemeClr val="tx1"/>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p>
        </p:txBody>
      </p:sp>
    </p:spTree>
    <p:extLst>
      <p:ext uri="{BB962C8B-B14F-4D97-AF65-F5344CB8AC3E}">
        <p14:creationId xmlns:p14="http://schemas.microsoft.com/office/powerpoint/2010/main" val="425777908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560000B-CF62-414D-99F1-FCEAFFFA8114}" type="datetime1">
              <a:rPr lang="en-US" smtClean="0"/>
              <a:t>7/22/2026</a:t>
            </a:fld>
            <a:endParaRPr lang="en-US"/>
          </a:p>
        </p:txBody>
      </p:sp>
      <p:sp>
        <p:nvSpPr>
          <p:cNvPr id="5" name="Footer Placeholder 4"/>
          <p:cNvSpPr>
            <a:spLocks noGrp="1"/>
          </p:cNvSpPr>
          <p:nvPr>
            <p:ph type="ftr" sz="quarter" idx="11"/>
          </p:nvPr>
        </p:nvSpPr>
        <p:spPr/>
        <p:txBody>
          <a:bodyPr/>
          <a:lstStyle/>
          <a:p>
            <a:r>
              <a:rPr lang="en-US"/>
              <a:t>A CATHOLIC INTRODUCTION TO ARTIFICIAL INTELLIGENCE</a:t>
            </a:r>
          </a:p>
        </p:txBody>
      </p:sp>
      <p:sp>
        <p:nvSpPr>
          <p:cNvPr id="6" name="Slide Number Placeholder 5"/>
          <p:cNvSpPr>
            <a:spLocks noGrp="1"/>
          </p:cNvSpPr>
          <p:nvPr>
            <p:ph type="sldNum" sz="quarter" idx="12"/>
          </p:nvPr>
        </p:nvSpPr>
        <p:spPr/>
        <p:txBody>
          <a:bodyPr/>
          <a:lstStyle/>
          <a:p>
            <a:fld id="{E31375A4-56A4-47D6-9801-1991572033F7}" type="slidenum">
              <a:rPr lang="en-US" smtClean="0"/>
              <a:t>‹#›</a:t>
            </a:fld>
            <a:endParaRPr lang="en-US"/>
          </a:p>
        </p:txBody>
      </p:sp>
    </p:spTree>
    <p:extLst>
      <p:ext uri="{BB962C8B-B14F-4D97-AF65-F5344CB8AC3E}">
        <p14:creationId xmlns:p14="http://schemas.microsoft.com/office/powerpoint/2010/main" val="402449972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1" y="762000"/>
            <a:ext cx="2628900" cy="5410200"/>
          </a:xfrm>
        </p:spPr>
        <p:txBody>
          <a:bodyPr vert="eaVert" lIns="45720" tIns="91440" rIns="45720" bIns="91440"/>
          <a:lstStyle/>
          <a:p>
            <a:r>
              <a:rPr lang="en-US"/>
              <a:t>Click to edit Master title style</a:t>
            </a:r>
            <a:endParaRPr lang="en-US" dirty="0"/>
          </a:p>
        </p:txBody>
      </p:sp>
      <p:sp>
        <p:nvSpPr>
          <p:cNvPr id="3" name="Vertical Text Placeholder 2"/>
          <p:cNvSpPr>
            <a:spLocks noGrp="1"/>
          </p:cNvSpPr>
          <p:nvPr>
            <p:ph type="body" orient="vert" idx="1"/>
          </p:nvPr>
        </p:nvSpPr>
        <p:spPr>
          <a:xfrm>
            <a:off x="990601" y="762000"/>
            <a:ext cx="7581900" cy="54102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088A5A9-6D9B-4002-8758-22F05F635814}" type="datetime1">
              <a:rPr lang="en-US" smtClean="0"/>
              <a:t>7/22/2026</a:t>
            </a:fld>
            <a:endParaRPr lang="en-US"/>
          </a:p>
        </p:txBody>
      </p:sp>
      <p:sp>
        <p:nvSpPr>
          <p:cNvPr id="5" name="Footer Placeholder 4"/>
          <p:cNvSpPr>
            <a:spLocks noGrp="1"/>
          </p:cNvSpPr>
          <p:nvPr>
            <p:ph type="ftr" sz="quarter" idx="11"/>
          </p:nvPr>
        </p:nvSpPr>
        <p:spPr/>
        <p:txBody>
          <a:bodyPr/>
          <a:lstStyle/>
          <a:p>
            <a:r>
              <a:rPr lang="en-US"/>
              <a:t>A CATHOLIC INTRODUCTION TO ARTIFICIAL INTELLIGENCE</a:t>
            </a:r>
          </a:p>
        </p:txBody>
      </p:sp>
      <p:sp>
        <p:nvSpPr>
          <p:cNvPr id="6" name="Slide Number Placeholder 5"/>
          <p:cNvSpPr>
            <a:spLocks noGrp="1"/>
          </p:cNvSpPr>
          <p:nvPr>
            <p:ph type="sldNum" sz="quarter" idx="12"/>
          </p:nvPr>
        </p:nvSpPr>
        <p:spPr/>
        <p:txBody>
          <a:bodyPr/>
          <a:lstStyle/>
          <a:p>
            <a:fld id="{E31375A4-56A4-47D6-9801-1991572033F7}" type="slidenum">
              <a:rPr lang="en-US" smtClean="0"/>
              <a:t>‹#›</a:t>
            </a:fld>
            <a:endParaRPr lang="en-US"/>
          </a:p>
        </p:txBody>
      </p:sp>
      <p:cxnSp>
        <p:nvCxnSpPr>
          <p:cNvPr id="8" name="Straight Connector 7"/>
          <p:cNvCxnSpPr/>
          <p:nvPr/>
        </p:nvCxnSpPr>
        <p:spPr>
          <a:xfrm rot="5400000" flipV="1">
            <a:off x="10058400" y="59263"/>
            <a:ext cx="0" cy="914400"/>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9547668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_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002587" y="1600200"/>
            <a:ext cx="3122613" cy="1828800"/>
          </a:xfrm>
        </p:spPr>
        <p:txBody>
          <a:bodyPr anchor="b">
            <a:normAutofit/>
          </a:bodyPr>
          <a:lstStyle>
            <a:lvl1pPr>
              <a:defRPr sz="3400">
                <a:latin typeface="Figtree"/>
              </a:defRPr>
            </a:lvl1pPr>
          </a:lstStyle>
          <a:p>
            <a:r>
              <a:rPr lang="en-US" dirty="0"/>
              <a:t>Click to edit Master title style</a:t>
            </a:r>
          </a:p>
        </p:txBody>
      </p:sp>
      <p:sp>
        <p:nvSpPr>
          <p:cNvPr id="3" name="Content Placeholder 2"/>
          <p:cNvSpPr>
            <a:spLocks noGrp="1"/>
          </p:cNvSpPr>
          <p:nvPr>
            <p:ph idx="1"/>
          </p:nvPr>
        </p:nvSpPr>
        <p:spPr>
          <a:xfrm>
            <a:off x="760412" y="762000"/>
            <a:ext cx="6400800" cy="5334000"/>
          </a:xfrm>
        </p:spPr>
        <p:txBody>
          <a:bodyP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p:nvPr>
        </p:nvSpPr>
        <p:spPr>
          <a:xfrm>
            <a:off x="8001039" y="3429000"/>
            <a:ext cx="3124161" cy="1828800"/>
          </a:xfrm>
        </p:spPr>
        <p:txBody>
          <a:bodyPr/>
          <a:lstStyle>
            <a:lvl1pPr marL="0" indent="0">
              <a:spcBef>
                <a:spcPts val="0"/>
              </a:spcBef>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p:cNvSpPr>
            <a:spLocks noGrp="1"/>
          </p:cNvSpPr>
          <p:nvPr>
            <p:ph type="dt" sz="half" idx="10"/>
          </p:nvPr>
        </p:nvSpPr>
        <p:spPr/>
        <p:txBody>
          <a:bodyPr/>
          <a:lstStyle/>
          <a:p>
            <a:fld id="{7667A08A-56FA-4B1A-93EF-D6F4B6EE46E5}" type="datetime1">
              <a:rPr lang="en-US" smtClean="0"/>
              <a:t>7/22/2026</a:t>
            </a:fld>
            <a:endParaRPr lang="en-US"/>
          </a:p>
        </p:txBody>
      </p:sp>
      <p:sp>
        <p:nvSpPr>
          <p:cNvPr id="6" name="Footer Placeholder 5"/>
          <p:cNvSpPr>
            <a:spLocks noGrp="1"/>
          </p:cNvSpPr>
          <p:nvPr>
            <p:ph type="ftr" sz="quarter" idx="11"/>
          </p:nvPr>
        </p:nvSpPr>
        <p:spPr/>
        <p:txBody>
          <a:bodyPr/>
          <a:lstStyle/>
          <a:p>
            <a:r>
              <a:rPr lang="en-US" dirty="0"/>
              <a:t>A CATHOLIC INTRODUCTION TO ARTIFICIAL INTELLIGENCE – PART 1</a:t>
            </a:r>
          </a:p>
        </p:txBody>
      </p:sp>
      <p:sp>
        <p:nvSpPr>
          <p:cNvPr id="7" name="Slide Number Placeholder 6"/>
          <p:cNvSpPr>
            <a:spLocks noGrp="1"/>
          </p:cNvSpPr>
          <p:nvPr>
            <p:ph type="sldNum" sz="quarter" idx="12"/>
          </p:nvPr>
        </p:nvSpPr>
        <p:spPr/>
        <p:txBody>
          <a:bodyPr/>
          <a:lstStyle/>
          <a:p>
            <a:fld id="{E31375A4-56A4-47D6-9801-1991572033F7}" type="slidenum">
              <a:rPr lang="en-US" smtClean="0"/>
              <a:t>‹#›</a:t>
            </a:fld>
            <a:endParaRPr lang="en-US"/>
          </a:p>
        </p:txBody>
      </p:sp>
      <p:pic>
        <p:nvPicPr>
          <p:cNvPr id="9" name="Picture 8">
            <a:extLst>
              <a:ext uri="{FF2B5EF4-FFF2-40B4-BE49-F238E27FC236}">
                <a16:creationId xmlns:a16="http://schemas.microsoft.com/office/drawing/2014/main" id="{11CC8F94-9BE9-A7EB-6FAB-5953268C2DA9}"/>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600917" y="13716"/>
            <a:ext cx="1579626" cy="1053084"/>
          </a:xfrm>
          <a:prstGeom prst="rect">
            <a:avLst/>
          </a:prstGeom>
        </p:spPr>
      </p:pic>
      <p:pic>
        <p:nvPicPr>
          <p:cNvPr id="11" name="Picture 10">
            <a:extLst>
              <a:ext uri="{FF2B5EF4-FFF2-40B4-BE49-F238E27FC236}">
                <a16:creationId xmlns:a16="http://schemas.microsoft.com/office/drawing/2014/main" id="{5247F250-6A7B-31C2-8034-709F9EAC0A45}"/>
              </a:ext>
            </a:extLst>
          </p:cNvPr>
          <p:cNvPicPr>
            <a:picLocks noChangeAspect="1"/>
          </p:cNvPicPr>
          <p:nvPr userDrawn="1"/>
        </p:nvPicPr>
        <p:blipFill>
          <a:blip r:embed="rId3"/>
          <a:stretch>
            <a:fillRect/>
          </a:stretch>
        </p:blipFill>
        <p:spPr>
          <a:xfrm>
            <a:off x="11158347" y="5259124"/>
            <a:ext cx="1022196" cy="1485900"/>
          </a:xfrm>
          <a:prstGeom prst="rect">
            <a:avLst/>
          </a:prstGeom>
        </p:spPr>
      </p:pic>
    </p:spTree>
    <p:extLst>
      <p:ext uri="{BB962C8B-B14F-4D97-AF65-F5344CB8AC3E}">
        <p14:creationId xmlns:p14="http://schemas.microsoft.com/office/powerpoint/2010/main" val="166737413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24128" y="585216"/>
            <a:ext cx="9720072" cy="1499616"/>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024128" y="2286000"/>
            <a:ext cx="9720073" cy="4023360"/>
          </a:xfrm>
          <a:prstGeom prst="rect">
            <a:avLst/>
          </a:prstGeom>
        </p:spPr>
        <p:txBody>
          <a:bodyPr vert="horz" lIns="45720" tIns="45720" rIns="4572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1024129" y="6470704"/>
            <a:ext cx="2154143" cy="274320"/>
          </a:xfrm>
          <a:prstGeom prst="rect">
            <a:avLst/>
          </a:prstGeom>
        </p:spPr>
        <p:txBody>
          <a:bodyPr vert="horz" lIns="91440" tIns="45720" rIns="91440" bIns="45720" rtlCol="0" anchor="ctr"/>
          <a:lstStyle>
            <a:lvl1pPr algn="l">
              <a:defRPr sz="1000">
                <a:solidFill>
                  <a:schemeClr val="tx1">
                    <a:lumMod val="95000"/>
                    <a:lumOff val="5000"/>
                  </a:schemeClr>
                </a:solidFill>
                <a:latin typeface="+mj-lt"/>
              </a:defRPr>
            </a:lvl1pPr>
          </a:lstStyle>
          <a:p>
            <a:fld id="{1B06BE37-4A61-4FDA-A19D-D5A995154A6C}" type="datetime1">
              <a:rPr lang="en-US" smtClean="0"/>
              <a:t>7/22/2026</a:t>
            </a:fld>
            <a:endParaRPr lang="en-US"/>
          </a:p>
        </p:txBody>
      </p:sp>
      <p:sp>
        <p:nvSpPr>
          <p:cNvPr id="5" name="Footer Placeholder 4"/>
          <p:cNvSpPr>
            <a:spLocks noGrp="1"/>
          </p:cNvSpPr>
          <p:nvPr>
            <p:ph type="ftr" sz="quarter" idx="3"/>
          </p:nvPr>
        </p:nvSpPr>
        <p:spPr>
          <a:xfrm>
            <a:off x="4842932" y="6470704"/>
            <a:ext cx="5901459" cy="274320"/>
          </a:xfrm>
          <a:prstGeom prst="rect">
            <a:avLst/>
          </a:prstGeom>
        </p:spPr>
        <p:txBody>
          <a:bodyPr vert="horz" lIns="91440" tIns="45720" rIns="91440" bIns="45720" rtlCol="0" anchor="ctr"/>
          <a:lstStyle>
            <a:lvl1pPr algn="r">
              <a:defRPr sz="1000" cap="all" baseline="0">
                <a:solidFill>
                  <a:schemeClr val="tx1">
                    <a:lumMod val="95000"/>
                    <a:lumOff val="5000"/>
                  </a:schemeClr>
                </a:solidFill>
                <a:latin typeface="+mj-lt"/>
              </a:defRPr>
            </a:lvl1pPr>
          </a:lstStyle>
          <a:p>
            <a:r>
              <a:rPr lang="en-US" dirty="0"/>
              <a:t>A CATHOLIC INTRODUCTION TO ARTIFICIAL INTELLIGENCE – PART 1</a:t>
            </a:r>
          </a:p>
        </p:txBody>
      </p:sp>
      <p:sp>
        <p:nvSpPr>
          <p:cNvPr id="6" name="Slide Number Placeholder 5"/>
          <p:cNvSpPr>
            <a:spLocks noGrp="1"/>
          </p:cNvSpPr>
          <p:nvPr>
            <p:ph type="sldNum" sz="quarter" idx="4"/>
          </p:nvPr>
        </p:nvSpPr>
        <p:spPr>
          <a:xfrm>
            <a:off x="10837333" y="6470704"/>
            <a:ext cx="973667" cy="274320"/>
          </a:xfrm>
          <a:prstGeom prst="rect">
            <a:avLst/>
          </a:prstGeom>
        </p:spPr>
        <p:txBody>
          <a:bodyPr vert="horz" lIns="91440" tIns="45720" rIns="91440" bIns="45720" rtlCol="0" anchor="ctr"/>
          <a:lstStyle>
            <a:lvl1pPr algn="l">
              <a:defRPr sz="1000">
                <a:solidFill>
                  <a:schemeClr val="tx1">
                    <a:lumMod val="95000"/>
                    <a:lumOff val="5000"/>
                  </a:schemeClr>
                </a:solidFill>
                <a:latin typeface="+mj-lt"/>
              </a:defRPr>
            </a:lvl1pPr>
          </a:lstStyle>
          <a:p>
            <a:fld id="{E31375A4-56A4-47D6-9801-1991572033F7}" type="slidenum">
              <a:rPr lang="en-US" smtClean="0"/>
              <a:pPr/>
              <a:t>‹#›</a:t>
            </a:fld>
            <a:endParaRPr lang="en-US"/>
          </a:p>
        </p:txBody>
      </p:sp>
      <p:cxnSp>
        <p:nvCxnSpPr>
          <p:cNvPr id="8" name="Straight Connector 7"/>
          <p:cNvCxnSpPr/>
          <p:nvPr/>
        </p:nvCxnSpPr>
        <p:spPr>
          <a:xfrm flipV="1">
            <a:off x="762000" y="826324"/>
            <a:ext cx="0" cy="914400"/>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38534753"/>
      </p:ext>
    </p:extLst>
  </p:cSld>
  <p:clrMap bg1="dk1" tx1="lt1" bg2="dk2" tx2="lt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 id="2147483656" r:id="rId12"/>
  </p:sldLayoutIdLst>
  <p:hf hdr="0" dt="0"/>
  <p:txStyles>
    <p:titleStyle>
      <a:lvl1pPr algn="l" defTabSz="914400" rtl="0" eaLnBrk="1" latinLnBrk="0" hangingPunct="1">
        <a:lnSpc>
          <a:spcPct val="80000"/>
        </a:lnSpc>
        <a:spcBef>
          <a:spcPct val="0"/>
        </a:spcBef>
        <a:buNone/>
        <a:defRPr sz="5000" kern="1200" cap="all" spc="100" baseline="0">
          <a:solidFill>
            <a:schemeClr val="tx1">
              <a:lumMod val="95000"/>
              <a:lumOff val="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2"/>
        </a:buClr>
        <a:buSzPct val="100000"/>
        <a:buFont typeface="Tw Cen MT" panose="020B0602020104020603" pitchFamily="34" charset="0"/>
        <a:buChar char=" "/>
        <a:defRPr sz="2800" kern="1200">
          <a:solidFill>
            <a:schemeClr val="tx1"/>
          </a:solidFill>
          <a:latin typeface="Figtree"/>
          <a:ea typeface="+mn-ea"/>
          <a:cs typeface="+mn-cs"/>
        </a:defRPr>
      </a:lvl1pPr>
      <a:lvl2pPr marL="265176" indent="-137160" algn="l" defTabSz="914400" rtl="0" eaLnBrk="1" latinLnBrk="0" hangingPunct="1">
        <a:lnSpc>
          <a:spcPct val="90000"/>
        </a:lnSpc>
        <a:spcBef>
          <a:spcPts val="200"/>
        </a:spcBef>
        <a:spcAft>
          <a:spcPts val="400"/>
        </a:spcAft>
        <a:buClr>
          <a:schemeClr val="accent2"/>
        </a:buClr>
        <a:buFont typeface="Wingdings 3" pitchFamily="18" charset="2"/>
        <a:buChar char=""/>
        <a:defRPr sz="2400" kern="1200">
          <a:solidFill>
            <a:schemeClr val="tx1"/>
          </a:solidFill>
          <a:latin typeface="Figtree"/>
          <a:ea typeface="+mn-ea"/>
          <a:cs typeface="+mn-cs"/>
        </a:defRPr>
      </a:lvl2pPr>
      <a:lvl3pPr marL="448056" indent="-137160" algn="l" defTabSz="914400" rtl="0" eaLnBrk="1" latinLnBrk="0" hangingPunct="1">
        <a:lnSpc>
          <a:spcPct val="90000"/>
        </a:lnSpc>
        <a:spcBef>
          <a:spcPts val="200"/>
        </a:spcBef>
        <a:spcAft>
          <a:spcPts val="400"/>
        </a:spcAft>
        <a:buClr>
          <a:schemeClr val="accent2"/>
        </a:buClr>
        <a:buFont typeface="Wingdings 3" pitchFamily="18" charset="2"/>
        <a:buChar char=""/>
        <a:defRPr sz="1800" kern="1200">
          <a:solidFill>
            <a:schemeClr val="tx1"/>
          </a:solidFill>
          <a:latin typeface="Figtree"/>
          <a:ea typeface="+mn-ea"/>
          <a:cs typeface="+mn-cs"/>
        </a:defRPr>
      </a:lvl3pPr>
      <a:lvl4pPr marL="594360" indent="-137160" algn="l" defTabSz="914400" rtl="0" eaLnBrk="1" latinLnBrk="0" hangingPunct="1">
        <a:lnSpc>
          <a:spcPct val="90000"/>
        </a:lnSpc>
        <a:spcBef>
          <a:spcPts val="200"/>
        </a:spcBef>
        <a:spcAft>
          <a:spcPts val="400"/>
        </a:spcAft>
        <a:buClr>
          <a:schemeClr val="accent2"/>
        </a:buClr>
        <a:buFont typeface="Wingdings 3" pitchFamily="18" charset="2"/>
        <a:buChar char=""/>
        <a:defRPr sz="1800" kern="1200">
          <a:solidFill>
            <a:schemeClr val="tx1"/>
          </a:solidFill>
          <a:latin typeface="Figtree"/>
          <a:ea typeface="+mn-ea"/>
          <a:cs typeface="+mn-cs"/>
        </a:defRPr>
      </a:lvl4pPr>
      <a:lvl5pPr marL="777240" indent="-137160" algn="l" defTabSz="914400" rtl="0" eaLnBrk="1" latinLnBrk="0" hangingPunct="1">
        <a:lnSpc>
          <a:spcPct val="90000"/>
        </a:lnSpc>
        <a:spcBef>
          <a:spcPts val="200"/>
        </a:spcBef>
        <a:spcAft>
          <a:spcPts val="400"/>
        </a:spcAft>
        <a:buClr>
          <a:schemeClr val="accent2"/>
        </a:buClr>
        <a:buFont typeface="Wingdings 3" pitchFamily="18" charset="2"/>
        <a:buChar char=""/>
        <a:defRPr sz="1800" kern="1200">
          <a:solidFill>
            <a:schemeClr val="tx1"/>
          </a:solidFill>
          <a:latin typeface="Figtree"/>
          <a:ea typeface="+mn-ea"/>
          <a:cs typeface="+mn-cs"/>
        </a:defRPr>
      </a:lvl5pPr>
      <a:lvl6pPr marL="914400" indent="-137160" algn="l" defTabSz="914400" rtl="0" eaLnBrk="1" latinLnBrk="0" hangingPunct="1">
        <a:lnSpc>
          <a:spcPct val="90000"/>
        </a:lnSpc>
        <a:spcBef>
          <a:spcPts val="200"/>
        </a:spcBef>
        <a:spcAft>
          <a:spcPts val="400"/>
        </a:spcAft>
        <a:buClr>
          <a:schemeClr val="accent2"/>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2"/>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2"/>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2"/>
        </a:buClr>
        <a:buFont typeface="Wingdings 3" pitchFamily="18" charset="2"/>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8.xml"/></Relationships>
</file>

<file path=ppt/slides/_rels/slide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6.png"/><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7.jpeg"/><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chart" Target="../charts/chart1.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8.emf"/><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9.jpeg"/><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22.xml.rels><?xml version="1.0" encoding="UTF-8" standalone="yes"?>
<Relationships xmlns="http://schemas.openxmlformats.org/package/2006/relationships"><Relationship Id="rId3" Type="http://schemas.openxmlformats.org/officeDocument/2006/relationships/diagramLayout" Target="../diagrams/layout1.xml"/><Relationship Id="rId7" Type="http://schemas.openxmlformats.org/officeDocument/2006/relationships/image" Target="../media/image10.jpeg"/><Relationship Id="rId2" Type="http://schemas.openxmlformats.org/officeDocument/2006/relationships/diagramData" Target="../diagrams/data1.xml"/><Relationship Id="rId1" Type="http://schemas.openxmlformats.org/officeDocument/2006/relationships/slideLayout" Target="../slideLayouts/slideLayout4.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23.xml.rels><?xml version="1.0" encoding="UTF-8" standalone="yes"?>
<Relationships xmlns="http://schemas.openxmlformats.org/package/2006/relationships"><Relationship Id="rId8" Type="http://schemas.openxmlformats.org/officeDocument/2006/relationships/image" Target="../media/image2.jpeg"/><Relationship Id="rId3" Type="http://schemas.openxmlformats.org/officeDocument/2006/relationships/hyperlink" Target="https://www.youtube.com/watch?v=4DQsG3TKQ0I" TargetMode="External"/><Relationship Id="rId7" Type="http://schemas.openxmlformats.org/officeDocument/2006/relationships/hyperlink" Target="https://www.youtube.com/watch?v=T6KtiOmRkn8" TargetMode="External"/><Relationship Id="rId2" Type="http://schemas.openxmlformats.org/officeDocument/2006/relationships/hyperlink" Target="https://www.youtube.com/watch?v=s93KC4AGKnY" TargetMode="External"/><Relationship Id="rId1" Type="http://schemas.openxmlformats.org/officeDocument/2006/relationships/slideLayout" Target="../slideLayouts/slideLayout2.xml"/><Relationship Id="rId6" Type="http://schemas.openxmlformats.org/officeDocument/2006/relationships/hyperlink" Target="https://www.youtube.com/watch?v=ZTrebszENNw" TargetMode="External"/><Relationship Id="rId5" Type="http://schemas.openxmlformats.org/officeDocument/2006/relationships/hyperlink" Target="https://www.youtube.com/watch?v=cpraXaw7dyc" TargetMode="External"/><Relationship Id="rId4" Type="http://schemas.openxmlformats.org/officeDocument/2006/relationships/hyperlink" Target="https://www.youtube.com/watch?v=05bGPiyM4jg" TargetMode="External"/><Relationship Id="rId9" Type="http://schemas.openxmlformats.org/officeDocument/2006/relationships/image" Target="../media/image3.png"/></Relationships>
</file>

<file path=ppt/slides/_rels/slide24.xml.rels><?xml version="1.0" encoding="UTF-8" standalone="yes"?>
<Relationships xmlns="http://schemas.openxmlformats.org/package/2006/relationships"><Relationship Id="rId3" Type="http://schemas.openxmlformats.org/officeDocument/2006/relationships/hyperlink" Target="https://www.youtube.com/watch?v=Wjrdr0NU4Sk" TargetMode="External"/><Relationship Id="rId2" Type="http://schemas.openxmlformats.org/officeDocument/2006/relationships/hyperlink" Target="https://www.youtube.com/watch?v=8u4SeFnY9Jc&amp;t=283s" TargetMode="External"/><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image" Target="../media/image2.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400" y="3165763"/>
            <a:ext cx="11963400" cy="1711037"/>
          </a:xfrm>
        </p:spPr>
        <p:txBody>
          <a:bodyPr>
            <a:normAutofit/>
          </a:bodyPr>
          <a:lstStyle/>
          <a:p>
            <a:pPr algn="ctr"/>
            <a:r>
              <a:rPr lang="en-US" sz="4800" dirty="0"/>
              <a:t>A Catholic introduction to artificial intelligence</a:t>
            </a:r>
            <a:br>
              <a:rPr lang="en-US" sz="4800" dirty="0"/>
            </a:br>
            <a:r>
              <a:rPr lang="en-US" sz="4800" dirty="0"/>
              <a:t>Class 1 lecture</a:t>
            </a:r>
            <a:endParaRPr sz="4800" dirty="0"/>
          </a:p>
        </p:txBody>
      </p:sp>
      <p:sp>
        <p:nvSpPr>
          <p:cNvPr id="3" name="Subtitle 2"/>
          <p:cNvSpPr>
            <a:spLocks noGrp="1"/>
          </p:cNvSpPr>
          <p:nvPr>
            <p:ph type="subTitle" idx="1"/>
          </p:nvPr>
        </p:nvSpPr>
        <p:spPr/>
        <p:txBody>
          <a:bodyPr/>
          <a:lstStyle/>
          <a:p>
            <a:r>
              <a:rPr lang="en-US" dirty="0"/>
              <a:t>Home School Connections</a:t>
            </a:r>
          </a:p>
          <a:p>
            <a:r>
              <a:rPr lang="en-US"/>
              <a:t>Instructor</a:t>
            </a:r>
            <a:endParaRPr lang="en-US" dirty="0"/>
          </a:p>
          <a:p>
            <a:r>
              <a:rPr lang="en-US" dirty="0"/>
              <a:t>Mr. Dan Goddu BSCS LSSBB CIAAI-JHU</a:t>
            </a:r>
            <a:endParaRPr dirty="0"/>
          </a:p>
        </p:txBody>
      </p:sp>
    </p:spTree>
    <p:extLst>
      <p:ext uri="{BB962C8B-B14F-4D97-AF65-F5344CB8AC3E}">
        <p14:creationId xmlns:p14="http://schemas.microsoft.com/office/powerpoint/2010/main" val="2424538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BB1AEF-82D2-4E07-AA73-112EFD6049FF}"/>
              </a:ext>
            </a:extLst>
          </p:cNvPr>
          <p:cNvSpPr>
            <a:spLocks noGrp="1"/>
          </p:cNvSpPr>
          <p:nvPr>
            <p:ph type="title"/>
          </p:nvPr>
        </p:nvSpPr>
        <p:spPr>
          <a:xfrm>
            <a:off x="697992" y="59957"/>
            <a:ext cx="10808208" cy="1208952"/>
          </a:xfrm>
        </p:spPr>
        <p:txBody>
          <a:bodyPr vert="horz" lIns="91440" tIns="45720" rIns="91440" bIns="45720" rtlCol="0" anchor="b">
            <a:normAutofit/>
          </a:bodyPr>
          <a:lstStyle/>
          <a:p>
            <a:r>
              <a:rPr lang="en-US" sz="4700" dirty="0"/>
              <a:t>Opening Prayer</a:t>
            </a:r>
          </a:p>
        </p:txBody>
      </p:sp>
      <p:sp>
        <p:nvSpPr>
          <p:cNvPr id="3" name="Footer Placeholder 2">
            <a:extLst>
              <a:ext uri="{FF2B5EF4-FFF2-40B4-BE49-F238E27FC236}">
                <a16:creationId xmlns:a16="http://schemas.microsoft.com/office/drawing/2014/main" id="{28156912-BF42-F7A5-C1BB-A211F2931880}"/>
              </a:ext>
            </a:extLst>
          </p:cNvPr>
          <p:cNvSpPr>
            <a:spLocks noGrp="1"/>
          </p:cNvSpPr>
          <p:nvPr>
            <p:ph type="ftr" sz="quarter" idx="11"/>
          </p:nvPr>
        </p:nvSpPr>
        <p:spPr/>
        <p:txBody>
          <a:bodyPr/>
          <a:lstStyle/>
          <a:p>
            <a:r>
              <a:rPr lang="en-US"/>
              <a:t>A CATHOLIC INTRODUCTION TO ARTIFICIAL INTELLIGENCE</a:t>
            </a:r>
          </a:p>
        </p:txBody>
      </p:sp>
      <p:sp>
        <p:nvSpPr>
          <p:cNvPr id="4" name="Slide Number Placeholder 3">
            <a:extLst>
              <a:ext uri="{FF2B5EF4-FFF2-40B4-BE49-F238E27FC236}">
                <a16:creationId xmlns:a16="http://schemas.microsoft.com/office/drawing/2014/main" id="{8B472977-D56B-2E68-6084-4CCA2151ACE5}"/>
              </a:ext>
            </a:extLst>
          </p:cNvPr>
          <p:cNvSpPr>
            <a:spLocks noGrp="1"/>
          </p:cNvSpPr>
          <p:nvPr>
            <p:ph type="sldNum" sz="quarter" idx="12"/>
          </p:nvPr>
        </p:nvSpPr>
        <p:spPr/>
        <p:txBody>
          <a:bodyPr/>
          <a:lstStyle/>
          <a:p>
            <a:fld id="{E31375A4-56A4-47D6-9801-1991572033F7}" type="slidenum">
              <a:rPr lang="en-US" smtClean="0"/>
              <a:t>2</a:t>
            </a:fld>
            <a:endParaRPr lang="en-US"/>
          </a:p>
        </p:txBody>
      </p:sp>
      <p:sp>
        <p:nvSpPr>
          <p:cNvPr id="5" name="TextBox 4">
            <a:extLst>
              <a:ext uri="{FF2B5EF4-FFF2-40B4-BE49-F238E27FC236}">
                <a16:creationId xmlns:a16="http://schemas.microsoft.com/office/drawing/2014/main" id="{90D2891F-828F-07E5-1D88-D8582304D57D}"/>
              </a:ext>
            </a:extLst>
          </p:cNvPr>
          <p:cNvSpPr txBox="1"/>
          <p:nvPr/>
        </p:nvSpPr>
        <p:spPr>
          <a:xfrm>
            <a:off x="697992" y="1474128"/>
            <a:ext cx="5398008" cy="4801314"/>
          </a:xfrm>
          <a:prstGeom prst="rect">
            <a:avLst/>
          </a:prstGeom>
          <a:noFill/>
        </p:spPr>
        <p:txBody>
          <a:bodyPr wrap="square">
            <a:spAutoFit/>
          </a:bodyPr>
          <a:lstStyle/>
          <a:p>
            <a:r>
              <a:rPr lang="en-US" sz="1800" dirty="0"/>
              <a:t>O Glorious St. Joseph, model of all those who are devoted to labor, obtain for me the grace to work conscientiously, putting the call of duty above my natural inclinations; to work with gratitude and joy, in a spirit of penance for the remission of my sins, considering it an honor to employ and develop by means of labor the gifts received from God; to work with order, peace, moderation, and patience, without ever shrinking from weariness and difficulties; to work above all with purity of intention and detachment from self, having always death before my eyes and the account that I must render of time lost, of talents wasted, of good omitted, of vain complacency in success, so fatal to the work of God. All for Jesus, all through Mary, all after thine example, O Patriarch, St. Joseph. Such shall be my motto in life and in death. Amen.</a:t>
            </a:r>
          </a:p>
        </p:txBody>
      </p:sp>
      <p:pic>
        <p:nvPicPr>
          <p:cNvPr id="6" name="Picture 2" descr="Image of St. Joseph">
            <a:extLst>
              <a:ext uri="{FF2B5EF4-FFF2-40B4-BE49-F238E27FC236}">
                <a16:creationId xmlns:a16="http://schemas.microsoft.com/office/drawing/2014/main" id="{89EB9843-A939-98A3-0280-D3221428169C}"/>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7589519" y="664433"/>
            <a:ext cx="3218688" cy="534302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2160350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A724B7-B501-A2F2-397E-952B59739488}"/>
              </a:ext>
            </a:extLst>
          </p:cNvPr>
          <p:cNvSpPr>
            <a:spLocks noGrp="1"/>
          </p:cNvSpPr>
          <p:nvPr>
            <p:ph type="title"/>
          </p:nvPr>
        </p:nvSpPr>
        <p:spPr/>
        <p:txBody>
          <a:bodyPr vert="horz" lIns="91440" tIns="45720" rIns="91440" bIns="45720" rtlCol="0" anchor="b">
            <a:normAutofit/>
          </a:bodyPr>
          <a:lstStyle/>
          <a:p>
            <a:r>
              <a:rPr lang="en-US" dirty="0"/>
              <a:t>What you will learn in this class</a:t>
            </a:r>
          </a:p>
        </p:txBody>
      </p:sp>
      <p:sp>
        <p:nvSpPr>
          <p:cNvPr id="3" name="Content Placeholder 2">
            <a:extLst>
              <a:ext uri="{FF2B5EF4-FFF2-40B4-BE49-F238E27FC236}">
                <a16:creationId xmlns:a16="http://schemas.microsoft.com/office/drawing/2014/main" id="{89D5F51F-3803-F1FD-12FF-8D11EF333100}"/>
              </a:ext>
            </a:extLst>
          </p:cNvPr>
          <p:cNvSpPr>
            <a:spLocks noGrp="1"/>
          </p:cNvSpPr>
          <p:nvPr>
            <p:ph idx="1"/>
          </p:nvPr>
        </p:nvSpPr>
        <p:spPr/>
        <p:txBody>
          <a:bodyPr>
            <a:normAutofit/>
          </a:bodyPr>
          <a:lstStyle/>
          <a:p>
            <a:pPr indent="-274320">
              <a:buFont typeface="Wingdings" panose="05000000000000000000" pitchFamily="2" charset="2"/>
              <a:buChar char="§"/>
            </a:pPr>
            <a:r>
              <a:rPr lang="en-US" sz="2800" dirty="0">
                <a:latin typeface="Figtree"/>
              </a:rPr>
              <a:t>Understand the course structure and expectations.</a:t>
            </a:r>
          </a:p>
          <a:p>
            <a:pPr indent="-274320">
              <a:buFont typeface="Wingdings" panose="05000000000000000000" pitchFamily="2" charset="2"/>
              <a:buChar char="§"/>
            </a:pPr>
            <a:r>
              <a:rPr lang="en-US" sz="2800" dirty="0">
                <a:solidFill>
                  <a:schemeClr val="tx1"/>
                </a:solidFill>
                <a:latin typeface="Figtree"/>
              </a:rPr>
              <a:t>Define Artificial Intelligence (AI) in our own words.</a:t>
            </a:r>
          </a:p>
          <a:p>
            <a:pPr indent="-274320">
              <a:buFont typeface="Wingdings" panose="05000000000000000000" pitchFamily="2" charset="2"/>
              <a:buChar char="§"/>
            </a:pPr>
            <a:r>
              <a:rPr lang="en-US" sz="2800" dirty="0">
                <a:solidFill>
                  <a:schemeClr val="tx1"/>
                </a:solidFill>
                <a:latin typeface="Figtree"/>
              </a:rPr>
              <a:t>Distinguish between AI, Machine Learning (ML), and Deep Learning (DL).</a:t>
            </a:r>
          </a:p>
          <a:p>
            <a:pPr indent="-274320">
              <a:buFont typeface="Wingdings" panose="05000000000000000000" pitchFamily="2" charset="2"/>
              <a:buChar char="§"/>
            </a:pPr>
            <a:r>
              <a:rPr lang="en-US" sz="2800" dirty="0">
                <a:solidFill>
                  <a:schemeClr val="tx1"/>
                </a:solidFill>
                <a:latin typeface="Figtree"/>
              </a:rPr>
              <a:t>Identify examples of AI in your daily lives.</a:t>
            </a:r>
          </a:p>
          <a:p>
            <a:pPr indent="-274320">
              <a:buFont typeface="Wingdings" panose="05000000000000000000" pitchFamily="2" charset="2"/>
              <a:buChar char="§"/>
            </a:pPr>
            <a:r>
              <a:rPr lang="en-US" sz="2800" dirty="0">
                <a:solidFill>
                  <a:schemeClr val="tx1"/>
                </a:solidFill>
                <a:latin typeface="Figtree"/>
              </a:rPr>
              <a:t>Begin to think critically about what AI is and what it is not.</a:t>
            </a:r>
          </a:p>
        </p:txBody>
      </p:sp>
      <p:sp>
        <p:nvSpPr>
          <p:cNvPr id="7" name="Footer Placeholder 6">
            <a:extLst>
              <a:ext uri="{FF2B5EF4-FFF2-40B4-BE49-F238E27FC236}">
                <a16:creationId xmlns:a16="http://schemas.microsoft.com/office/drawing/2014/main" id="{A1522D75-ADA9-B456-3950-F188DEC6791C}"/>
              </a:ext>
            </a:extLst>
          </p:cNvPr>
          <p:cNvSpPr>
            <a:spLocks noGrp="1"/>
          </p:cNvSpPr>
          <p:nvPr>
            <p:ph type="ftr" sz="quarter" idx="11"/>
          </p:nvPr>
        </p:nvSpPr>
        <p:spPr/>
        <p:txBody>
          <a:bodyPr/>
          <a:lstStyle/>
          <a:p>
            <a:r>
              <a:rPr lang="en-US"/>
              <a:t>A CATHOLIC INTRODUCTION TO ARTIFICIAL INTELLIGENCE</a:t>
            </a:r>
          </a:p>
        </p:txBody>
      </p:sp>
      <p:sp>
        <p:nvSpPr>
          <p:cNvPr id="8" name="Slide Number Placeholder 7">
            <a:extLst>
              <a:ext uri="{FF2B5EF4-FFF2-40B4-BE49-F238E27FC236}">
                <a16:creationId xmlns:a16="http://schemas.microsoft.com/office/drawing/2014/main" id="{D6490A12-0395-322B-0DDA-648E7CC0B581}"/>
              </a:ext>
            </a:extLst>
          </p:cNvPr>
          <p:cNvSpPr>
            <a:spLocks noGrp="1"/>
          </p:cNvSpPr>
          <p:nvPr>
            <p:ph type="sldNum" sz="quarter" idx="12"/>
          </p:nvPr>
        </p:nvSpPr>
        <p:spPr/>
        <p:txBody>
          <a:bodyPr/>
          <a:lstStyle/>
          <a:p>
            <a:fld id="{E31375A4-56A4-47D6-9801-1991572033F7}" type="slidenum">
              <a:rPr lang="en-US" smtClean="0"/>
              <a:t>3</a:t>
            </a:fld>
            <a:endParaRPr lang="en-US"/>
          </a:p>
        </p:txBody>
      </p:sp>
      <p:pic>
        <p:nvPicPr>
          <p:cNvPr id="4" name="Picture 3">
            <a:extLst>
              <a:ext uri="{FF2B5EF4-FFF2-40B4-BE49-F238E27FC236}">
                <a16:creationId xmlns:a16="http://schemas.microsoft.com/office/drawing/2014/main" id="{6121E3F6-B1EB-5E15-BD19-ADFC2EEF3924}"/>
              </a:ext>
            </a:extLst>
          </p:cNvPr>
          <p:cNvPicPr>
            <a:picLocks noChangeAspect="1"/>
          </p:cNvPicPr>
          <p:nvPr/>
        </p:nvPicPr>
        <p:blipFill>
          <a:blip r:embed="rId2"/>
          <a:stretch>
            <a:fillRect/>
          </a:stretch>
        </p:blipFill>
        <p:spPr>
          <a:xfrm>
            <a:off x="11158347" y="5259124"/>
            <a:ext cx="1022196" cy="1485900"/>
          </a:xfrm>
          <a:prstGeom prst="rect">
            <a:avLst/>
          </a:prstGeom>
        </p:spPr>
      </p:pic>
      <p:pic>
        <p:nvPicPr>
          <p:cNvPr id="6" name="Picture 5">
            <a:extLst>
              <a:ext uri="{FF2B5EF4-FFF2-40B4-BE49-F238E27FC236}">
                <a16:creationId xmlns:a16="http://schemas.microsoft.com/office/drawing/2014/main" id="{CD0F10BE-2776-0FB0-FA4E-C880AEC952D3}"/>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600917" y="13716"/>
            <a:ext cx="1579626" cy="1053084"/>
          </a:xfrm>
          <a:prstGeom prst="rect">
            <a:avLst/>
          </a:prstGeom>
        </p:spPr>
      </p:pic>
    </p:spTree>
    <p:extLst>
      <p:ext uri="{BB962C8B-B14F-4D97-AF65-F5344CB8AC3E}">
        <p14:creationId xmlns:p14="http://schemas.microsoft.com/office/powerpoint/2010/main" val="44110600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118505-7898-A2C4-A78B-52E2D2EE928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01BF38E-CA19-8978-8512-75EA7D464C95}"/>
              </a:ext>
            </a:extLst>
          </p:cNvPr>
          <p:cNvSpPr>
            <a:spLocks noGrp="1"/>
          </p:cNvSpPr>
          <p:nvPr>
            <p:ph type="title"/>
          </p:nvPr>
        </p:nvSpPr>
        <p:spPr/>
        <p:txBody>
          <a:bodyPr/>
          <a:lstStyle/>
          <a:p>
            <a:r>
              <a:rPr lang="en-US" dirty="0"/>
              <a:t>Catholic Church view of Science</a:t>
            </a:r>
          </a:p>
        </p:txBody>
      </p:sp>
      <p:sp>
        <p:nvSpPr>
          <p:cNvPr id="3" name="Content Placeholder 2">
            <a:extLst>
              <a:ext uri="{FF2B5EF4-FFF2-40B4-BE49-F238E27FC236}">
                <a16:creationId xmlns:a16="http://schemas.microsoft.com/office/drawing/2014/main" id="{F3B7D0BD-E998-93E5-2A8D-B32326CD7B7A}"/>
              </a:ext>
            </a:extLst>
          </p:cNvPr>
          <p:cNvSpPr>
            <a:spLocks noGrp="1"/>
          </p:cNvSpPr>
          <p:nvPr>
            <p:ph idx="1"/>
          </p:nvPr>
        </p:nvSpPr>
        <p:spPr/>
        <p:txBody>
          <a:bodyPr/>
          <a:lstStyle/>
          <a:p>
            <a:r>
              <a:rPr lang="en-US" dirty="0"/>
              <a:t> The Catholic Church views science to explore and comprehend the natural world created by God. </a:t>
            </a:r>
          </a:p>
          <a:p>
            <a:r>
              <a:rPr lang="en-US" dirty="0"/>
              <a:t> Technology is encouraged when it respects ethical principles and upholds the dignity of human life. Catholics recognize the benefits of technological advancements for improving human life and society. </a:t>
            </a:r>
          </a:p>
          <a:p>
            <a:r>
              <a:rPr lang="en-US" dirty="0"/>
              <a:t>Moral discernment is crucial to guide technology to serve humanity ethically and avoid harm or injustice. </a:t>
            </a:r>
          </a:p>
          <a:p>
            <a:endParaRPr lang="en-US" dirty="0"/>
          </a:p>
          <a:p>
            <a:endParaRPr lang="en-US" dirty="0"/>
          </a:p>
        </p:txBody>
      </p:sp>
      <p:sp>
        <p:nvSpPr>
          <p:cNvPr id="4" name="Footer Placeholder 3">
            <a:extLst>
              <a:ext uri="{FF2B5EF4-FFF2-40B4-BE49-F238E27FC236}">
                <a16:creationId xmlns:a16="http://schemas.microsoft.com/office/drawing/2014/main" id="{A6F951B3-1A6C-0A6D-6A4E-B788D1AD416F}"/>
              </a:ext>
            </a:extLst>
          </p:cNvPr>
          <p:cNvSpPr>
            <a:spLocks noGrp="1"/>
          </p:cNvSpPr>
          <p:nvPr>
            <p:ph type="ftr" sz="quarter" idx="11"/>
          </p:nvPr>
        </p:nvSpPr>
        <p:spPr/>
        <p:txBody>
          <a:bodyPr/>
          <a:lstStyle/>
          <a:p>
            <a:r>
              <a:rPr lang="en-US"/>
              <a:t>A CATHOLIC INTRODUCTION TO ARTIFICIAL INTELLIGENCE</a:t>
            </a:r>
          </a:p>
        </p:txBody>
      </p:sp>
      <p:sp>
        <p:nvSpPr>
          <p:cNvPr id="5" name="Slide Number Placeholder 4">
            <a:extLst>
              <a:ext uri="{FF2B5EF4-FFF2-40B4-BE49-F238E27FC236}">
                <a16:creationId xmlns:a16="http://schemas.microsoft.com/office/drawing/2014/main" id="{0F568306-4C71-3C05-08CF-3D3EB56959BF}"/>
              </a:ext>
            </a:extLst>
          </p:cNvPr>
          <p:cNvSpPr>
            <a:spLocks noGrp="1"/>
          </p:cNvSpPr>
          <p:nvPr>
            <p:ph type="sldNum" sz="quarter" idx="12"/>
          </p:nvPr>
        </p:nvSpPr>
        <p:spPr/>
        <p:txBody>
          <a:bodyPr/>
          <a:lstStyle/>
          <a:p>
            <a:fld id="{E31375A4-56A4-47D6-9801-1991572033F7}" type="slidenum">
              <a:rPr lang="en-US" smtClean="0"/>
              <a:t>4</a:t>
            </a:fld>
            <a:endParaRPr lang="en-US"/>
          </a:p>
        </p:txBody>
      </p:sp>
      <p:pic>
        <p:nvPicPr>
          <p:cNvPr id="7" name="Picture 6">
            <a:extLst>
              <a:ext uri="{FF2B5EF4-FFF2-40B4-BE49-F238E27FC236}">
                <a16:creationId xmlns:a16="http://schemas.microsoft.com/office/drawing/2014/main" id="{76BAE237-5170-C7CB-7BFF-804F16C8CC30}"/>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600917" y="13716"/>
            <a:ext cx="1579626" cy="1053084"/>
          </a:xfrm>
          <a:prstGeom prst="rect">
            <a:avLst/>
          </a:prstGeom>
        </p:spPr>
      </p:pic>
      <p:pic>
        <p:nvPicPr>
          <p:cNvPr id="9" name="Picture 8">
            <a:extLst>
              <a:ext uri="{FF2B5EF4-FFF2-40B4-BE49-F238E27FC236}">
                <a16:creationId xmlns:a16="http://schemas.microsoft.com/office/drawing/2014/main" id="{8A93291E-AF48-0682-CE05-6B53A3F7DEDA}"/>
              </a:ext>
            </a:extLst>
          </p:cNvPr>
          <p:cNvPicPr>
            <a:picLocks noChangeAspect="1"/>
          </p:cNvPicPr>
          <p:nvPr/>
        </p:nvPicPr>
        <p:blipFill>
          <a:blip r:embed="rId3"/>
          <a:stretch>
            <a:fillRect/>
          </a:stretch>
        </p:blipFill>
        <p:spPr>
          <a:xfrm>
            <a:off x="11158347" y="5259124"/>
            <a:ext cx="1022196" cy="1485900"/>
          </a:xfrm>
          <a:prstGeom prst="rect">
            <a:avLst/>
          </a:prstGeom>
        </p:spPr>
      </p:pic>
    </p:spTree>
    <p:extLst>
      <p:ext uri="{BB962C8B-B14F-4D97-AF65-F5344CB8AC3E}">
        <p14:creationId xmlns:p14="http://schemas.microsoft.com/office/powerpoint/2010/main" val="142327635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33024F-1506-2615-A9CB-96E8CF3550CE}"/>
              </a:ext>
            </a:extLst>
          </p:cNvPr>
          <p:cNvSpPr>
            <a:spLocks noGrp="1"/>
          </p:cNvSpPr>
          <p:nvPr>
            <p:ph type="title"/>
          </p:nvPr>
        </p:nvSpPr>
        <p:spPr/>
        <p:txBody>
          <a:bodyPr/>
          <a:lstStyle/>
          <a:p>
            <a:r>
              <a:rPr lang="en-US" dirty="0"/>
              <a:t>Course objectives</a:t>
            </a:r>
          </a:p>
        </p:txBody>
      </p:sp>
      <p:sp>
        <p:nvSpPr>
          <p:cNvPr id="3" name="Content Placeholder 2">
            <a:extLst>
              <a:ext uri="{FF2B5EF4-FFF2-40B4-BE49-F238E27FC236}">
                <a16:creationId xmlns:a16="http://schemas.microsoft.com/office/drawing/2014/main" id="{CCEECDB7-AADC-DF84-4881-10FAD3B1050B}"/>
              </a:ext>
            </a:extLst>
          </p:cNvPr>
          <p:cNvSpPr>
            <a:spLocks noGrp="1"/>
          </p:cNvSpPr>
          <p:nvPr>
            <p:ph idx="1"/>
          </p:nvPr>
        </p:nvSpPr>
        <p:spPr/>
        <p:txBody>
          <a:bodyPr/>
          <a:lstStyle/>
          <a:p>
            <a:r>
              <a:rPr lang="en-US" dirty="0"/>
              <a:t>Be critical thinkers and responsible users of Artificial Intelligence using the Catholic Church’s understanding of science</a:t>
            </a:r>
          </a:p>
          <a:p>
            <a:r>
              <a:rPr lang="en-US" dirty="0"/>
              <a:t>Understand how AI impacts privacy, ethics, employment, and truth.</a:t>
            </a:r>
          </a:p>
          <a:p>
            <a:endParaRPr lang="en-US" dirty="0"/>
          </a:p>
          <a:p>
            <a:endParaRPr lang="en-US" dirty="0"/>
          </a:p>
        </p:txBody>
      </p:sp>
      <p:sp>
        <p:nvSpPr>
          <p:cNvPr id="4" name="Footer Placeholder 3">
            <a:extLst>
              <a:ext uri="{FF2B5EF4-FFF2-40B4-BE49-F238E27FC236}">
                <a16:creationId xmlns:a16="http://schemas.microsoft.com/office/drawing/2014/main" id="{0E8B6F1B-30F2-976E-7474-0810D538890F}"/>
              </a:ext>
            </a:extLst>
          </p:cNvPr>
          <p:cNvSpPr>
            <a:spLocks noGrp="1"/>
          </p:cNvSpPr>
          <p:nvPr>
            <p:ph type="ftr" sz="quarter" idx="11"/>
          </p:nvPr>
        </p:nvSpPr>
        <p:spPr/>
        <p:txBody>
          <a:bodyPr/>
          <a:lstStyle/>
          <a:p>
            <a:r>
              <a:rPr lang="en-US"/>
              <a:t>A CATHOLIC INTRODUCTION TO ARTIFICIAL INTELLIGENCE</a:t>
            </a:r>
          </a:p>
        </p:txBody>
      </p:sp>
      <p:sp>
        <p:nvSpPr>
          <p:cNvPr id="5" name="Slide Number Placeholder 4">
            <a:extLst>
              <a:ext uri="{FF2B5EF4-FFF2-40B4-BE49-F238E27FC236}">
                <a16:creationId xmlns:a16="http://schemas.microsoft.com/office/drawing/2014/main" id="{D6226835-B317-78CF-888D-E5547E3F7107}"/>
              </a:ext>
            </a:extLst>
          </p:cNvPr>
          <p:cNvSpPr>
            <a:spLocks noGrp="1"/>
          </p:cNvSpPr>
          <p:nvPr>
            <p:ph type="sldNum" sz="quarter" idx="12"/>
          </p:nvPr>
        </p:nvSpPr>
        <p:spPr/>
        <p:txBody>
          <a:bodyPr/>
          <a:lstStyle/>
          <a:p>
            <a:fld id="{E31375A4-56A4-47D6-9801-1991572033F7}" type="slidenum">
              <a:rPr lang="en-US" smtClean="0"/>
              <a:t>5</a:t>
            </a:fld>
            <a:endParaRPr lang="en-US"/>
          </a:p>
        </p:txBody>
      </p:sp>
      <p:pic>
        <p:nvPicPr>
          <p:cNvPr id="7" name="Picture 6">
            <a:extLst>
              <a:ext uri="{FF2B5EF4-FFF2-40B4-BE49-F238E27FC236}">
                <a16:creationId xmlns:a16="http://schemas.microsoft.com/office/drawing/2014/main" id="{F5FB55F9-3825-F2C3-C228-A1FD084CB75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600917" y="13716"/>
            <a:ext cx="1579626" cy="1053084"/>
          </a:xfrm>
          <a:prstGeom prst="rect">
            <a:avLst/>
          </a:prstGeom>
        </p:spPr>
      </p:pic>
      <p:pic>
        <p:nvPicPr>
          <p:cNvPr id="9" name="Picture 8">
            <a:extLst>
              <a:ext uri="{FF2B5EF4-FFF2-40B4-BE49-F238E27FC236}">
                <a16:creationId xmlns:a16="http://schemas.microsoft.com/office/drawing/2014/main" id="{A80D7A93-7E24-361B-7726-CABEBD283397}"/>
              </a:ext>
            </a:extLst>
          </p:cNvPr>
          <p:cNvPicPr>
            <a:picLocks noChangeAspect="1"/>
          </p:cNvPicPr>
          <p:nvPr/>
        </p:nvPicPr>
        <p:blipFill>
          <a:blip r:embed="rId3"/>
          <a:stretch>
            <a:fillRect/>
          </a:stretch>
        </p:blipFill>
        <p:spPr>
          <a:xfrm>
            <a:off x="11158347" y="5259124"/>
            <a:ext cx="1022196" cy="1485900"/>
          </a:xfrm>
          <a:prstGeom prst="rect">
            <a:avLst/>
          </a:prstGeom>
        </p:spPr>
      </p:pic>
    </p:spTree>
    <p:extLst>
      <p:ext uri="{BB962C8B-B14F-4D97-AF65-F5344CB8AC3E}">
        <p14:creationId xmlns:p14="http://schemas.microsoft.com/office/powerpoint/2010/main" val="184180084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B7E508-2902-2195-CD5E-5A50CC0A456D}"/>
              </a:ext>
            </a:extLst>
          </p:cNvPr>
          <p:cNvSpPr>
            <a:spLocks noGrp="1"/>
          </p:cNvSpPr>
          <p:nvPr>
            <p:ph type="title"/>
          </p:nvPr>
        </p:nvSpPr>
        <p:spPr/>
        <p:txBody>
          <a:bodyPr/>
          <a:lstStyle/>
          <a:p>
            <a:r>
              <a:rPr lang="en-US" dirty="0"/>
              <a:t>Course requirements</a:t>
            </a:r>
          </a:p>
        </p:txBody>
      </p:sp>
      <p:sp>
        <p:nvSpPr>
          <p:cNvPr id="7" name="Text Placeholder 6">
            <a:extLst>
              <a:ext uri="{FF2B5EF4-FFF2-40B4-BE49-F238E27FC236}">
                <a16:creationId xmlns:a16="http://schemas.microsoft.com/office/drawing/2014/main" id="{75BA1D30-967B-F3AE-51BD-1E3323B61A5A}"/>
              </a:ext>
            </a:extLst>
          </p:cNvPr>
          <p:cNvSpPr>
            <a:spLocks noGrp="1"/>
          </p:cNvSpPr>
          <p:nvPr>
            <p:ph type="body" idx="1"/>
          </p:nvPr>
        </p:nvSpPr>
        <p:spPr/>
        <p:txBody>
          <a:bodyPr/>
          <a:lstStyle/>
          <a:p>
            <a:r>
              <a:rPr lang="en-US" dirty="0"/>
              <a:t>Tools</a:t>
            </a:r>
          </a:p>
        </p:txBody>
      </p:sp>
      <p:sp>
        <p:nvSpPr>
          <p:cNvPr id="3" name="Content Placeholder 2">
            <a:extLst>
              <a:ext uri="{FF2B5EF4-FFF2-40B4-BE49-F238E27FC236}">
                <a16:creationId xmlns:a16="http://schemas.microsoft.com/office/drawing/2014/main" id="{A0857804-138F-DF74-6402-0DC80324D594}"/>
              </a:ext>
            </a:extLst>
          </p:cNvPr>
          <p:cNvSpPr>
            <a:spLocks noGrp="1"/>
          </p:cNvSpPr>
          <p:nvPr>
            <p:ph sz="half" idx="2"/>
          </p:nvPr>
        </p:nvSpPr>
        <p:spPr/>
        <p:txBody>
          <a:bodyPr/>
          <a:lstStyle/>
          <a:p>
            <a:r>
              <a:rPr lang="en-US" dirty="0"/>
              <a:t>NotebookLM</a:t>
            </a:r>
          </a:p>
          <a:p>
            <a:r>
              <a:rPr lang="en-US" dirty="0"/>
              <a:t>Jupyter Notebook</a:t>
            </a:r>
          </a:p>
          <a:p>
            <a:r>
              <a:rPr lang="en-US" dirty="0"/>
              <a:t>Visual Studio Code or Google Colab or Jupyter Lite</a:t>
            </a:r>
          </a:p>
        </p:txBody>
      </p:sp>
      <p:sp>
        <p:nvSpPr>
          <p:cNvPr id="8" name="Text Placeholder 7">
            <a:extLst>
              <a:ext uri="{FF2B5EF4-FFF2-40B4-BE49-F238E27FC236}">
                <a16:creationId xmlns:a16="http://schemas.microsoft.com/office/drawing/2014/main" id="{FAF08765-1713-BF94-C283-F9E5BE34316E}"/>
              </a:ext>
            </a:extLst>
          </p:cNvPr>
          <p:cNvSpPr>
            <a:spLocks noGrp="1"/>
          </p:cNvSpPr>
          <p:nvPr>
            <p:ph type="body" sz="quarter" idx="3"/>
          </p:nvPr>
        </p:nvSpPr>
        <p:spPr/>
        <p:txBody>
          <a:bodyPr/>
          <a:lstStyle/>
          <a:p>
            <a:r>
              <a:rPr lang="en-US" dirty="0"/>
              <a:t>Large Language Models</a:t>
            </a:r>
          </a:p>
        </p:txBody>
      </p:sp>
      <p:sp>
        <p:nvSpPr>
          <p:cNvPr id="9" name="Content Placeholder 8">
            <a:extLst>
              <a:ext uri="{FF2B5EF4-FFF2-40B4-BE49-F238E27FC236}">
                <a16:creationId xmlns:a16="http://schemas.microsoft.com/office/drawing/2014/main" id="{3869159F-9AD9-BF3B-460B-A339D92FDA24}"/>
              </a:ext>
            </a:extLst>
          </p:cNvPr>
          <p:cNvSpPr>
            <a:spLocks noGrp="1"/>
          </p:cNvSpPr>
          <p:nvPr>
            <p:ph sz="quarter" idx="4"/>
          </p:nvPr>
        </p:nvSpPr>
        <p:spPr/>
        <p:txBody>
          <a:bodyPr/>
          <a:lstStyle/>
          <a:p>
            <a:r>
              <a:rPr lang="en-US" dirty="0"/>
              <a:t>Ollama</a:t>
            </a:r>
          </a:p>
          <a:p>
            <a:r>
              <a:rPr lang="en-US" dirty="0"/>
              <a:t>ChatGPT or Gemini or Claude</a:t>
            </a:r>
          </a:p>
        </p:txBody>
      </p:sp>
      <p:sp>
        <p:nvSpPr>
          <p:cNvPr id="4" name="Footer Placeholder 3">
            <a:extLst>
              <a:ext uri="{FF2B5EF4-FFF2-40B4-BE49-F238E27FC236}">
                <a16:creationId xmlns:a16="http://schemas.microsoft.com/office/drawing/2014/main" id="{E8E280EA-8425-2306-C100-75A5F0E9F09F}"/>
              </a:ext>
            </a:extLst>
          </p:cNvPr>
          <p:cNvSpPr>
            <a:spLocks noGrp="1"/>
          </p:cNvSpPr>
          <p:nvPr>
            <p:ph type="ftr" sz="quarter" idx="11"/>
          </p:nvPr>
        </p:nvSpPr>
        <p:spPr/>
        <p:txBody>
          <a:bodyPr/>
          <a:lstStyle/>
          <a:p>
            <a:r>
              <a:rPr lang="en-US"/>
              <a:t>A CATHOLIC INTRODUCTION TO ARTIFICIAL INTELLIGENCE</a:t>
            </a:r>
          </a:p>
        </p:txBody>
      </p:sp>
      <p:sp>
        <p:nvSpPr>
          <p:cNvPr id="5" name="Slide Number Placeholder 4">
            <a:extLst>
              <a:ext uri="{FF2B5EF4-FFF2-40B4-BE49-F238E27FC236}">
                <a16:creationId xmlns:a16="http://schemas.microsoft.com/office/drawing/2014/main" id="{72B2B70E-4669-6C57-DE57-19C5AD9A184B}"/>
              </a:ext>
            </a:extLst>
          </p:cNvPr>
          <p:cNvSpPr>
            <a:spLocks noGrp="1"/>
          </p:cNvSpPr>
          <p:nvPr>
            <p:ph type="sldNum" sz="quarter" idx="12"/>
          </p:nvPr>
        </p:nvSpPr>
        <p:spPr/>
        <p:txBody>
          <a:bodyPr/>
          <a:lstStyle/>
          <a:p>
            <a:fld id="{E31375A4-56A4-47D6-9801-1991572033F7}" type="slidenum">
              <a:rPr lang="en-US" smtClean="0"/>
              <a:t>6</a:t>
            </a:fld>
            <a:endParaRPr lang="en-US"/>
          </a:p>
        </p:txBody>
      </p:sp>
    </p:spTree>
    <p:extLst>
      <p:ext uri="{BB962C8B-B14F-4D97-AF65-F5344CB8AC3E}">
        <p14:creationId xmlns:p14="http://schemas.microsoft.com/office/powerpoint/2010/main" val="93871901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6428455E-C84C-74FE-C1B2-58C5169A3148}"/>
              </a:ext>
            </a:extLst>
          </p:cNvPr>
          <p:cNvSpPr>
            <a:spLocks noGrp="1"/>
          </p:cNvSpPr>
          <p:nvPr>
            <p:ph type="title"/>
          </p:nvPr>
        </p:nvSpPr>
        <p:spPr/>
        <p:txBody>
          <a:bodyPr/>
          <a:lstStyle/>
          <a:p>
            <a:r>
              <a:rPr lang="en-US" dirty="0"/>
              <a:t>Course expectations</a:t>
            </a:r>
          </a:p>
        </p:txBody>
      </p:sp>
      <p:sp>
        <p:nvSpPr>
          <p:cNvPr id="10" name="Content Placeholder 9">
            <a:extLst>
              <a:ext uri="{FF2B5EF4-FFF2-40B4-BE49-F238E27FC236}">
                <a16:creationId xmlns:a16="http://schemas.microsoft.com/office/drawing/2014/main" id="{21176C30-2437-B760-3310-084B2C824296}"/>
              </a:ext>
            </a:extLst>
          </p:cNvPr>
          <p:cNvSpPr>
            <a:spLocks noGrp="1"/>
          </p:cNvSpPr>
          <p:nvPr>
            <p:ph idx="1"/>
          </p:nvPr>
        </p:nvSpPr>
        <p:spPr/>
        <p:txBody>
          <a:bodyPr/>
          <a:lstStyle/>
          <a:p>
            <a:r>
              <a:rPr lang="en-US" dirty="0"/>
              <a:t>This is a live course - you are expected to attend the live session each week. </a:t>
            </a:r>
          </a:p>
          <a:p>
            <a:r>
              <a:rPr lang="en-US" dirty="0"/>
              <a:t>You are expected to complete all assignments on time. There is a 20% late penalty for late assignments. Any assignment not submitted within two weeks of its due date will not be accepted.</a:t>
            </a:r>
          </a:p>
          <a:p>
            <a:r>
              <a:rPr lang="en-US" dirty="0"/>
              <a:t>This course will use the following Academic Integrity Policy (AIP) as it relates to the use </a:t>
            </a:r>
            <a:r>
              <a:rPr lang="en-US" dirty="0" err="1"/>
              <a:t>ofartificial</a:t>
            </a:r>
            <a:r>
              <a:rPr lang="en-US" dirty="0"/>
              <a:t> intelligence. All other common-sense </a:t>
            </a:r>
            <a:r>
              <a:rPr lang="en-US" dirty="0" err="1"/>
              <a:t>integity</a:t>
            </a:r>
            <a:r>
              <a:rPr lang="en-US" dirty="0"/>
              <a:t> policies also remain in effect.</a:t>
            </a:r>
          </a:p>
        </p:txBody>
      </p:sp>
      <p:sp>
        <p:nvSpPr>
          <p:cNvPr id="7" name="Footer Placeholder 6">
            <a:extLst>
              <a:ext uri="{FF2B5EF4-FFF2-40B4-BE49-F238E27FC236}">
                <a16:creationId xmlns:a16="http://schemas.microsoft.com/office/drawing/2014/main" id="{44C90EC5-41F4-098D-F880-D67143117D45}"/>
              </a:ext>
            </a:extLst>
          </p:cNvPr>
          <p:cNvSpPr>
            <a:spLocks noGrp="1"/>
          </p:cNvSpPr>
          <p:nvPr>
            <p:ph type="ftr" sz="quarter" idx="11"/>
          </p:nvPr>
        </p:nvSpPr>
        <p:spPr/>
        <p:txBody>
          <a:bodyPr/>
          <a:lstStyle/>
          <a:p>
            <a:r>
              <a:rPr lang="en-US"/>
              <a:t>A CATHOLIC INTRODUCTION TO ARTIFICIAL INTELLIGENCE – PART 1</a:t>
            </a:r>
            <a:endParaRPr lang="en-US" dirty="0"/>
          </a:p>
        </p:txBody>
      </p:sp>
      <p:sp>
        <p:nvSpPr>
          <p:cNvPr id="8" name="Slide Number Placeholder 7">
            <a:extLst>
              <a:ext uri="{FF2B5EF4-FFF2-40B4-BE49-F238E27FC236}">
                <a16:creationId xmlns:a16="http://schemas.microsoft.com/office/drawing/2014/main" id="{B2E97583-6E3A-6362-E98A-8BA62F4BC193}"/>
              </a:ext>
            </a:extLst>
          </p:cNvPr>
          <p:cNvSpPr>
            <a:spLocks noGrp="1"/>
          </p:cNvSpPr>
          <p:nvPr>
            <p:ph type="sldNum" sz="quarter" idx="12"/>
          </p:nvPr>
        </p:nvSpPr>
        <p:spPr/>
        <p:txBody>
          <a:bodyPr/>
          <a:lstStyle/>
          <a:p>
            <a:fld id="{E31375A4-56A4-47D6-9801-1991572033F7}" type="slidenum">
              <a:rPr lang="en-US" smtClean="0"/>
              <a:t>7</a:t>
            </a:fld>
            <a:endParaRPr lang="en-US"/>
          </a:p>
        </p:txBody>
      </p:sp>
    </p:spTree>
    <p:extLst>
      <p:ext uri="{BB962C8B-B14F-4D97-AF65-F5344CB8AC3E}">
        <p14:creationId xmlns:p14="http://schemas.microsoft.com/office/powerpoint/2010/main" val="221863307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BE89C226-9444-6B67-82E5-FE9F6297F7ED}"/>
              </a:ext>
            </a:extLst>
          </p:cNvPr>
          <p:cNvSpPr>
            <a:spLocks noGrp="1"/>
          </p:cNvSpPr>
          <p:nvPr>
            <p:ph type="title"/>
          </p:nvPr>
        </p:nvSpPr>
        <p:spPr/>
        <p:txBody>
          <a:bodyPr/>
          <a:lstStyle/>
          <a:p>
            <a:r>
              <a:rPr lang="en-US" dirty="0"/>
              <a:t>Academic Integrity Policy (AIP) </a:t>
            </a:r>
          </a:p>
        </p:txBody>
      </p:sp>
      <p:sp>
        <p:nvSpPr>
          <p:cNvPr id="9" name="Content Placeholder 8">
            <a:extLst>
              <a:ext uri="{FF2B5EF4-FFF2-40B4-BE49-F238E27FC236}">
                <a16:creationId xmlns:a16="http://schemas.microsoft.com/office/drawing/2014/main" id="{7F585470-05B3-33F6-AA05-078587DDABFA}"/>
              </a:ext>
            </a:extLst>
          </p:cNvPr>
          <p:cNvSpPr>
            <a:spLocks noGrp="1"/>
          </p:cNvSpPr>
          <p:nvPr>
            <p:ph idx="1"/>
          </p:nvPr>
        </p:nvSpPr>
        <p:spPr/>
        <p:txBody>
          <a:bodyPr/>
          <a:lstStyle/>
          <a:p>
            <a:endParaRPr lang="en-US"/>
          </a:p>
        </p:txBody>
      </p:sp>
      <p:sp>
        <p:nvSpPr>
          <p:cNvPr id="10" name="Text Placeholder 9">
            <a:extLst>
              <a:ext uri="{FF2B5EF4-FFF2-40B4-BE49-F238E27FC236}">
                <a16:creationId xmlns:a16="http://schemas.microsoft.com/office/drawing/2014/main" id="{C4C68641-5D93-24EF-DD88-D2A1BACBE1CD}"/>
              </a:ext>
            </a:extLst>
          </p:cNvPr>
          <p:cNvSpPr>
            <a:spLocks noGrp="1"/>
          </p:cNvSpPr>
          <p:nvPr>
            <p:ph type="body" sz="half" idx="2"/>
          </p:nvPr>
        </p:nvSpPr>
        <p:spPr/>
        <p:txBody>
          <a:bodyPr/>
          <a:lstStyle/>
          <a:p>
            <a:endParaRPr lang="en-US" dirty="0"/>
          </a:p>
        </p:txBody>
      </p:sp>
      <p:sp>
        <p:nvSpPr>
          <p:cNvPr id="4" name="Footer Placeholder 3">
            <a:extLst>
              <a:ext uri="{FF2B5EF4-FFF2-40B4-BE49-F238E27FC236}">
                <a16:creationId xmlns:a16="http://schemas.microsoft.com/office/drawing/2014/main" id="{8807AA16-AF4B-48B5-6E4C-0FC07E9977BB}"/>
              </a:ext>
            </a:extLst>
          </p:cNvPr>
          <p:cNvSpPr>
            <a:spLocks noGrp="1"/>
          </p:cNvSpPr>
          <p:nvPr>
            <p:ph type="ftr" sz="quarter" idx="11"/>
          </p:nvPr>
        </p:nvSpPr>
        <p:spPr/>
        <p:txBody>
          <a:bodyPr/>
          <a:lstStyle/>
          <a:p>
            <a:r>
              <a:rPr lang="en-US"/>
              <a:t>A CATHOLIC INTRODUCTION TO ARTIFICIAL INTELLIGENCE – PART 1</a:t>
            </a:r>
            <a:endParaRPr lang="en-US" dirty="0"/>
          </a:p>
        </p:txBody>
      </p:sp>
      <p:sp>
        <p:nvSpPr>
          <p:cNvPr id="5" name="Slide Number Placeholder 4">
            <a:extLst>
              <a:ext uri="{FF2B5EF4-FFF2-40B4-BE49-F238E27FC236}">
                <a16:creationId xmlns:a16="http://schemas.microsoft.com/office/drawing/2014/main" id="{0EFA7D2F-8963-18E9-9E73-EABBAF24090C}"/>
              </a:ext>
            </a:extLst>
          </p:cNvPr>
          <p:cNvSpPr>
            <a:spLocks noGrp="1"/>
          </p:cNvSpPr>
          <p:nvPr>
            <p:ph type="sldNum" sz="quarter" idx="12"/>
          </p:nvPr>
        </p:nvSpPr>
        <p:spPr/>
        <p:txBody>
          <a:bodyPr/>
          <a:lstStyle/>
          <a:p>
            <a:fld id="{E31375A4-56A4-47D6-9801-1991572033F7}" type="slidenum">
              <a:rPr lang="en-US" smtClean="0"/>
              <a:t>8</a:t>
            </a:fld>
            <a:endParaRPr lang="en-US"/>
          </a:p>
        </p:txBody>
      </p:sp>
      <p:pic>
        <p:nvPicPr>
          <p:cNvPr id="7" name="Picture 6">
            <a:extLst>
              <a:ext uri="{FF2B5EF4-FFF2-40B4-BE49-F238E27FC236}">
                <a16:creationId xmlns:a16="http://schemas.microsoft.com/office/drawing/2014/main" id="{57BB09A7-4ADE-E42B-0C24-55AEE2D735A7}"/>
              </a:ext>
            </a:extLst>
          </p:cNvPr>
          <p:cNvPicPr>
            <a:picLocks noChangeAspect="1"/>
          </p:cNvPicPr>
          <p:nvPr/>
        </p:nvPicPr>
        <p:blipFill>
          <a:blip r:embed="rId2"/>
          <a:stretch>
            <a:fillRect/>
          </a:stretch>
        </p:blipFill>
        <p:spPr>
          <a:xfrm>
            <a:off x="310907" y="76200"/>
            <a:ext cx="7309093" cy="6723428"/>
          </a:xfrm>
          <a:prstGeom prst="rect">
            <a:avLst/>
          </a:prstGeom>
        </p:spPr>
      </p:pic>
    </p:spTree>
    <p:extLst>
      <p:ext uri="{BB962C8B-B14F-4D97-AF65-F5344CB8AC3E}">
        <p14:creationId xmlns:p14="http://schemas.microsoft.com/office/powerpoint/2010/main" val="213563997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7AC04519-C3F2-54BD-EE72-483810566A2E}"/>
              </a:ext>
            </a:extLst>
          </p:cNvPr>
          <p:cNvSpPr>
            <a:spLocks noGrp="1"/>
          </p:cNvSpPr>
          <p:nvPr>
            <p:ph type="title"/>
          </p:nvPr>
        </p:nvSpPr>
        <p:spPr/>
        <p:txBody>
          <a:bodyPr/>
          <a:lstStyle/>
          <a:p>
            <a:r>
              <a:rPr lang="en-US" dirty="0"/>
              <a:t>Assessment overview</a:t>
            </a:r>
          </a:p>
        </p:txBody>
      </p:sp>
      <p:sp>
        <p:nvSpPr>
          <p:cNvPr id="8" name="Content Placeholder 7">
            <a:extLst>
              <a:ext uri="{FF2B5EF4-FFF2-40B4-BE49-F238E27FC236}">
                <a16:creationId xmlns:a16="http://schemas.microsoft.com/office/drawing/2014/main" id="{CC8A1A6A-8E32-1B5C-6DAC-7CC18853D411}"/>
              </a:ext>
            </a:extLst>
          </p:cNvPr>
          <p:cNvSpPr>
            <a:spLocks noGrp="1"/>
          </p:cNvSpPr>
          <p:nvPr>
            <p:ph idx="1"/>
          </p:nvPr>
        </p:nvSpPr>
        <p:spPr/>
        <p:txBody>
          <a:bodyPr/>
          <a:lstStyle/>
          <a:p>
            <a:r>
              <a:rPr lang="en-US" dirty="0"/>
              <a:t>Short essays - 30%</a:t>
            </a:r>
          </a:p>
          <a:p>
            <a:r>
              <a:rPr lang="en-US" dirty="0"/>
              <a:t>Quizzes- 10%</a:t>
            </a:r>
          </a:p>
          <a:p>
            <a:r>
              <a:rPr lang="en-US" dirty="0"/>
              <a:t>Labs - 20%</a:t>
            </a:r>
          </a:p>
          <a:p>
            <a:r>
              <a:rPr lang="en-US" dirty="0"/>
              <a:t>Final Project - 40% </a:t>
            </a:r>
          </a:p>
          <a:p>
            <a:endParaRPr lang="en-US" dirty="0"/>
          </a:p>
        </p:txBody>
      </p:sp>
      <p:sp>
        <p:nvSpPr>
          <p:cNvPr id="5" name="Footer Placeholder 4">
            <a:extLst>
              <a:ext uri="{FF2B5EF4-FFF2-40B4-BE49-F238E27FC236}">
                <a16:creationId xmlns:a16="http://schemas.microsoft.com/office/drawing/2014/main" id="{463195F3-9DD0-C46C-A3E4-A8A175CC0777}"/>
              </a:ext>
            </a:extLst>
          </p:cNvPr>
          <p:cNvSpPr>
            <a:spLocks noGrp="1"/>
          </p:cNvSpPr>
          <p:nvPr>
            <p:ph type="ftr" sz="quarter" idx="11"/>
          </p:nvPr>
        </p:nvSpPr>
        <p:spPr/>
        <p:txBody>
          <a:bodyPr/>
          <a:lstStyle/>
          <a:p>
            <a:r>
              <a:rPr lang="en-US"/>
              <a:t>A CATHOLIC INTRODUCTION TO ARTIFICIAL INTELLIGENCE – PART 1</a:t>
            </a:r>
            <a:endParaRPr lang="en-US" dirty="0"/>
          </a:p>
        </p:txBody>
      </p:sp>
      <p:sp>
        <p:nvSpPr>
          <p:cNvPr id="6" name="Slide Number Placeholder 5">
            <a:extLst>
              <a:ext uri="{FF2B5EF4-FFF2-40B4-BE49-F238E27FC236}">
                <a16:creationId xmlns:a16="http://schemas.microsoft.com/office/drawing/2014/main" id="{299ADAEA-DCD2-6BDF-7A46-D496C2AFD321}"/>
              </a:ext>
            </a:extLst>
          </p:cNvPr>
          <p:cNvSpPr>
            <a:spLocks noGrp="1"/>
          </p:cNvSpPr>
          <p:nvPr>
            <p:ph type="sldNum" sz="quarter" idx="12"/>
          </p:nvPr>
        </p:nvSpPr>
        <p:spPr/>
        <p:txBody>
          <a:bodyPr/>
          <a:lstStyle/>
          <a:p>
            <a:fld id="{E31375A4-56A4-47D6-9801-1991572033F7}" type="slidenum">
              <a:rPr lang="en-US" smtClean="0"/>
              <a:t>9</a:t>
            </a:fld>
            <a:endParaRPr lang="en-US"/>
          </a:p>
        </p:txBody>
      </p:sp>
    </p:spTree>
    <p:extLst>
      <p:ext uri="{BB962C8B-B14F-4D97-AF65-F5344CB8AC3E}">
        <p14:creationId xmlns:p14="http://schemas.microsoft.com/office/powerpoint/2010/main" val="203491750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FA4B0D-1FC8-5EA4-7586-EAD9EDC0E82A}"/>
              </a:ext>
            </a:extLst>
          </p:cNvPr>
          <p:cNvSpPr>
            <a:spLocks noGrp="1"/>
          </p:cNvSpPr>
          <p:nvPr>
            <p:ph type="title"/>
          </p:nvPr>
        </p:nvSpPr>
        <p:spPr/>
        <p:txBody>
          <a:bodyPr/>
          <a:lstStyle/>
          <a:p>
            <a:r>
              <a:rPr lang="en-US" dirty="0"/>
              <a:t>What is AI?</a:t>
            </a:r>
          </a:p>
        </p:txBody>
      </p:sp>
      <p:sp>
        <p:nvSpPr>
          <p:cNvPr id="3" name="Content Placeholder 2">
            <a:extLst>
              <a:ext uri="{FF2B5EF4-FFF2-40B4-BE49-F238E27FC236}">
                <a16:creationId xmlns:a16="http://schemas.microsoft.com/office/drawing/2014/main" id="{DFFA86FC-B692-C2D5-E545-29F90EC76347}"/>
              </a:ext>
            </a:extLst>
          </p:cNvPr>
          <p:cNvSpPr>
            <a:spLocks noGrp="1"/>
          </p:cNvSpPr>
          <p:nvPr>
            <p:ph idx="1"/>
          </p:nvPr>
        </p:nvSpPr>
        <p:spPr/>
        <p:txBody>
          <a:bodyPr>
            <a:normAutofit/>
          </a:bodyPr>
          <a:lstStyle/>
          <a:p>
            <a:r>
              <a:rPr lang="en-US" sz="2400" dirty="0"/>
              <a:t>Artificial intelligence is an ever-expanding branch of </a:t>
            </a:r>
            <a:r>
              <a:rPr lang="en-US" sz="2400" dirty="0">
                <a:solidFill>
                  <a:srgbClr val="FF0000"/>
                </a:solidFill>
                <a:highlight>
                  <a:srgbClr val="FFFF00"/>
                </a:highlight>
              </a:rPr>
              <a:t>computer</a:t>
            </a:r>
            <a:r>
              <a:rPr lang="en-US" sz="2400" dirty="0">
                <a:highlight>
                  <a:srgbClr val="FFFF00"/>
                </a:highlight>
              </a:rPr>
              <a:t> </a:t>
            </a:r>
            <a:r>
              <a:rPr lang="en-US" sz="2400" dirty="0">
                <a:solidFill>
                  <a:srgbClr val="FF0000"/>
                </a:solidFill>
                <a:highlight>
                  <a:srgbClr val="FFFF00"/>
                </a:highlight>
              </a:rPr>
              <a:t>science</a:t>
            </a:r>
            <a:r>
              <a:rPr lang="en-US" sz="2400" dirty="0">
                <a:highlight>
                  <a:srgbClr val="FFFF00"/>
                </a:highlight>
              </a:rPr>
              <a:t> </a:t>
            </a:r>
            <a:r>
              <a:rPr lang="en-US" sz="2400" dirty="0"/>
              <a:t>that focuses on making machines capable of performing tasks that usually require human intelligence, such as “reasoning”, solving problems, making decisions, “perceiving the world”, making meaning, and learning from experience. </a:t>
            </a:r>
          </a:p>
        </p:txBody>
      </p:sp>
      <p:sp>
        <p:nvSpPr>
          <p:cNvPr id="4" name="Footer Placeholder 3">
            <a:extLst>
              <a:ext uri="{FF2B5EF4-FFF2-40B4-BE49-F238E27FC236}">
                <a16:creationId xmlns:a16="http://schemas.microsoft.com/office/drawing/2014/main" id="{B1364039-B07F-E444-6567-88CA6AB84C7D}"/>
              </a:ext>
            </a:extLst>
          </p:cNvPr>
          <p:cNvSpPr>
            <a:spLocks noGrp="1"/>
          </p:cNvSpPr>
          <p:nvPr>
            <p:ph type="ftr" sz="quarter" idx="11"/>
          </p:nvPr>
        </p:nvSpPr>
        <p:spPr/>
        <p:txBody>
          <a:bodyPr/>
          <a:lstStyle/>
          <a:p>
            <a:r>
              <a:rPr lang="en-US"/>
              <a:t>A CATHOLIC INTRODUCTION TO ARTIFICIAL INTELLIGENCE</a:t>
            </a:r>
          </a:p>
        </p:txBody>
      </p:sp>
      <p:sp>
        <p:nvSpPr>
          <p:cNvPr id="5" name="Slide Number Placeholder 4">
            <a:extLst>
              <a:ext uri="{FF2B5EF4-FFF2-40B4-BE49-F238E27FC236}">
                <a16:creationId xmlns:a16="http://schemas.microsoft.com/office/drawing/2014/main" id="{63964940-105F-CA3E-F177-9064DAF4C565}"/>
              </a:ext>
            </a:extLst>
          </p:cNvPr>
          <p:cNvSpPr>
            <a:spLocks noGrp="1"/>
          </p:cNvSpPr>
          <p:nvPr>
            <p:ph type="sldNum" sz="quarter" idx="12"/>
          </p:nvPr>
        </p:nvSpPr>
        <p:spPr/>
        <p:txBody>
          <a:bodyPr/>
          <a:lstStyle/>
          <a:p>
            <a:fld id="{E31375A4-56A4-47D6-9801-1991572033F7}" type="slidenum">
              <a:rPr lang="en-US" smtClean="0"/>
              <a:t>10</a:t>
            </a:fld>
            <a:endParaRPr lang="en-US"/>
          </a:p>
        </p:txBody>
      </p:sp>
      <p:pic>
        <p:nvPicPr>
          <p:cNvPr id="10" name="Picture 9">
            <a:extLst>
              <a:ext uri="{FF2B5EF4-FFF2-40B4-BE49-F238E27FC236}">
                <a16:creationId xmlns:a16="http://schemas.microsoft.com/office/drawing/2014/main" id="{5FB3CEC4-A18B-CDD6-F195-7188943E5562}"/>
              </a:ext>
            </a:extLst>
          </p:cNvPr>
          <p:cNvPicPr>
            <a:picLocks noChangeAspect="1"/>
          </p:cNvPicPr>
          <p:nvPr/>
        </p:nvPicPr>
        <p:blipFill>
          <a:blip r:embed="rId2"/>
          <a:stretch>
            <a:fillRect/>
          </a:stretch>
        </p:blipFill>
        <p:spPr>
          <a:xfrm>
            <a:off x="3810000" y="3901908"/>
            <a:ext cx="4855050" cy="2488124"/>
          </a:xfrm>
          <a:prstGeom prst="rect">
            <a:avLst/>
          </a:prstGeom>
        </p:spPr>
      </p:pic>
      <p:pic>
        <p:nvPicPr>
          <p:cNvPr id="6" name="Picture 5">
            <a:extLst>
              <a:ext uri="{FF2B5EF4-FFF2-40B4-BE49-F238E27FC236}">
                <a16:creationId xmlns:a16="http://schemas.microsoft.com/office/drawing/2014/main" id="{9B4BCDA9-2F8F-B541-95CB-8FAC8088AC4C}"/>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600917" y="13716"/>
            <a:ext cx="1579626" cy="1053084"/>
          </a:xfrm>
          <a:prstGeom prst="rect">
            <a:avLst/>
          </a:prstGeom>
        </p:spPr>
      </p:pic>
      <p:pic>
        <p:nvPicPr>
          <p:cNvPr id="7" name="Picture 6">
            <a:extLst>
              <a:ext uri="{FF2B5EF4-FFF2-40B4-BE49-F238E27FC236}">
                <a16:creationId xmlns:a16="http://schemas.microsoft.com/office/drawing/2014/main" id="{0AFECA08-8F80-D936-69F9-4A7F476FCD53}"/>
              </a:ext>
            </a:extLst>
          </p:cNvPr>
          <p:cNvPicPr>
            <a:picLocks noChangeAspect="1"/>
          </p:cNvPicPr>
          <p:nvPr/>
        </p:nvPicPr>
        <p:blipFill>
          <a:blip r:embed="rId4"/>
          <a:stretch>
            <a:fillRect/>
          </a:stretch>
        </p:blipFill>
        <p:spPr>
          <a:xfrm>
            <a:off x="11158347" y="5259124"/>
            <a:ext cx="1022196" cy="1485900"/>
          </a:xfrm>
          <a:prstGeom prst="rect">
            <a:avLst/>
          </a:prstGeom>
        </p:spPr>
      </p:pic>
    </p:spTree>
    <p:extLst>
      <p:ext uri="{BB962C8B-B14F-4D97-AF65-F5344CB8AC3E}">
        <p14:creationId xmlns:p14="http://schemas.microsoft.com/office/powerpoint/2010/main" val="298619450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857F87-5739-DCF4-B798-ADCCAB8E74EB}"/>
              </a:ext>
            </a:extLst>
          </p:cNvPr>
          <p:cNvSpPr>
            <a:spLocks noGrp="1"/>
          </p:cNvSpPr>
          <p:nvPr>
            <p:ph type="title"/>
          </p:nvPr>
        </p:nvSpPr>
        <p:spPr/>
        <p:txBody>
          <a:bodyPr anchor="b">
            <a:normAutofit/>
          </a:bodyPr>
          <a:lstStyle/>
          <a:p>
            <a:r>
              <a:rPr lang="en-US" dirty="0"/>
              <a:t>Self-Awareness</a:t>
            </a:r>
          </a:p>
        </p:txBody>
      </p:sp>
      <p:sp>
        <p:nvSpPr>
          <p:cNvPr id="3" name="Footer Placeholder 2">
            <a:extLst>
              <a:ext uri="{FF2B5EF4-FFF2-40B4-BE49-F238E27FC236}">
                <a16:creationId xmlns:a16="http://schemas.microsoft.com/office/drawing/2014/main" id="{8F861321-77DE-D8B3-2CE1-5E80D84F73B1}"/>
              </a:ext>
            </a:extLst>
          </p:cNvPr>
          <p:cNvSpPr>
            <a:spLocks noGrp="1"/>
          </p:cNvSpPr>
          <p:nvPr>
            <p:ph type="ftr" sz="quarter" idx="11"/>
          </p:nvPr>
        </p:nvSpPr>
        <p:spPr/>
        <p:txBody>
          <a:bodyPr/>
          <a:lstStyle/>
          <a:p>
            <a:r>
              <a:rPr lang="en-US"/>
              <a:t>A CATHOLIC INTRODUCTION TO ARTIFICIAL INTELLIGENCE</a:t>
            </a:r>
          </a:p>
        </p:txBody>
      </p:sp>
      <p:sp>
        <p:nvSpPr>
          <p:cNvPr id="4" name="Slide Number Placeholder 3">
            <a:extLst>
              <a:ext uri="{FF2B5EF4-FFF2-40B4-BE49-F238E27FC236}">
                <a16:creationId xmlns:a16="http://schemas.microsoft.com/office/drawing/2014/main" id="{DC66AC33-0E37-A1FB-D179-CA7D1DA0B66D}"/>
              </a:ext>
            </a:extLst>
          </p:cNvPr>
          <p:cNvSpPr>
            <a:spLocks noGrp="1"/>
          </p:cNvSpPr>
          <p:nvPr>
            <p:ph type="sldNum" sz="quarter" idx="12"/>
          </p:nvPr>
        </p:nvSpPr>
        <p:spPr/>
        <p:txBody>
          <a:bodyPr/>
          <a:lstStyle/>
          <a:p>
            <a:fld id="{E31375A4-56A4-47D6-9801-1991572033F7}" type="slidenum">
              <a:rPr lang="en-US" smtClean="0"/>
              <a:t>11</a:t>
            </a:fld>
            <a:endParaRPr lang="en-US"/>
          </a:p>
        </p:txBody>
      </p:sp>
      <p:pic>
        <p:nvPicPr>
          <p:cNvPr id="1026" name="Picture 2" descr="Entering the Cell of Self-Knowledge; Why Self-Awareness Isn't Enough">
            <a:extLst>
              <a:ext uri="{FF2B5EF4-FFF2-40B4-BE49-F238E27FC236}">
                <a16:creationId xmlns:a16="http://schemas.microsoft.com/office/drawing/2014/main" id="{730C5466-7D5A-DBFE-E6F7-5645982EA8B2}"/>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tretch>
            <a:fillRect/>
          </a:stretch>
        </p:blipFill>
        <p:spPr bwMode="auto">
          <a:xfrm>
            <a:off x="5486400" y="112976"/>
            <a:ext cx="4159688" cy="4488107"/>
          </a:xfrm>
          <a:prstGeom prst="rect">
            <a:avLst/>
          </a:prstGeom>
          <a:solidFill>
            <a:srgbClr val="FFFFFF"/>
          </a:solidFill>
        </p:spPr>
      </p:pic>
      <p:sp>
        <p:nvSpPr>
          <p:cNvPr id="5" name="TextBox 4">
            <a:extLst>
              <a:ext uri="{FF2B5EF4-FFF2-40B4-BE49-F238E27FC236}">
                <a16:creationId xmlns:a16="http://schemas.microsoft.com/office/drawing/2014/main" id="{B59C997E-5E5D-24E2-57F1-4AC262CD800E}"/>
              </a:ext>
            </a:extLst>
          </p:cNvPr>
          <p:cNvSpPr txBox="1"/>
          <p:nvPr/>
        </p:nvSpPr>
        <p:spPr>
          <a:xfrm>
            <a:off x="2836164" y="4793215"/>
            <a:ext cx="6096000" cy="1754326"/>
          </a:xfrm>
          <a:prstGeom prst="rect">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wrap="square">
            <a:spAutoFit/>
          </a:bodyPr>
          <a:lstStyle/>
          <a:p>
            <a:r>
              <a:rPr lang="en-US" b="0" i="0" dirty="0">
                <a:solidFill>
                  <a:srgbClr val="ECECEC"/>
                </a:solidFill>
                <a:effectLst/>
                <a:latin typeface="-apple-system"/>
              </a:rPr>
              <a:t>Self-awareness refers to the ability to have a clear and accurate understanding of your thoughts, feelings, values, strengths, weaknesses, motivations, and behaviors. It involves being able to observe yourself from outside, recognizing your patterns, habits, and emotions, and making conscious choices about how you want to present yourself to the world.</a:t>
            </a:r>
            <a:endParaRPr lang="en-US" dirty="0"/>
          </a:p>
        </p:txBody>
      </p:sp>
      <p:pic>
        <p:nvPicPr>
          <p:cNvPr id="6" name="Picture 5">
            <a:extLst>
              <a:ext uri="{FF2B5EF4-FFF2-40B4-BE49-F238E27FC236}">
                <a16:creationId xmlns:a16="http://schemas.microsoft.com/office/drawing/2014/main" id="{175896F4-92A7-6CEB-3EBB-FDA38A146EB8}"/>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600917" y="13716"/>
            <a:ext cx="1579626" cy="1053084"/>
          </a:xfrm>
          <a:prstGeom prst="rect">
            <a:avLst/>
          </a:prstGeom>
        </p:spPr>
      </p:pic>
      <p:pic>
        <p:nvPicPr>
          <p:cNvPr id="7" name="Picture 6">
            <a:extLst>
              <a:ext uri="{FF2B5EF4-FFF2-40B4-BE49-F238E27FC236}">
                <a16:creationId xmlns:a16="http://schemas.microsoft.com/office/drawing/2014/main" id="{436D1204-B388-5F52-4AE8-11933B8E2C54}"/>
              </a:ext>
            </a:extLst>
          </p:cNvPr>
          <p:cNvPicPr>
            <a:picLocks noChangeAspect="1"/>
          </p:cNvPicPr>
          <p:nvPr/>
        </p:nvPicPr>
        <p:blipFill>
          <a:blip r:embed="rId4"/>
          <a:stretch>
            <a:fillRect/>
          </a:stretch>
        </p:blipFill>
        <p:spPr>
          <a:xfrm>
            <a:off x="11158347" y="5259124"/>
            <a:ext cx="1022196" cy="1485900"/>
          </a:xfrm>
          <a:prstGeom prst="rect">
            <a:avLst/>
          </a:prstGeom>
        </p:spPr>
      </p:pic>
    </p:spTree>
    <p:extLst>
      <p:ext uri="{BB962C8B-B14F-4D97-AF65-F5344CB8AC3E}">
        <p14:creationId xmlns:p14="http://schemas.microsoft.com/office/powerpoint/2010/main" val="6850962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C8B298-0276-9DCF-33BD-D7BF2081F71C}"/>
              </a:ext>
            </a:extLst>
          </p:cNvPr>
          <p:cNvSpPr>
            <a:spLocks noGrp="1"/>
          </p:cNvSpPr>
          <p:nvPr>
            <p:ph type="title"/>
          </p:nvPr>
        </p:nvSpPr>
        <p:spPr/>
        <p:txBody>
          <a:bodyPr/>
          <a:lstStyle/>
          <a:p>
            <a:r>
              <a:rPr lang="en-US" dirty="0"/>
              <a:t>The Big Picture of AI</a:t>
            </a:r>
          </a:p>
        </p:txBody>
      </p:sp>
      <p:sp>
        <p:nvSpPr>
          <p:cNvPr id="3" name="Content Placeholder 2">
            <a:extLst>
              <a:ext uri="{FF2B5EF4-FFF2-40B4-BE49-F238E27FC236}">
                <a16:creationId xmlns:a16="http://schemas.microsoft.com/office/drawing/2014/main" id="{6EC37E03-169E-57D6-382F-05C2AF4EE55E}"/>
              </a:ext>
            </a:extLst>
          </p:cNvPr>
          <p:cNvSpPr>
            <a:spLocks noGrp="1"/>
          </p:cNvSpPr>
          <p:nvPr>
            <p:ph idx="1"/>
          </p:nvPr>
        </p:nvSpPr>
        <p:spPr/>
        <p:txBody>
          <a:bodyPr>
            <a:normAutofit fontScale="92500" lnSpcReduction="10000"/>
          </a:bodyPr>
          <a:lstStyle/>
          <a:p>
            <a:pPr indent="-274320">
              <a:buFont typeface="Wingdings" panose="05000000000000000000" pitchFamily="2" charset="2"/>
              <a:buChar char="§"/>
            </a:pPr>
            <a:r>
              <a:rPr lang="en-US" dirty="0"/>
              <a:t>Predictive analytics (forecasting sales, risk, fraud)</a:t>
            </a:r>
          </a:p>
          <a:p>
            <a:pPr indent="-274320">
              <a:buFont typeface="Wingdings" panose="05000000000000000000" pitchFamily="2" charset="2"/>
              <a:buChar char="§"/>
            </a:pPr>
            <a:r>
              <a:rPr lang="en-US" dirty="0"/>
              <a:t>Recommendation systems (Netflix, Amazon)</a:t>
            </a:r>
          </a:p>
          <a:p>
            <a:pPr indent="-274320">
              <a:buFont typeface="Wingdings" panose="05000000000000000000" pitchFamily="2" charset="2"/>
              <a:buChar char="§"/>
            </a:pPr>
            <a:r>
              <a:rPr lang="en-US" dirty="0"/>
              <a:t>Computer vision (medical imaging, self-driving cars)</a:t>
            </a:r>
          </a:p>
          <a:p>
            <a:pPr indent="-274320">
              <a:buFont typeface="Wingdings" panose="05000000000000000000" pitchFamily="2" charset="2"/>
              <a:buChar char="§"/>
            </a:pPr>
            <a:r>
              <a:rPr lang="en-US" dirty="0"/>
              <a:t>Robotics</a:t>
            </a:r>
          </a:p>
          <a:p>
            <a:pPr indent="-274320">
              <a:buFont typeface="Wingdings" panose="05000000000000000000" pitchFamily="2" charset="2"/>
              <a:buChar char="§"/>
            </a:pPr>
            <a:r>
              <a:rPr lang="en-US" dirty="0"/>
              <a:t>Speech recognition</a:t>
            </a:r>
          </a:p>
          <a:p>
            <a:pPr indent="-274320">
              <a:buFont typeface="Wingdings" panose="05000000000000000000" pitchFamily="2" charset="2"/>
              <a:buChar char="§"/>
            </a:pPr>
            <a:r>
              <a:rPr lang="en-US" dirty="0"/>
              <a:t>Search &amp; ranking</a:t>
            </a:r>
          </a:p>
          <a:p>
            <a:pPr indent="-274320">
              <a:buFont typeface="Wingdings" panose="05000000000000000000" pitchFamily="2" charset="2"/>
              <a:buChar char="§"/>
            </a:pPr>
            <a:r>
              <a:rPr lang="en-US" dirty="0"/>
              <a:t>Optimization systems</a:t>
            </a:r>
          </a:p>
          <a:p>
            <a:pPr indent="-274320">
              <a:buFont typeface="Wingdings" panose="05000000000000000000" pitchFamily="2" charset="2"/>
              <a:buChar char="§"/>
            </a:pPr>
            <a:r>
              <a:rPr lang="en-US" dirty="0"/>
              <a:t>Generative</a:t>
            </a:r>
          </a:p>
        </p:txBody>
      </p:sp>
      <p:sp>
        <p:nvSpPr>
          <p:cNvPr id="4" name="Footer Placeholder 3">
            <a:extLst>
              <a:ext uri="{FF2B5EF4-FFF2-40B4-BE49-F238E27FC236}">
                <a16:creationId xmlns:a16="http://schemas.microsoft.com/office/drawing/2014/main" id="{7A727460-1360-6E72-1FE7-06837631B61C}"/>
              </a:ext>
            </a:extLst>
          </p:cNvPr>
          <p:cNvSpPr>
            <a:spLocks noGrp="1"/>
          </p:cNvSpPr>
          <p:nvPr>
            <p:ph type="ftr" sz="quarter" idx="11"/>
          </p:nvPr>
        </p:nvSpPr>
        <p:spPr/>
        <p:txBody>
          <a:bodyPr/>
          <a:lstStyle/>
          <a:p>
            <a:r>
              <a:rPr lang="en-US"/>
              <a:t>A CATHOLIC INTRODUCTION TO ARTIFICIAL INTELLIGENCE</a:t>
            </a:r>
          </a:p>
        </p:txBody>
      </p:sp>
      <p:sp>
        <p:nvSpPr>
          <p:cNvPr id="5" name="Slide Number Placeholder 4">
            <a:extLst>
              <a:ext uri="{FF2B5EF4-FFF2-40B4-BE49-F238E27FC236}">
                <a16:creationId xmlns:a16="http://schemas.microsoft.com/office/drawing/2014/main" id="{03189840-93AC-DC45-8C4B-26D2B07237E9}"/>
              </a:ext>
            </a:extLst>
          </p:cNvPr>
          <p:cNvSpPr>
            <a:spLocks noGrp="1"/>
          </p:cNvSpPr>
          <p:nvPr>
            <p:ph type="sldNum" sz="quarter" idx="12"/>
          </p:nvPr>
        </p:nvSpPr>
        <p:spPr/>
        <p:txBody>
          <a:bodyPr/>
          <a:lstStyle/>
          <a:p>
            <a:fld id="{E31375A4-56A4-47D6-9801-1991572033F7}" type="slidenum">
              <a:rPr lang="en-US" smtClean="0"/>
              <a:t>12</a:t>
            </a:fld>
            <a:endParaRPr lang="en-US"/>
          </a:p>
        </p:txBody>
      </p:sp>
      <p:pic>
        <p:nvPicPr>
          <p:cNvPr id="6" name="Picture 5">
            <a:extLst>
              <a:ext uri="{FF2B5EF4-FFF2-40B4-BE49-F238E27FC236}">
                <a16:creationId xmlns:a16="http://schemas.microsoft.com/office/drawing/2014/main" id="{B6EB8C84-5C86-BA8A-8B18-A717C0C259EE}"/>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600917" y="13716"/>
            <a:ext cx="1579626" cy="1053084"/>
          </a:xfrm>
          <a:prstGeom prst="rect">
            <a:avLst/>
          </a:prstGeom>
        </p:spPr>
      </p:pic>
      <p:pic>
        <p:nvPicPr>
          <p:cNvPr id="7" name="Picture 6">
            <a:extLst>
              <a:ext uri="{FF2B5EF4-FFF2-40B4-BE49-F238E27FC236}">
                <a16:creationId xmlns:a16="http://schemas.microsoft.com/office/drawing/2014/main" id="{38B6C61F-165E-6128-7B0D-EC40EB8AC6E3}"/>
              </a:ext>
            </a:extLst>
          </p:cNvPr>
          <p:cNvPicPr>
            <a:picLocks noChangeAspect="1"/>
          </p:cNvPicPr>
          <p:nvPr/>
        </p:nvPicPr>
        <p:blipFill>
          <a:blip r:embed="rId3"/>
          <a:stretch>
            <a:fillRect/>
          </a:stretch>
        </p:blipFill>
        <p:spPr>
          <a:xfrm>
            <a:off x="11158347" y="5259124"/>
            <a:ext cx="1022196" cy="1485900"/>
          </a:xfrm>
          <a:prstGeom prst="rect">
            <a:avLst/>
          </a:prstGeom>
        </p:spPr>
      </p:pic>
    </p:spTree>
    <p:extLst>
      <p:ext uri="{BB962C8B-B14F-4D97-AF65-F5344CB8AC3E}">
        <p14:creationId xmlns:p14="http://schemas.microsoft.com/office/powerpoint/2010/main" val="123007894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FAF509-A01E-D947-2D44-45ED3793F44E}"/>
              </a:ext>
            </a:extLst>
          </p:cNvPr>
          <p:cNvSpPr>
            <a:spLocks noGrp="1"/>
          </p:cNvSpPr>
          <p:nvPr>
            <p:ph type="title"/>
          </p:nvPr>
        </p:nvSpPr>
        <p:spPr/>
        <p:txBody>
          <a:bodyPr/>
          <a:lstStyle/>
          <a:p>
            <a:r>
              <a:rPr lang="en-US" dirty="0"/>
              <a:t>most AI in the world is</a:t>
            </a:r>
          </a:p>
        </p:txBody>
      </p:sp>
      <p:sp>
        <p:nvSpPr>
          <p:cNvPr id="3" name="Content Placeholder 2">
            <a:extLst>
              <a:ext uri="{FF2B5EF4-FFF2-40B4-BE49-F238E27FC236}">
                <a16:creationId xmlns:a16="http://schemas.microsoft.com/office/drawing/2014/main" id="{B14AFFC5-2E44-B359-A91E-9E9494EAC6C7}"/>
              </a:ext>
            </a:extLst>
          </p:cNvPr>
          <p:cNvSpPr>
            <a:spLocks noGrp="1"/>
          </p:cNvSpPr>
          <p:nvPr>
            <p:ph idx="1"/>
          </p:nvPr>
        </p:nvSpPr>
        <p:spPr/>
        <p:txBody>
          <a:bodyPr>
            <a:normAutofit fontScale="92500" lnSpcReduction="10000"/>
          </a:bodyPr>
          <a:lstStyle/>
          <a:p>
            <a:pPr marL="342900" indent="-342900"/>
            <a:r>
              <a:rPr lang="en-US" dirty="0"/>
              <a:t>Fraud detection systems</a:t>
            </a:r>
          </a:p>
          <a:p>
            <a:pPr marL="342900" indent="-342900"/>
            <a:r>
              <a:rPr lang="en-US" dirty="0"/>
              <a:t>Logistics optimization</a:t>
            </a:r>
          </a:p>
          <a:p>
            <a:pPr marL="342900" indent="-342900"/>
            <a:r>
              <a:rPr lang="en-US" dirty="0"/>
              <a:t>Supply chain modeling</a:t>
            </a:r>
          </a:p>
          <a:p>
            <a:pPr marL="342900" indent="-342900"/>
            <a:r>
              <a:rPr lang="en-US" dirty="0"/>
              <a:t>Ad targeting</a:t>
            </a:r>
          </a:p>
          <a:p>
            <a:pPr marL="342900" indent="-342900"/>
            <a:r>
              <a:rPr lang="en-US" dirty="0"/>
              <a:t>Industrial automation</a:t>
            </a:r>
          </a:p>
          <a:p>
            <a:pPr marL="342900" indent="-342900"/>
            <a:r>
              <a:rPr lang="en-US" dirty="0"/>
              <a:t>Risk scoring</a:t>
            </a:r>
          </a:p>
          <a:p>
            <a:pPr marL="342900" indent="-342900"/>
            <a:r>
              <a:rPr lang="en-US" dirty="0"/>
              <a:t>Credit models</a:t>
            </a:r>
          </a:p>
          <a:p>
            <a:pPr marL="342900" indent="-342900"/>
            <a:r>
              <a:rPr lang="en-US" dirty="0"/>
              <a:t>Manufacturing control systems</a:t>
            </a:r>
          </a:p>
        </p:txBody>
      </p:sp>
      <p:sp>
        <p:nvSpPr>
          <p:cNvPr id="4" name="Footer Placeholder 3">
            <a:extLst>
              <a:ext uri="{FF2B5EF4-FFF2-40B4-BE49-F238E27FC236}">
                <a16:creationId xmlns:a16="http://schemas.microsoft.com/office/drawing/2014/main" id="{6C15E1B6-39A1-2776-E6CF-EDBD6ED76BDF}"/>
              </a:ext>
            </a:extLst>
          </p:cNvPr>
          <p:cNvSpPr>
            <a:spLocks noGrp="1"/>
          </p:cNvSpPr>
          <p:nvPr>
            <p:ph type="ftr" sz="quarter" idx="11"/>
          </p:nvPr>
        </p:nvSpPr>
        <p:spPr/>
        <p:txBody>
          <a:bodyPr/>
          <a:lstStyle/>
          <a:p>
            <a:r>
              <a:rPr lang="en-US"/>
              <a:t>A CATHOLIC INTRODUCTION TO ARTIFICIAL INTELLIGENCE</a:t>
            </a:r>
          </a:p>
        </p:txBody>
      </p:sp>
      <p:sp>
        <p:nvSpPr>
          <p:cNvPr id="5" name="Slide Number Placeholder 4">
            <a:extLst>
              <a:ext uri="{FF2B5EF4-FFF2-40B4-BE49-F238E27FC236}">
                <a16:creationId xmlns:a16="http://schemas.microsoft.com/office/drawing/2014/main" id="{6947F165-B9EC-C895-F333-A41BEAC95697}"/>
              </a:ext>
            </a:extLst>
          </p:cNvPr>
          <p:cNvSpPr>
            <a:spLocks noGrp="1"/>
          </p:cNvSpPr>
          <p:nvPr>
            <p:ph type="sldNum" sz="quarter" idx="12"/>
          </p:nvPr>
        </p:nvSpPr>
        <p:spPr/>
        <p:txBody>
          <a:bodyPr/>
          <a:lstStyle/>
          <a:p>
            <a:fld id="{E31375A4-56A4-47D6-9801-1991572033F7}" type="slidenum">
              <a:rPr lang="en-US" smtClean="0"/>
              <a:t>13</a:t>
            </a:fld>
            <a:endParaRPr lang="en-US"/>
          </a:p>
        </p:txBody>
      </p:sp>
      <p:pic>
        <p:nvPicPr>
          <p:cNvPr id="6" name="Picture 5">
            <a:extLst>
              <a:ext uri="{FF2B5EF4-FFF2-40B4-BE49-F238E27FC236}">
                <a16:creationId xmlns:a16="http://schemas.microsoft.com/office/drawing/2014/main" id="{DD27CDF7-E2C1-CBE0-72AF-34C0834F93D0}"/>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600917" y="13716"/>
            <a:ext cx="1579626" cy="1053084"/>
          </a:xfrm>
          <a:prstGeom prst="rect">
            <a:avLst/>
          </a:prstGeom>
        </p:spPr>
      </p:pic>
      <p:pic>
        <p:nvPicPr>
          <p:cNvPr id="7" name="Picture 6">
            <a:extLst>
              <a:ext uri="{FF2B5EF4-FFF2-40B4-BE49-F238E27FC236}">
                <a16:creationId xmlns:a16="http://schemas.microsoft.com/office/drawing/2014/main" id="{7DCCCED7-CF2A-F469-DAC3-5942280F09CB}"/>
              </a:ext>
            </a:extLst>
          </p:cNvPr>
          <p:cNvPicPr>
            <a:picLocks noChangeAspect="1"/>
          </p:cNvPicPr>
          <p:nvPr/>
        </p:nvPicPr>
        <p:blipFill>
          <a:blip r:embed="rId3"/>
          <a:stretch>
            <a:fillRect/>
          </a:stretch>
        </p:blipFill>
        <p:spPr>
          <a:xfrm>
            <a:off x="11158347" y="5259124"/>
            <a:ext cx="1022196" cy="1485900"/>
          </a:xfrm>
          <a:prstGeom prst="rect">
            <a:avLst/>
          </a:prstGeom>
        </p:spPr>
      </p:pic>
    </p:spTree>
    <p:extLst>
      <p:ext uri="{BB962C8B-B14F-4D97-AF65-F5344CB8AC3E}">
        <p14:creationId xmlns:p14="http://schemas.microsoft.com/office/powerpoint/2010/main" val="211527957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FEFCCE-E9AD-3391-3126-35F064858A53}"/>
              </a:ext>
            </a:extLst>
          </p:cNvPr>
          <p:cNvSpPr>
            <a:spLocks noGrp="1"/>
          </p:cNvSpPr>
          <p:nvPr>
            <p:ph type="title"/>
          </p:nvPr>
        </p:nvSpPr>
        <p:spPr/>
        <p:txBody>
          <a:bodyPr/>
          <a:lstStyle/>
          <a:p>
            <a:r>
              <a:rPr lang="en-US" dirty="0"/>
              <a:t>Types of ai by market share</a:t>
            </a:r>
          </a:p>
        </p:txBody>
      </p:sp>
      <p:graphicFrame>
        <p:nvGraphicFramePr>
          <p:cNvPr id="6" name="Content Placeholder 5">
            <a:extLst>
              <a:ext uri="{FF2B5EF4-FFF2-40B4-BE49-F238E27FC236}">
                <a16:creationId xmlns:a16="http://schemas.microsoft.com/office/drawing/2014/main" id="{C61A4188-3B77-6139-384B-C5A28DA74008}"/>
              </a:ext>
            </a:extLst>
          </p:cNvPr>
          <p:cNvGraphicFramePr>
            <a:graphicFrameLocks noGrp="1"/>
          </p:cNvGraphicFramePr>
          <p:nvPr>
            <p:ph idx="1"/>
            <p:extLst>
              <p:ext uri="{D42A27DB-BD31-4B8C-83A1-F6EECF244321}">
                <p14:modId xmlns:p14="http://schemas.microsoft.com/office/powerpoint/2010/main" val="2432440857"/>
              </p:ext>
            </p:extLst>
          </p:nvPr>
        </p:nvGraphicFramePr>
        <p:xfrm>
          <a:off x="1023938" y="2286000"/>
          <a:ext cx="9720262" cy="4022725"/>
        </p:xfrm>
        <a:graphic>
          <a:graphicData uri="http://schemas.openxmlformats.org/drawingml/2006/chart">
            <c:chart xmlns:c="http://schemas.openxmlformats.org/drawingml/2006/chart" xmlns:r="http://schemas.openxmlformats.org/officeDocument/2006/relationships" r:id="rId2"/>
          </a:graphicData>
        </a:graphic>
      </p:graphicFrame>
      <p:sp>
        <p:nvSpPr>
          <p:cNvPr id="3" name="Footer Placeholder 2">
            <a:extLst>
              <a:ext uri="{FF2B5EF4-FFF2-40B4-BE49-F238E27FC236}">
                <a16:creationId xmlns:a16="http://schemas.microsoft.com/office/drawing/2014/main" id="{F3AFF27F-EEDC-001B-A110-AD5D21D7592A}"/>
              </a:ext>
            </a:extLst>
          </p:cNvPr>
          <p:cNvSpPr>
            <a:spLocks noGrp="1"/>
          </p:cNvSpPr>
          <p:nvPr>
            <p:ph type="ftr" sz="quarter" idx="11"/>
          </p:nvPr>
        </p:nvSpPr>
        <p:spPr/>
        <p:txBody>
          <a:bodyPr/>
          <a:lstStyle/>
          <a:p>
            <a:r>
              <a:rPr lang="en-US"/>
              <a:t>A CATHOLIC INTRODUCTION TO ARTIFICIAL INTELLIGENCE</a:t>
            </a:r>
          </a:p>
        </p:txBody>
      </p:sp>
      <p:sp>
        <p:nvSpPr>
          <p:cNvPr id="4" name="Slide Number Placeholder 3">
            <a:extLst>
              <a:ext uri="{FF2B5EF4-FFF2-40B4-BE49-F238E27FC236}">
                <a16:creationId xmlns:a16="http://schemas.microsoft.com/office/drawing/2014/main" id="{44B9B77C-2331-3A97-B7BB-BFD74420D41A}"/>
              </a:ext>
            </a:extLst>
          </p:cNvPr>
          <p:cNvSpPr>
            <a:spLocks noGrp="1"/>
          </p:cNvSpPr>
          <p:nvPr>
            <p:ph type="sldNum" sz="quarter" idx="12"/>
          </p:nvPr>
        </p:nvSpPr>
        <p:spPr/>
        <p:txBody>
          <a:bodyPr/>
          <a:lstStyle/>
          <a:p>
            <a:fld id="{E31375A4-56A4-47D6-9801-1991572033F7}" type="slidenum">
              <a:rPr lang="en-US" smtClean="0"/>
              <a:t>14</a:t>
            </a:fld>
            <a:endParaRPr lang="en-US"/>
          </a:p>
        </p:txBody>
      </p:sp>
      <p:pic>
        <p:nvPicPr>
          <p:cNvPr id="5" name="Picture 4">
            <a:extLst>
              <a:ext uri="{FF2B5EF4-FFF2-40B4-BE49-F238E27FC236}">
                <a16:creationId xmlns:a16="http://schemas.microsoft.com/office/drawing/2014/main" id="{182F0577-FC66-00D9-986E-CCF7F18D2165}"/>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600917" y="13716"/>
            <a:ext cx="1579626" cy="1053084"/>
          </a:xfrm>
          <a:prstGeom prst="rect">
            <a:avLst/>
          </a:prstGeom>
        </p:spPr>
      </p:pic>
      <p:pic>
        <p:nvPicPr>
          <p:cNvPr id="7" name="Picture 6">
            <a:extLst>
              <a:ext uri="{FF2B5EF4-FFF2-40B4-BE49-F238E27FC236}">
                <a16:creationId xmlns:a16="http://schemas.microsoft.com/office/drawing/2014/main" id="{5F6BC98A-2CA7-512A-F575-668D5CB4554C}"/>
              </a:ext>
            </a:extLst>
          </p:cNvPr>
          <p:cNvPicPr>
            <a:picLocks noChangeAspect="1"/>
          </p:cNvPicPr>
          <p:nvPr/>
        </p:nvPicPr>
        <p:blipFill>
          <a:blip r:embed="rId4"/>
          <a:stretch>
            <a:fillRect/>
          </a:stretch>
        </p:blipFill>
        <p:spPr>
          <a:xfrm>
            <a:off x="11158347" y="5259124"/>
            <a:ext cx="1022196" cy="1485900"/>
          </a:xfrm>
          <a:prstGeom prst="rect">
            <a:avLst/>
          </a:prstGeom>
        </p:spPr>
      </p:pic>
    </p:spTree>
    <p:extLst>
      <p:ext uri="{BB962C8B-B14F-4D97-AF65-F5344CB8AC3E}">
        <p14:creationId xmlns:p14="http://schemas.microsoft.com/office/powerpoint/2010/main" val="424479918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3D7AEB-2F66-FF5D-8A5F-5C03F5DF8E81}"/>
              </a:ext>
            </a:extLst>
          </p:cNvPr>
          <p:cNvSpPr>
            <a:spLocks noGrp="1"/>
          </p:cNvSpPr>
          <p:nvPr>
            <p:ph type="title"/>
          </p:nvPr>
        </p:nvSpPr>
        <p:spPr/>
        <p:txBody>
          <a:bodyPr/>
          <a:lstStyle/>
          <a:p>
            <a:r>
              <a:rPr lang="en-US" dirty="0"/>
              <a:t>Ai capabilities</a:t>
            </a:r>
          </a:p>
        </p:txBody>
      </p:sp>
      <p:sp>
        <p:nvSpPr>
          <p:cNvPr id="3" name="Content Placeholder 2">
            <a:extLst>
              <a:ext uri="{FF2B5EF4-FFF2-40B4-BE49-F238E27FC236}">
                <a16:creationId xmlns:a16="http://schemas.microsoft.com/office/drawing/2014/main" id="{7734C42C-A6C6-2B84-83FE-7AEE36A3039D}"/>
              </a:ext>
            </a:extLst>
          </p:cNvPr>
          <p:cNvSpPr>
            <a:spLocks noGrp="1"/>
          </p:cNvSpPr>
          <p:nvPr>
            <p:ph idx="1"/>
          </p:nvPr>
        </p:nvSpPr>
        <p:spPr/>
        <p:txBody>
          <a:bodyPr/>
          <a:lstStyle/>
          <a:p>
            <a:r>
              <a:rPr lang="en-US" dirty="0"/>
              <a:t>Narrow AI that is good at one specific task (or a narrow set of tasks)</a:t>
            </a:r>
          </a:p>
          <a:p>
            <a:r>
              <a:rPr lang="en-US" dirty="0"/>
              <a:t>General AI can learn and perform any intellectual tasks a human can perform</a:t>
            </a:r>
          </a:p>
          <a:p>
            <a:r>
              <a:rPr lang="en-US" dirty="0"/>
              <a:t>Superintelligence AI </a:t>
            </a:r>
          </a:p>
          <a:p>
            <a:endParaRPr lang="en-US" dirty="0"/>
          </a:p>
          <a:p>
            <a:endParaRPr lang="en-US" dirty="0"/>
          </a:p>
        </p:txBody>
      </p:sp>
      <p:sp>
        <p:nvSpPr>
          <p:cNvPr id="4" name="Footer Placeholder 3">
            <a:extLst>
              <a:ext uri="{FF2B5EF4-FFF2-40B4-BE49-F238E27FC236}">
                <a16:creationId xmlns:a16="http://schemas.microsoft.com/office/drawing/2014/main" id="{64A05F57-6559-8C49-2DCD-A3894DD36DD8}"/>
              </a:ext>
            </a:extLst>
          </p:cNvPr>
          <p:cNvSpPr>
            <a:spLocks noGrp="1"/>
          </p:cNvSpPr>
          <p:nvPr>
            <p:ph type="ftr" sz="quarter" idx="11"/>
          </p:nvPr>
        </p:nvSpPr>
        <p:spPr/>
        <p:txBody>
          <a:bodyPr/>
          <a:lstStyle/>
          <a:p>
            <a:r>
              <a:rPr lang="en-US"/>
              <a:t>A CATHOLIC INTRODUCTION TO ARTIFICIAL INTELLIGENCE – PART 1</a:t>
            </a:r>
            <a:endParaRPr lang="en-US" dirty="0"/>
          </a:p>
        </p:txBody>
      </p:sp>
      <p:sp>
        <p:nvSpPr>
          <p:cNvPr id="5" name="Slide Number Placeholder 4">
            <a:extLst>
              <a:ext uri="{FF2B5EF4-FFF2-40B4-BE49-F238E27FC236}">
                <a16:creationId xmlns:a16="http://schemas.microsoft.com/office/drawing/2014/main" id="{BBAD4017-CBB2-52CC-7777-828903713009}"/>
              </a:ext>
            </a:extLst>
          </p:cNvPr>
          <p:cNvSpPr>
            <a:spLocks noGrp="1"/>
          </p:cNvSpPr>
          <p:nvPr>
            <p:ph type="sldNum" sz="quarter" idx="12"/>
          </p:nvPr>
        </p:nvSpPr>
        <p:spPr/>
        <p:txBody>
          <a:bodyPr/>
          <a:lstStyle/>
          <a:p>
            <a:fld id="{E31375A4-56A4-47D6-9801-1991572033F7}" type="slidenum">
              <a:rPr lang="en-US" smtClean="0"/>
              <a:t>15</a:t>
            </a:fld>
            <a:endParaRPr lang="en-US"/>
          </a:p>
        </p:txBody>
      </p:sp>
    </p:spTree>
    <p:extLst>
      <p:ext uri="{BB962C8B-B14F-4D97-AF65-F5344CB8AC3E}">
        <p14:creationId xmlns:p14="http://schemas.microsoft.com/office/powerpoint/2010/main" val="9630447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07F7F7-5A43-3460-F6DD-43C007B2960E}"/>
              </a:ext>
            </a:extLst>
          </p:cNvPr>
          <p:cNvSpPr>
            <a:spLocks noGrp="1"/>
          </p:cNvSpPr>
          <p:nvPr>
            <p:ph type="title"/>
          </p:nvPr>
        </p:nvSpPr>
        <p:spPr/>
        <p:txBody>
          <a:bodyPr/>
          <a:lstStyle/>
          <a:p>
            <a:r>
              <a:rPr lang="en-US" dirty="0"/>
              <a:t>Differences between cs, ml, and dl</a:t>
            </a:r>
          </a:p>
        </p:txBody>
      </p:sp>
      <p:sp>
        <p:nvSpPr>
          <p:cNvPr id="4" name="Footer Placeholder 3">
            <a:extLst>
              <a:ext uri="{FF2B5EF4-FFF2-40B4-BE49-F238E27FC236}">
                <a16:creationId xmlns:a16="http://schemas.microsoft.com/office/drawing/2014/main" id="{D9FE1023-A484-1D5D-758D-F033EB06A790}"/>
              </a:ext>
            </a:extLst>
          </p:cNvPr>
          <p:cNvSpPr>
            <a:spLocks noGrp="1"/>
          </p:cNvSpPr>
          <p:nvPr>
            <p:ph type="ftr" sz="quarter" idx="11"/>
          </p:nvPr>
        </p:nvSpPr>
        <p:spPr/>
        <p:txBody>
          <a:bodyPr/>
          <a:lstStyle/>
          <a:p>
            <a:r>
              <a:rPr lang="en-US"/>
              <a:t>A CATHOLIC INTRODUCTION TO ARTIFICIAL INTELLIGENCE – PART 1</a:t>
            </a:r>
            <a:endParaRPr lang="en-US" dirty="0"/>
          </a:p>
        </p:txBody>
      </p:sp>
      <p:sp>
        <p:nvSpPr>
          <p:cNvPr id="5" name="Slide Number Placeholder 4">
            <a:extLst>
              <a:ext uri="{FF2B5EF4-FFF2-40B4-BE49-F238E27FC236}">
                <a16:creationId xmlns:a16="http://schemas.microsoft.com/office/drawing/2014/main" id="{485ECFEB-E17C-D3DE-E61C-0B5EC7AC9E43}"/>
              </a:ext>
            </a:extLst>
          </p:cNvPr>
          <p:cNvSpPr>
            <a:spLocks noGrp="1"/>
          </p:cNvSpPr>
          <p:nvPr>
            <p:ph type="sldNum" sz="quarter" idx="12"/>
          </p:nvPr>
        </p:nvSpPr>
        <p:spPr/>
        <p:txBody>
          <a:bodyPr/>
          <a:lstStyle/>
          <a:p>
            <a:fld id="{E31375A4-56A4-47D6-9801-1991572033F7}" type="slidenum">
              <a:rPr lang="en-US" smtClean="0"/>
              <a:t>16</a:t>
            </a:fld>
            <a:endParaRPr lang="en-US"/>
          </a:p>
        </p:txBody>
      </p:sp>
      <p:pic>
        <p:nvPicPr>
          <p:cNvPr id="7" name="Picture 6">
            <a:extLst>
              <a:ext uri="{FF2B5EF4-FFF2-40B4-BE49-F238E27FC236}">
                <a16:creationId xmlns:a16="http://schemas.microsoft.com/office/drawing/2014/main" id="{B8FFA404-2D00-C38C-401F-B616C2393F29}"/>
              </a:ext>
            </a:extLst>
          </p:cNvPr>
          <p:cNvPicPr>
            <a:picLocks noChangeAspect="1"/>
          </p:cNvPicPr>
          <p:nvPr/>
        </p:nvPicPr>
        <p:blipFill>
          <a:blip r:embed="rId2"/>
          <a:stretch>
            <a:fillRect/>
          </a:stretch>
        </p:blipFill>
        <p:spPr>
          <a:xfrm>
            <a:off x="1131717" y="1600200"/>
            <a:ext cx="7329488" cy="4909052"/>
          </a:xfrm>
          <a:prstGeom prst="rect">
            <a:avLst/>
          </a:prstGeom>
        </p:spPr>
      </p:pic>
      <p:sp>
        <p:nvSpPr>
          <p:cNvPr id="8" name="TextBox 7">
            <a:extLst>
              <a:ext uri="{FF2B5EF4-FFF2-40B4-BE49-F238E27FC236}">
                <a16:creationId xmlns:a16="http://schemas.microsoft.com/office/drawing/2014/main" id="{2C1C8368-5943-4A8B-8515-DEB7D6CD6F6E}"/>
              </a:ext>
            </a:extLst>
          </p:cNvPr>
          <p:cNvSpPr txBox="1"/>
          <p:nvPr/>
        </p:nvSpPr>
        <p:spPr>
          <a:xfrm>
            <a:off x="8854440" y="2076200"/>
            <a:ext cx="2514600" cy="3046988"/>
          </a:xfrm>
          <a:prstGeom prst="rect">
            <a:avLst/>
          </a:prstGeom>
          <a:noFill/>
        </p:spPr>
        <p:txBody>
          <a:bodyPr wrap="square" rtlCol="0">
            <a:spAutoFit/>
          </a:bodyPr>
          <a:lstStyle/>
          <a:p>
            <a:r>
              <a:rPr lang="en-US" sz="2400" dirty="0"/>
              <a:t>CS – Computer Science</a:t>
            </a:r>
          </a:p>
          <a:p>
            <a:endParaRPr lang="en-US" sz="2400" dirty="0"/>
          </a:p>
          <a:p>
            <a:r>
              <a:rPr lang="en-US" sz="2400" dirty="0"/>
              <a:t>ML – Machine Learning</a:t>
            </a:r>
          </a:p>
          <a:p>
            <a:endParaRPr lang="en-US" sz="2400" dirty="0"/>
          </a:p>
          <a:p>
            <a:r>
              <a:rPr lang="en-US" sz="2400" dirty="0"/>
              <a:t>DL – Deep Learning</a:t>
            </a:r>
          </a:p>
        </p:txBody>
      </p:sp>
    </p:spTree>
    <p:extLst>
      <p:ext uri="{BB962C8B-B14F-4D97-AF65-F5344CB8AC3E}">
        <p14:creationId xmlns:p14="http://schemas.microsoft.com/office/powerpoint/2010/main" val="195557352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32DDF1-61EB-5C97-1F02-EB06C6ED8834}"/>
              </a:ext>
            </a:extLst>
          </p:cNvPr>
          <p:cNvSpPr>
            <a:spLocks noGrp="1"/>
          </p:cNvSpPr>
          <p:nvPr>
            <p:ph type="title"/>
          </p:nvPr>
        </p:nvSpPr>
        <p:spPr/>
        <p:txBody>
          <a:bodyPr/>
          <a:lstStyle/>
          <a:p>
            <a:r>
              <a:rPr lang="en-US" dirty="0"/>
              <a:t>Where Is AI Being Used Today?</a:t>
            </a:r>
          </a:p>
        </p:txBody>
      </p:sp>
      <p:sp>
        <p:nvSpPr>
          <p:cNvPr id="3" name="Content Placeholder 2">
            <a:extLst>
              <a:ext uri="{FF2B5EF4-FFF2-40B4-BE49-F238E27FC236}">
                <a16:creationId xmlns:a16="http://schemas.microsoft.com/office/drawing/2014/main" id="{5E5CF5BA-69DB-CDE2-DA4F-6A732F500D03}"/>
              </a:ext>
            </a:extLst>
          </p:cNvPr>
          <p:cNvSpPr>
            <a:spLocks noGrp="1"/>
          </p:cNvSpPr>
          <p:nvPr>
            <p:ph idx="1"/>
          </p:nvPr>
        </p:nvSpPr>
        <p:spPr/>
        <p:txBody>
          <a:bodyPr/>
          <a:lstStyle/>
          <a:p>
            <a:pPr marL="0" indent="0">
              <a:buNone/>
            </a:pPr>
            <a:endParaRPr lang="en-US" dirty="0"/>
          </a:p>
        </p:txBody>
      </p:sp>
      <p:sp>
        <p:nvSpPr>
          <p:cNvPr id="4" name="Footer Placeholder 3">
            <a:extLst>
              <a:ext uri="{FF2B5EF4-FFF2-40B4-BE49-F238E27FC236}">
                <a16:creationId xmlns:a16="http://schemas.microsoft.com/office/drawing/2014/main" id="{84B86D54-A575-8227-398D-1DB0DDF620A8}"/>
              </a:ext>
            </a:extLst>
          </p:cNvPr>
          <p:cNvSpPr>
            <a:spLocks noGrp="1"/>
          </p:cNvSpPr>
          <p:nvPr>
            <p:ph type="ftr" sz="quarter" idx="11"/>
          </p:nvPr>
        </p:nvSpPr>
        <p:spPr/>
        <p:txBody>
          <a:bodyPr/>
          <a:lstStyle/>
          <a:p>
            <a:r>
              <a:rPr lang="en-US"/>
              <a:t>A CATHOLIC INTRODUCTION TO ARTIFICIAL INTELLIGENCE</a:t>
            </a:r>
          </a:p>
        </p:txBody>
      </p:sp>
      <p:sp>
        <p:nvSpPr>
          <p:cNvPr id="5" name="Slide Number Placeholder 4">
            <a:extLst>
              <a:ext uri="{FF2B5EF4-FFF2-40B4-BE49-F238E27FC236}">
                <a16:creationId xmlns:a16="http://schemas.microsoft.com/office/drawing/2014/main" id="{BB4C2F49-1C02-E742-B8E0-4E2696668AC0}"/>
              </a:ext>
            </a:extLst>
          </p:cNvPr>
          <p:cNvSpPr>
            <a:spLocks noGrp="1"/>
          </p:cNvSpPr>
          <p:nvPr>
            <p:ph type="sldNum" sz="quarter" idx="12"/>
          </p:nvPr>
        </p:nvSpPr>
        <p:spPr/>
        <p:txBody>
          <a:bodyPr/>
          <a:lstStyle/>
          <a:p>
            <a:fld id="{E31375A4-56A4-47D6-9801-1991572033F7}" type="slidenum">
              <a:rPr lang="en-US" smtClean="0"/>
              <a:t>17</a:t>
            </a:fld>
            <a:endParaRPr lang="en-US"/>
          </a:p>
        </p:txBody>
      </p:sp>
      <p:sp>
        <p:nvSpPr>
          <p:cNvPr id="7" name="TextBox 6">
            <a:extLst>
              <a:ext uri="{FF2B5EF4-FFF2-40B4-BE49-F238E27FC236}">
                <a16:creationId xmlns:a16="http://schemas.microsoft.com/office/drawing/2014/main" id="{1537D3D1-674B-EDA5-457F-5C1C0BB7C804}"/>
              </a:ext>
            </a:extLst>
          </p:cNvPr>
          <p:cNvSpPr txBox="1"/>
          <p:nvPr/>
        </p:nvSpPr>
        <p:spPr>
          <a:xfrm>
            <a:off x="5791200" y="6324600"/>
            <a:ext cx="6096000" cy="369332"/>
          </a:xfrm>
          <a:prstGeom prst="rect">
            <a:avLst/>
          </a:prstGeom>
          <a:noFill/>
        </p:spPr>
        <p:txBody>
          <a:bodyPr wrap="square">
            <a:spAutoFit/>
          </a:bodyPr>
          <a:lstStyle/>
          <a:p>
            <a:r>
              <a:rPr lang="en-US" dirty="0"/>
              <a:t>https://www.youtube.com/watch?v=4ocBFGtukow</a:t>
            </a:r>
          </a:p>
        </p:txBody>
      </p:sp>
      <p:pic>
        <p:nvPicPr>
          <p:cNvPr id="6" name="Picture 5">
            <a:extLst>
              <a:ext uri="{FF2B5EF4-FFF2-40B4-BE49-F238E27FC236}">
                <a16:creationId xmlns:a16="http://schemas.microsoft.com/office/drawing/2014/main" id="{6CC358F6-45DF-C12B-061F-1FB5F92CCD9D}"/>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600917" y="13716"/>
            <a:ext cx="1579626" cy="1053084"/>
          </a:xfrm>
          <a:prstGeom prst="rect">
            <a:avLst/>
          </a:prstGeom>
        </p:spPr>
      </p:pic>
      <p:pic>
        <p:nvPicPr>
          <p:cNvPr id="9" name="Picture 8">
            <a:extLst>
              <a:ext uri="{FF2B5EF4-FFF2-40B4-BE49-F238E27FC236}">
                <a16:creationId xmlns:a16="http://schemas.microsoft.com/office/drawing/2014/main" id="{3FD347EC-74DA-BF0B-BDF4-BBBA5CF22044}"/>
              </a:ext>
            </a:extLst>
          </p:cNvPr>
          <p:cNvPicPr>
            <a:picLocks noChangeAspect="1"/>
          </p:cNvPicPr>
          <p:nvPr/>
        </p:nvPicPr>
        <p:blipFill>
          <a:blip r:embed="rId4"/>
          <a:stretch>
            <a:fillRect/>
          </a:stretch>
        </p:blipFill>
        <p:spPr>
          <a:xfrm>
            <a:off x="11158347" y="5259124"/>
            <a:ext cx="1022196" cy="1485900"/>
          </a:xfrm>
          <a:prstGeom prst="rect">
            <a:avLst/>
          </a:prstGeom>
        </p:spPr>
      </p:pic>
    </p:spTree>
    <p:extLst>
      <p:ext uri="{BB962C8B-B14F-4D97-AF65-F5344CB8AC3E}">
        <p14:creationId xmlns:p14="http://schemas.microsoft.com/office/powerpoint/2010/main" val="102562134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DF6686-A0C8-A04A-5149-0DE42D8A3447}"/>
              </a:ext>
            </a:extLst>
          </p:cNvPr>
          <p:cNvSpPr>
            <a:spLocks noGrp="1"/>
          </p:cNvSpPr>
          <p:nvPr>
            <p:ph type="title"/>
          </p:nvPr>
        </p:nvSpPr>
        <p:spPr/>
        <p:txBody>
          <a:bodyPr/>
          <a:lstStyle/>
          <a:p>
            <a:r>
              <a:rPr lang="en-US" dirty="0"/>
              <a:t>It’s Been Around a Long Time</a:t>
            </a:r>
          </a:p>
        </p:txBody>
      </p:sp>
      <p:sp>
        <p:nvSpPr>
          <p:cNvPr id="3" name="Content Placeholder 2">
            <a:extLst>
              <a:ext uri="{FF2B5EF4-FFF2-40B4-BE49-F238E27FC236}">
                <a16:creationId xmlns:a16="http://schemas.microsoft.com/office/drawing/2014/main" id="{1B9AB412-C898-CBE5-9BE1-E2D1A98A55C2}"/>
              </a:ext>
            </a:extLst>
          </p:cNvPr>
          <p:cNvSpPr>
            <a:spLocks noGrp="1"/>
          </p:cNvSpPr>
          <p:nvPr>
            <p:ph idx="1"/>
          </p:nvPr>
        </p:nvSpPr>
        <p:spPr>
          <a:xfrm>
            <a:off x="1524000" y="2057400"/>
            <a:ext cx="9144000" cy="4267200"/>
          </a:xfrm>
        </p:spPr>
        <p:txBody>
          <a:bodyPr>
            <a:normAutofit/>
          </a:bodyPr>
          <a:lstStyle/>
          <a:p>
            <a:r>
              <a:rPr lang="en-US" sz="2400" dirty="0"/>
              <a:t>Netflix recommendations</a:t>
            </a:r>
          </a:p>
          <a:p>
            <a:r>
              <a:rPr lang="en-US" sz="2400" dirty="0"/>
              <a:t>Keyboard assistance</a:t>
            </a:r>
          </a:p>
          <a:p>
            <a:r>
              <a:rPr lang="en-US" sz="2400" dirty="0"/>
              <a:t>Grammar checkers</a:t>
            </a:r>
          </a:p>
          <a:p>
            <a:r>
              <a:rPr lang="en-US" sz="2400" dirty="0"/>
              <a:t>Face recognition</a:t>
            </a:r>
          </a:p>
          <a:p>
            <a:r>
              <a:rPr lang="en-US" sz="2400" dirty="0"/>
              <a:t>Voice recognition</a:t>
            </a:r>
          </a:p>
          <a:p>
            <a:r>
              <a:rPr lang="en-US" sz="2400" dirty="0"/>
              <a:t>Chat bots</a:t>
            </a:r>
          </a:p>
          <a:p>
            <a:r>
              <a:rPr lang="en-US" sz="2400" dirty="0"/>
              <a:t>GPS/Traffic/Maps</a:t>
            </a:r>
          </a:p>
          <a:p>
            <a:r>
              <a:rPr lang="en-US" sz="2400" dirty="0"/>
              <a:t>Email spam filters</a:t>
            </a:r>
          </a:p>
        </p:txBody>
      </p:sp>
      <p:sp>
        <p:nvSpPr>
          <p:cNvPr id="6" name="Footer Placeholder 5">
            <a:extLst>
              <a:ext uri="{FF2B5EF4-FFF2-40B4-BE49-F238E27FC236}">
                <a16:creationId xmlns:a16="http://schemas.microsoft.com/office/drawing/2014/main" id="{93870081-AD3D-2C07-88CB-DAA85D188848}"/>
              </a:ext>
            </a:extLst>
          </p:cNvPr>
          <p:cNvSpPr>
            <a:spLocks noGrp="1"/>
          </p:cNvSpPr>
          <p:nvPr>
            <p:ph type="ftr" sz="quarter" idx="11"/>
          </p:nvPr>
        </p:nvSpPr>
        <p:spPr/>
        <p:txBody>
          <a:bodyPr/>
          <a:lstStyle/>
          <a:p>
            <a:r>
              <a:rPr lang="en-US"/>
              <a:t>A CATHOLIC INTRODUCTION TO ARTIFICIAL INTELLIGENCE</a:t>
            </a:r>
          </a:p>
        </p:txBody>
      </p:sp>
      <p:sp>
        <p:nvSpPr>
          <p:cNvPr id="7" name="Slide Number Placeholder 6">
            <a:extLst>
              <a:ext uri="{FF2B5EF4-FFF2-40B4-BE49-F238E27FC236}">
                <a16:creationId xmlns:a16="http://schemas.microsoft.com/office/drawing/2014/main" id="{432ECE8A-EAF6-0BD9-4431-3B842E9D142B}"/>
              </a:ext>
            </a:extLst>
          </p:cNvPr>
          <p:cNvSpPr>
            <a:spLocks noGrp="1"/>
          </p:cNvSpPr>
          <p:nvPr>
            <p:ph type="sldNum" sz="quarter" idx="12"/>
          </p:nvPr>
        </p:nvSpPr>
        <p:spPr/>
        <p:txBody>
          <a:bodyPr/>
          <a:lstStyle/>
          <a:p>
            <a:fld id="{E31375A4-56A4-47D6-9801-1991572033F7}" type="slidenum">
              <a:rPr lang="en-US" smtClean="0"/>
              <a:t>18</a:t>
            </a:fld>
            <a:endParaRPr lang="en-US"/>
          </a:p>
        </p:txBody>
      </p:sp>
      <p:sp>
        <p:nvSpPr>
          <p:cNvPr id="4" name="TextBox 3">
            <a:extLst>
              <a:ext uri="{FF2B5EF4-FFF2-40B4-BE49-F238E27FC236}">
                <a16:creationId xmlns:a16="http://schemas.microsoft.com/office/drawing/2014/main" id="{0BC010F7-37F1-4A61-1E09-B988A8B94FF5}"/>
              </a:ext>
            </a:extLst>
          </p:cNvPr>
          <p:cNvSpPr txBox="1"/>
          <p:nvPr/>
        </p:nvSpPr>
        <p:spPr>
          <a:xfrm>
            <a:off x="6096000" y="2590800"/>
            <a:ext cx="3733800" cy="1323439"/>
          </a:xfrm>
          <a:prstGeom prst="rect">
            <a:avLst/>
          </a:prstGeom>
          <a:pattFill prst="pct5">
            <a:fgClr>
              <a:schemeClr val="accent1"/>
            </a:fgClr>
            <a:bgClr>
              <a:schemeClr val="bg1"/>
            </a:bgClr>
          </a:pattFill>
          <a:ln/>
        </p:spPr>
        <p:style>
          <a:lnRef idx="0">
            <a:schemeClr val="accent3"/>
          </a:lnRef>
          <a:fillRef idx="3">
            <a:schemeClr val="accent3"/>
          </a:fillRef>
          <a:effectRef idx="3">
            <a:schemeClr val="accent3"/>
          </a:effectRef>
          <a:fontRef idx="minor">
            <a:schemeClr val="lt1"/>
          </a:fontRef>
        </p:style>
        <p:txBody>
          <a:bodyPr wrap="square" rtlCol="0">
            <a:spAutoFit/>
          </a:bodyPr>
          <a:lstStyle/>
          <a:p>
            <a:pPr algn="ctr"/>
            <a:r>
              <a:rPr lang="en-US" sz="4000" dirty="0">
                <a:solidFill>
                  <a:schemeClr val="accent2"/>
                </a:solidFill>
              </a:rPr>
              <a:t>Machine Learning</a:t>
            </a:r>
          </a:p>
        </p:txBody>
      </p:sp>
      <p:sp>
        <p:nvSpPr>
          <p:cNvPr id="5" name="TextBox 4">
            <a:extLst>
              <a:ext uri="{FF2B5EF4-FFF2-40B4-BE49-F238E27FC236}">
                <a16:creationId xmlns:a16="http://schemas.microsoft.com/office/drawing/2014/main" id="{8B28FBAA-1C4D-C9F6-3CB3-17FB10340F57}"/>
              </a:ext>
            </a:extLst>
          </p:cNvPr>
          <p:cNvSpPr txBox="1"/>
          <p:nvPr/>
        </p:nvSpPr>
        <p:spPr>
          <a:xfrm>
            <a:off x="6096000" y="4689386"/>
            <a:ext cx="3733800" cy="707886"/>
          </a:xfrm>
          <a:prstGeom prst="rect">
            <a:avLst/>
          </a:prstGeom>
          <a:pattFill prst="pct5">
            <a:fgClr>
              <a:schemeClr val="accent1"/>
            </a:fgClr>
            <a:bgClr>
              <a:schemeClr val="bg1"/>
            </a:bgClr>
          </a:pattFill>
          <a:ln/>
        </p:spPr>
        <p:style>
          <a:lnRef idx="0">
            <a:schemeClr val="accent3"/>
          </a:lnRef>
          <a:fillRef idx="3">
            <a:schemeClr val="accent3"/>
          </a:fillRef>
          <a:effectRef idx="3">
            <a:schemeClr val="accent3"/>
          </a:effectRef>
          <a:fontRef idx="minor">
            <a:schemeClr val="lt1"/>
          </a:fontRef>
        </p:style>
        <p:txBody>
          <a:bodyPr wrap="square" rtlCol="0">
            <a:spAutoFit/>
          </a:bodyPr>
          <a:lstStyle>
            <a:defPPr>
              <a:defRPr lang="en-US"/>
            </a:defPPr>
            <a:lvl1pPr algn="ctr">
              <a:defRPr sz="4000"/>
            </a:lvl1pPr>
          </a:lstStyle>
          <a:p>
            <a:r>
              <a:rPr lang="en-US" dirty="0">
                <a:solidFill>
                  <a:schemeClr val="accent2"/>
                </a:solidFill>
              </a:rPr>
              <a:t>Transformers</a:t>
            </a:r>
          </a:p>
        </p:txBody>
      </p:sp>
      <p:pic>
        <p:nvPicPr>
          <p:cNvPr id="9" name="Picture 8">
            <a:extLst>
              <a:ext uri="{FF2B5EF4-FFF2-40B4-BE49-F238E27FC236}">
                <a16:creationId xmlns:a16="http://schemas.microsoft.com/office/drawing/2014/main" id="{89E5883A-159C-6092-CD88-BD03F73409D0}"/>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600917" y="13716"/>
            <a:ext cx="1579626" cy="1053084"/>
          </a:xfrm>
          <a:prstGeom prst="rect">
            <a:avLst/>
          </a:prstGeom>
        </p:spPr>
      </p:pic>
      <p:pic>
        <p:nvPicPr>
          <p:cNvPr id="10" name="Picture 9">
            <a:extLst>
              <a:ext uri="{FF2B5EF4-FFF2-40B4-BE49-F238E27FC236}">
                <a16:creationId xmlns:a16="http://schemas.microsoft.com/office/drawing/2014/main" id="{D2357567-8A04-DB93-095F-7531B11CEFAC}"/>
              </a:ext>
            </a:extLst>
          </p:cNvPr>
          <p:cNvPicPr>
            <a:picLocks noChangeAspect="1"/>
          </p:cNvPicPr>
          <p:nvPr/>
        </p:nvPicPr>
        <p:blipFill>
          <a:blip r:embed="rId3"/>
          <a:stretch>
            <a:fillRect/>
          </a:stretch>
        </p:blipFill>
        <p:spPr>
          <a:xfrm>
            <a:off x="11158347" y="5259124"/>
            <a:ext cx="1022196" cy="1485900"/>
          </a:xfrm>
          <a:prstGeom prst="rect">
            <a:avLst/>
          </a:prstGeom>
        </p:spPr>
      </p:pic>
    </p:spTree>
    <p:extLst>
      <p:ext uri="{BB962C8B-B14F-4D97-AF65-F5344CB8AC3E}">
        <p14:creationId xmlns:p14="http://schemas.microsoft.com/office/powerpoint/2010/main" val="7689860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1000" fill="hold"/>
                                        <p:tgtEl>
                                          <p:spTgt spid="4"/>
                                        </p:tgtEl>
                                        <p:attrNameLst>
                                          <p:attrName>ppt_w</p:attrName>
                                        </p:attrNameLst>
                                      </p:cBhvr>
                                      <p:tavLst>
                                        <p:tav tm="0">
                                          <p:val>
                                            <p:fltVal val="0"/>
                                          </p:val>
                                        </p:tav>
                                        <p:tav tm="100000">
                                          <p:val>
                                            <p:strVal val="#ppt_w"/>
                                          </p:val>
                                        </p:tav>
                                      </p:tavLst>
                                    </p:anim>
                                    <p:anim calcmode="lin" valueType="num">
                                      <p:cBhvr>
                                        <p:cTn id="8" dur="1000" fill="hold"/>
                                        <p:tgtEl>
                                          <p:spTgt spid="4"/>
                                        </p:tgtEl>
                                        <p:attrNameLst>
                                          <p:attrName>ppt_h</p:attrName>
                                        </p:attrNameLst>
                                      </p:cBhvr>
                                      <p:tavLst>
                                        <p:tav tm="0">
                                          <p:val>
                                            <p:fltVal val="0"/>
                                          </p:val>
                                        </p:tav>
                                        <p:tav tm="100000">
                                          <p:val>
                                            <p:strVal val="#ppt_h"/>
                                          </p:val>
                                        </p:tav>
                                      </p:tavLst>
                                    </p:anim>
                                    <p:anim calcmode="lin" valueType="num">
                                      <p:cBhvr>
                                        <p:cTn id="9" dur="1000" fill="hold"/>
                                        <p:tgtEl>
                                          <p:spTgt spid="4"/>
                                        </p:tgtEl>
                                        <p:attrNameLst>
                                          <p:attrName>style.rotation</p:attrName>
                                        </p:attrNameLst>
                                      </p:cBhvr>
                                      <p:tavLst>
                                        <p:tav tm="0">
                                          <p:val>
                                            <p:fltVal val="90"/>
                                          </p:val>
                                        </p:tav>
                                        <p:tav tm="100000">
                                          <p:val>
                                            <p:fltVal val="0"/>
                                          </p:val>
                                        </p:tav>
                                      </p:tavLst>
                                    </p:anim>
                                    <p:animEffect transition="in" filter="fade">
                                      <p:cBhvr>
                                        <p:cTn id="10" dur="1000"/>
                                        <p:tgtEl>
                                          <p:spTgt spid="4"/>
                                        </p:tgtEl>
                                      </p:cBhvr>
                                    </p:animEffect>
                                  </p:childTnLst>
                                </p:cTn>
                              </p:par>
                            </p:childTnLst>
                          </p:cTn>
                        </p:par>
                      </p:childTnLst>
                    </p:cTn>
                  </p:par>
                  <p:par>
                    <p:cTn id="11" fill="hold">
                      <p:stCondLst>
                        <p:cond delay="indefinite"/>
                      </p:stCondLst>
                      <p:childTnLst>
                        <p:par>
                          <p:cTn id="12" fill="hold">
                            <p:stCondLst>
                              <p:cond delay="0"/>
                            </p:stCondLst>
                            <p:childTnLst>
                              <p:par>
                                <p:cTn id="13" presetID="14" presetClass="entr" presetSubtype="10"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animEffect transition="in" filter="randombar(horizontal)">
                                      <p:cBhvr>
                                        <p:cTn id="15"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3D7A1E-CFF3-2357-37DC-32B157FFAD04}"/>
              </a:ext>
            </a:extLst>
          </p:cNvPr>
          <p:cNvSpPr>
            <a:spLocks noGrp="1"/>
          </p:cNvSpPr>
          <p:nvPr>
            <p:ph type="title"/>
          </p:nvPr>
        </p:nvSpPr>
        <p:spPr/>
        <p:txBody>
          <a:bodyPr/>
          <a:lstStyle/>
          <a:p>
            <a:r>
              <a:rPr lang="en-US" b="1" dirty="0"/>
              <a:t>Ethics and Bias Teasers </a:t>
            </a:r>
            <a:endParaRPr lang="en-US" dirty="0"/>
          </a:p>
        </p:txBody>
      </p:sp>
      <p:sp>
        <p:nvSpPr>
          <p:cNvPr id="3" name="Content Placeholder 2">
            <a:extLst>
              <a:ext uri="{FF2B5EF4-FFF2-40B4-BE49-F238E27FC236}">
                <a16:creationId xmlns:a16="http://schemas.microsoft.com/office/drawing/2014/main" id="{A681B503-79D1-19C3-84E2-B234709F059C}"/>
              </a:ext>
            </a:extLst>
          </p:cNvPr>
          <p:cNvSpPr>
            <a:spLocks noGrp="1"/>
          </p:cNvSpPr>
          <p:nvPr>
            <p:ph idx="1"/>
          </p:nvPr>
        </p:nvSpPr>
        <p:spPr/>
        <p:txBody>
          <a:bodyPr>
            <a:normAutofit/>
          </a:bodyPr>
          <a:lstStyle/>
          <a:p>
            <a:r>
              <a:rPr lang="en-US" dirty="0"/>
              <a:t>AI can make mistakes (e.g., false arrests due to facial recognition errors).</a:t>
            </a:r>
          </a:p>
          <a:p>
            <a:r>
              <a:rPr lang="en-US" dirty="0"/>
              <a:t>Data used to train AI can be biased.</a:t>
            </a:r>
          </a:p>
          <a:p>
            <a:r>
              <a:rPr lang="en-US" dirty="0"/>
              <a:t>Discussion: Should we always trust AI?</a:t>
            </a:r>
          </a:p>
          <a:p>
            <a:r>
              <a:rPr lang="en-US" dirty="0"/>
              <a:t>Discussion: Who is responsible when AI is wrong?</a:t>
            </a:r>
          </a:p>
          <a:p>
            <a:endParaRPr lang="en-US" dirty="0"/>
          </a:p>
        </p:txBody>
      </p:sp>
      <p:sp>
        <p:nvSpPr>
          <p:cNvPr id="4" name="Footer Placeholder 3">
            <a:extLst>
              <a:ext uri="{FF2B5EF4-FFF2-40B4-BE49-F238E27FC236}">
                <a16:creationId xmlns:a16="http://schemas.microsoft.com/office/drawing/2014/main" id="{8918F6C0-6F3C-0A2E-410B-11F79A577DD7}"/>
              </a:ext>
            </a:extLst>
          </p:cNvPr>
          <p:cNvSpPr>
            <a:spLocks noGrp="1"/>
          </p:cNvSpPr>
          <p:nvPr>
            <p:ph type="ftr" sz="quarter" idx="11"/>
          </p:nvPr>
        </p:nvSpPr>
        <p:spPr/>
        <p:txBody>
          <a:bodyPr/>
          <a:lstStyle/>
          <a:p>
            <a:r>
              <a:rPr lang="en-US"/>
              <a:t>A CATHOLIC INTRODUCTION TO ARTIFICIAL INTELLIGENCE – PART 1</a:t>
            </a:r>
            <a:endParaRPr lang="en-US" dirty="0"/>
          </a:p>
        </p:txBody>
      </p:sp>
      <p:sp>
        <p:nvSpPr>
          <p:cNvPr id="5" name="Slide Number Placeholder 4">
            <a:extLst>
              <a:ext uri="{FF2B5EF4-FFF2-40B4-BE49-F238E27FC236}">
                <a16:creationId xmlns:a16="http://schemas.microsoft.com/office/drawing/2014/main" id="{FE7A86EE-0312-5762-7022-EA6C652E856B}"/>
              </a:ext>
            </a:extLst>
          </p:cNvPr>
          <p:cNvSpPr>
            <a:spLocks noGrp="1"/>
          </p:cNvSpPr>
          <p:nvPr>
            <p:ph type="sldNum" sz="quarter" idx="12"/>
          </p:nvPr>
        </p:nvSpPr>
        <p:spPr/>
        <p:txBody>
          <a:bodyPr/>
          <a:lstStyle/>
          <a:p>
            <a:fld id="{E31375A4-56A4-47D6-9801-1991572033F7}" type="slidenum">
              <a:rPr lang="en-US" smtClean="0"/>
              <a:t>19</a:t>
            </a:fld>
            <a:endParaRPr lang="en-US"/>
          </a:p>
        </p:txBody>
      </p:sp>
    </p:spTree>
    <p:extLst>
      <p:ext uri="{BB962C8B-B14F-4D97-AF65-F5344CB8AC3E}">
        <p14:creationId xmlns:p14="http://schemas.microsoft.com/office/powerpoint/2010/main" val="21097732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DAB0DC-8762-F04B-D350-0FDA2781FE07}"/>
              </a:ext>
            </a:extLst>
          </p:cNvPr>
          <p:cNvSpPr>
            <a:spLocks noGrp="1"/>
          </p:cNvSpPr>
          <p:nvPr>
            <p:ph type="title"/>
          </p:nvPr>
        </p:nvSpPr>
        <p:spPr/>
        <p:txBody>
          <a:bodyPr/>
          <a:lstStyle/>
          <a:p>
            <a:r>
              <a:rPr lang="en-US" dirty="0"/>
              <a:t>assignments</a:t>
            </a:r>
          </a:p>
        </p:txBody>
      </p:sp>
      <p:sp>
        <p:nvSpPr>
          <p:cNvPr id="3" name="Content Placeholder 2">
            <a:extLst>
              <a:ext uri="{FF2B5EF4-FFF2-40B4-BE49-F238E27FC236}">
                <a16:creationId xmlns:a16="http://schemas.microsoft.com/office/drawing/2014/main" id="{2E0E481B-9BEC-9930-E4F3-81C0EEE4E306}"/>
              </a:ext>
            </a:extLst>
          </p:cNvPr>
          <p:cNvSpPr>
            <a:spLocks noGrp="1"/>
          </p:cNvSpPr>
          <p:nvPr>
            <p:ph idx="1"/>
          </p:nvPr>
        </p:nvSpPr>
        <p:spPr/>
        <p:txBody>
          <a:bodyPr/>
          <a:lstStyle/>
          <a:p>
            <a:endParaRPr lang="en-US"/>
          </a:p>
        </p:txBody>
      </p:sp>
      <p:sp>
        <p:nvSpPr>
          <p:cNvPr id="4" name="Footer Placeholder 3">
            <a:extLst>
              <a:ext uri="{FF2B5EF4-FFF2-40B4-BE49-F238E27FC236}">
                <a16:creationId xmlns:a16="http://schemas.microsoft.com/office/drawing/2014/main" id="{1469CE7E-5A90-B8E7-E237-E42FBB7A8108}"/>
              </a:ext>
            </a:extLst>
          </p:cNvPr>
          <p:cNvSpPr>
            <a:spLocks noGrp="1"/>
          </p:cNvSpPr>
          <p:nvPr>
            <p:ph type="ftr" sz="quarter" idx="11"/>
          </p:nvPr>
        </p:nvSpPr>
        <p:spPr/>
        <p:txBody>
          <a:bodyPr/>
          <a:lstStyle/>
          <a:p>
            <a:r>
              <a:rPr lang="en-US"/>
              <a:t>A CATHOLIC INTRODUCTION TO ARTIFICIAL INTELLIGENCE – PART 1</a:t>
            </a:r>
            <a:endParaRPr lang="en-US" dirty="0"/>
          </a:p>
        </p:txBody>
      </p:sp>
      <p:sp>
        <p:nvSpPr>
          <p:cNvPr id="5" name="Slide Number Placeholder 4">
            <a:extLst>
              <a:ext uri="{FF2B5EF4-FFF2-40B4-BE49-F238E27FC236}">
                <a16:creationId xmlns:a16="http://schemas.microsoft.com/office/drawing/2014/main" id="{CA7AC072-BFF6-65E5-3186-2B8CA1C30477}"/>
              </a:ext>
            </a:extLst>
          </p:cNvPr>
          <p:cNvSpPr>
            <a:spLocks noGrp="1"/>
          </p:cNvSpPr>
          <p:nvPr>
            <p:ph type="sldNum" sz="quarter" idx="12"/>
          </p:nvPr>
        </p:nvSpPr>
        <p:spPr/>
        <p:txBody>
          <a:bodyPr/>
          <a:lstStyle/>
          <a:p>
            <a:fld id="{E31375A4-56A4-47D6-9801-1991572033F7}" type="slidenum">
              <a:rPr lang="en-US" smtClean="0"/>
              <a:t>20</a:t>
            </a:fld>
            <a:endParaRPr lang="en-US"/>
          </a:p>
        </p:txBody>
      </p:sp>
    </p:spTree>
    <p:extLst>
      <p:ext uri="{BB962C8B-B14F-4D97-AF65-F5344CB8AC3E}">
        <p14:creationId xmlns:p14="http://schemas.microsoft.com/office/powerpoint/2010/main" val="28387693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Group 4">
            <a:extLst>
              <a:ext uri="{FF2B5EF4-FFF2-40B4-BE49-F238E27FC236}">
                <a16:creationId xmlns:a16="http://schemas.microsoft.com/office/drawing/2014/main" id="{0422D2EE-C3EF-B3B1-EBCD-DD92BEB9B5DD}"/>
              </a:ext>
            </a:extLst>
          </p:cNvPr>
          <p:cNvGrpSpPr/>
          <p:nvPr/>
        </p:nvGrpSpPr>
        <p:grpSpPr>
          <a:xfrm>
            <a:off x="5575800" y="2973825"/>
            <a:ext cx="5092200" cy="910350"/>
            <a:chOff x="5864371" y="42650"/>
            <a:chExt cx="2145825" cy="910350"/>
          </a:xfrm>
        </p:grpSpPr>
        <p:sp>
          <p:nvSpPr>
            <p:cNvPr id="6" name="Rectangle 5">
              <a:extLst>
                <a:ext uri="{FF2B5EF4-FFF2-40B4-BE49-F238E27FC236}">
                  <a16:creationId xmlns:a16="http://schemas.microsoft.com/office/drawing/2014/main" id="{2FD219E9-4E40-A357-787A-A7231972F83D}"/>
                </a:ext>
              </a:extLst>
            </p:cNvPr>
            <p:cNvSpPr/>
            <p:nvPr/>
          </p:nvSpPr>
          <p:spPr>
            <a:xfrm>
              <a:off x="5864371" y="42650"/>
              <a:ext cx="2145825" cy="910350"/>
            </a:xfrm>
            <a:prstGeom prst="rect">
              <a:avLst/>
            </a:pr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a:lstStyle/>
            <a:p>
              <a:endParaRPr lang="en-US" sz="4000"/>
            </a:p>
          </p:txBody>
        </p:sp>
        <p:sp>
          <p:nvSpPr>
            <p:cNvPr id="7" name="TextBox 6">
              <a:extLst>
                <a:ext uri="{FF2B5EF4-FFF2-40B4-BE49-F238E27FC236}">
                  <a16:creationId xmlns:a16="http://schemas.microsoft.com/office/drawing/2014/main" id="{16161550-A98C-8108-0968-9EDB57DFE349}"/>
                </a:ext>
              </a:extLst>
            </p:cNvPr>
            <p:cNvSpPr txBox="1"/>
            <p:nvPr/>
          </p:nvSpPr>
          <p:spPr>
            <a:xfrm>
              <a:off x="5864371" y="42650"/>
              <a:ext cx="2145825" cy="910350"/>
            </a:xfrm>
            <a:prstGeom prst="rect">
              <a:avLst/>
            </a:prstGeom>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0" tIns="0" rIns="0" bIns="0" numCol="1" spcCol="1270" anchor="ctr" anchorCtr="0">
              <a:noAutofit/>
            </a:bodyPr>
            <a:lstStyle/>
            <a:p>
              <a:pPr marL="0" lvl="0" indent="0" algn="l" defTabSz="844550">
                <a:lnSpc>
                  <a:spcPct val="100000"/>
                </a:lnSpc>
                <a:spcBef>
                  <a:spcPct val="0"/>
                </a:spcBef>
                <a:spcAft>
                  <a:spcPct val="35000"/>
                </a:spcAft>
                <a:buNone/>
              </a:pPr>
              <a:r>
                <a:rPr lang="en-US" sz="4000" kern="1200" dirty="0"/>
                <a:t>Closing Prayer</a:t>
              </a:r>
            </a:p>
          </p:txBody>
        </p:sp>
      </p:grpSp>
      <p:sp>
        <p:nvSpPr>
          <p:cNvPr id="4" name="Oval 3">
            <a:extLst>
              <a:ext uri="{FF2B5EF4-FFF2-40B4-BE49-F238E27FC236}">
                <a16:creationId xmlns:a16="http://schemas.microsoft.com/office/drawing/2014/main" id="{2940A91A-B685-116C-F915-FFA8F101FD39}"/>
              </a:ext>
            </a:extLst>
          </p:cNvPr>
          <p:cNvSpPr/>
          <p:nvPr/>
        </p:nvSpPr>
        <p:spPr>
          <a:xfrm>
            <a:off x="1981200" y="1866900"/>
            <a:ext cx="3247125" cy="3124200"/>
          </a:xfrm>
          <a:prstGeom prst="ellipse">
            <a:avLst/>
          </a:prstGeom>
        </p:spPr>
        <p:style>
          <a:lnRef idx="0">
            <a:schemeClr val="accent3">
              <a:hueOff val="0"/>
              <a:satOff val="0"/>
              <a:lumOff val="0"/>
              <a:alphaOff val="0"/>
            </a:schemeClr>
          </a:lnRef>
          <a:fillRef idx="1">
            <a:schemeClr val="accent3">
              <a:tint val="40000"/>
              <a:hueOff val="0"/>
              <a:satOff val="0"/>
              <a:lumOff val="0"/>
              <a:alphaOff val="0"/>
            </a:schemeClr>
          </a:fillRef>
          <a:effectRef idx="0">
            <a:schemeClr val="accent3">
              <a:tint val="40000"/>
              <a:hueOff val="0"/>
              <a:satOff val="0"/>
              <a:lumOff val="0"/>
              <a:alphaOff val="0"/>
            </a:schemeClr>
          </a:effectRef>
          <a:fontRef idx="minor">
            <a:schemeClr val="dk1">
              <a:hueOff val="0"/>
              <a:satOff val="0"/>
              <a:lumOff val="0"/>
              <a:alphaOff val="0"/>
            </a:schemeClr>
          </a:fontRef>
        </p:style>
        <p:txBody>
          <a:bodyPr/>
          <a:lstStyle/>
          <a:p>
            <a:endParaRPr lang="en-US"/>
          </a:p>
        </p:txBody>
      </p:sp>
      <p:sp>
        <p:nvSpPr>
          <p:cNvPr id="2" name="Rectangle 1">
            <a:extLst>
              <a:ext uri="{FF2B5EF4-FFF2-40B4-BE49-F238E27FC236}">
                <a16:creationId xmlns:a16="http://schemas.microsoft.com/office/drawing/2014/main" id="{533A56DE-76ED-48DF-C4B0-2438C49FC014}"/>
              </a:ext>
            </a:extLst>
          </p:cNvPr>
          <p:cNvSpPr/>
          <p:nvPr/>
        </p:nvSpPr>
        <p:spPr>
          <a:xfrm>
            <a:off x="2895600" y="2764611"/>
            <a:ext cx="1447800" cy="1328777"/>
          </a:xfrm>
          <a:prstGeom prst="rect">
            <a:avLst/>
          </a:prstGeom>
          <a:blipFill>
            <a:blip r:embed="rId2" cstate="print">
              <a:extLst>
                <a:ext uri="{28A0092B-C50C-407E-A947-70E740481C1C}">
                  <a14:useLocalDpi xmlns:a14="http://schemas.microsoft.com/office/drawing/2010/main" val="0"/>
                </a:ext>
              </a:extLst>
            </a:blip>
            <a:srcRect/>
            <a:stretch>
              <a:fillRect l="-61000" r="-61000"/>
            </a:stretch>
          </a:blipFill>
          <a:ln>
            <a:noFill/>
          </a:ln>
        </p:spPr>
        <p:style>
          <a:lnRef idx="2">
            <a:scrgbClr r="0" g="0" b="0"/>
          </a:lnRef>
          <a:fillRef idx="1">
            <a:scrgbClr r="0" g="0" b="0"/>
          </a:fillRef>
          <a:effectRef idx="0">
            <a:schemeClr val="accent3">
              <a:hueOff val="0"/>
              <a:satOff val="0"/>
              <a:lumOff val="0"/>
              <a:alphaOff val="0"/>
            </a:schemeClr>
          </a:effectRef>
          <a:fontRef idx="minor">
            <a:schemeClr val="lt1"/>
          </a:fontRef>
        </p:style>
        <p:txBody>
          <a:bodyPr/>
          <a:lstStyle/>
          <a:p>
            <a:endParaRPr lang="en-US"/>
          </a:p>
        </p:txBody>
      </p:sp>
      <p:sp>
        <p:nvSpPr>
          <p:cNvPr id="3" name="Footer Placeholder 2">
            <a:extLst>
              <a:ext uri="{FF2B5EF4-FFF2-40B4-BE49-F238E27FC236}">
                <a16:creationId xmlns:a16="http://schemas.microsoft.com/office/drawing/2014/main" id="{9F55F341-005F-3B42-D3A3-0D90EE9D3B6C}"/>
              </a:ext>
            </a:extLst>
          </p:cNvPr>
          <p:cNvSpPr>
            <a:spLocks noGrp="1"/>
          </p:cNvSpPr>
          <p:nvPr>
            <p:ph type="ftr" sz="quarter" idx="11"/>
          </p:nvPr>
        </p:nvSpPr>
        <p:spPr/>
        <p:txBody>
          <a:bodyPr/>
          <a:lstStyle/>
          <a:p>
            <a:r>
              <a:rPr lang="en-US"/>
              <a:t>A CATHOLIC INTRODUCTION TO ARTIFICIAL INTELLIGENCE</a:t>
            </a:r>
          </a:p>
        </p:txBody>
      </p:sp>
      <p:sp>
        <p:nvSpPr>
          <p:cNvPr id="8" name="Slide Number Placeholder 7">
            <a:extLst>
              <a:ext uri="{FF2B5EF4-FFF2-40B4-BE49-F238E27FC236}">
                <a16:creationId xmlns:a16="http://schemas.microsoft.com/office/drawing/2014/main" id="{8E346858-A0E7-9A9B-4DE2-C161A3603C8A}"/>
              </a:ext>
            </a:extLst>
          </p:cNvPr>
          <p:cNvSpPr>
            <a:spLocks noGrp="1"/>
          </p:cNvSpPr>
          <p:nvPr>
            <p:ph type="sldNum" sz="quarter" idx="12"/>
          </p:nvPr>
        </p:nvSpPr>
        <p:spPr/>
        <p:txBody>
          <a:bodyPr/>
          <a:lstStyle/>
          <a:p>
            <a:fld id="{E31375A4-56A4-47D6-9801-1991572033F7}" type="slidenum">
              <a:rPr lang="en-US" smtClean="0"/>
              <a:t>21</a:t>
            </a:fld>
            <a:endParaRPr lang="en-US"/>
          </a:p>
        </p:txBody>
      </p:sp>
      <p:pic>
        <p:nvPicPr>
          <p:cNvPr id="9" name="Picture 8">
            <a:extLst>
              <a:ext uri="{FF2B5EF4-FFF2-40B4-BE49-F238E27FC236}">
                <a16:creationId xmlns:a16="http://schemas.microsoft.com/office/drawing/2014/main" id="{94E1CBF5-09BE-87E1-279B-4797C346E38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600917" y="13716"/>
            <a:ext cx="1579626" cy="1053084"/>
          </a:xfrm>
          <a:prstGeom prst="rect">
            <a:avLst/>
          </a:prstGeom>
        </p:spPr>
      </p:pic>
      <p:pic>
        <p:nvPicPr>
          <p:cNvPr id="10" name="Picture 9">
            <a:extLst>
              <a:ext uri="{FF2B5EF4-FFF2-40B4-BE49-F238E27FC236}">
                <a16:creationId xmlns:a16="http://schemas.microsoft.com/office/drawing/2014/main" id="{F79C13BB-7381-9A08-A0EC-58AB893B46CC}"/>
              </a:ext>
            </a:extLst>
          </p:cNvPr>
          <p:cNvPicPr>
            <a:picLocks noChangeAspect="1"/>
          </p:cNvPicPr>
          <p:nvPr/>
        </p:nvPicPr>
        <p:blipFill>
          <a:blip r:embed="rId4"/>
          <a:stretch>
            <a:fillRect/>
          </a:stretch>
        </p:blipFill>
        <p:spPr>
          <a:xfrm>
            <a:off x="11158347" y="5259124"/>
            <a:ext cx="1022196" cy="1485900"/>
          </a:xfrm>
          <a:prstGeom prst="rect">
            <a:avLst/>
          </a:prstGeom>
        </p:spPr>
      </p:pic>
    </p:spTree>
    <p:extLst>
      <p:ext uri="{BB962C8B-B14F-4D97-AF65-F5344CB8AC3E}">
        <p14:creationId xmlns:p14="http://schemas.microsoft.com/office/powerpoint/2010/main" val="256161205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8434" name="Title 1">
            <a:extLst>
              <a:ext uri="{FF2B5EF4-FFF2-40B4-BE49-F238E27FC236}">
                <a16:creationId xmlns:a16="http://schemas.microsoft.com/office/drawing/2014/main" id="{3A6FB1DC-D049-40B4-B52A-DAE1260F359E}"/>
              </a:ext>
            </a:extLst>
          </p:cNvPr>
          <p:cNvSpPr>
            <a:spLocks noGrp="1" noChangeArrowheads="1"/>
          </p:cNvSpPr>
          <p:nvPr>
            <p:ph type="title"/>
          </p:nvPr>
        </p:nvSpPr>
        <p:spPr>
          <a:xfrm>
            <a:off x="1143000" y="634960"/>
            <a:ext cx="5766816" cy="1293028"/>
          </a:xfrm>
          <a:prstGeom prst="rect">
            <a:avLst/>
          </a:prstGeom>
        </p:spPr>
        <p:txBody>
          <a:bodyPr vert="horz" lIns="91440" tIns="45720" rIns="91440" bIns="45720" rtlCol="0" anchor="ctr">
            <a:normAutofit fontScale="90000"/>
          </a:bodyPr>
          <a:lstStyle/>
          <a:p>
            <a:r>
              <a:rPr lang="en-US" altLang="en-US" dirty="0"/>
              <a:t>Prayer to </a:t>
            </a:r>
            <a:br>
              <a:rPr lang="en-US" altLang="en-US" dirty="0"/>
            </a:br>
            <a:r>
              <a:rPr lang="en-US" altLang="en-US" dirty="0"/>
              <a:t>St. Michael Archangel</a:t>
            </a:r>
          </a:p>
        </p:txBody>
      </p:sp>
      <p:graphicFrame>
        <p:nvGraphicFramePr>
          <p:cNvPr id="18438" name="Content Placeholder 2">
            <a:extLst>
              <a:ext uri="{FF2B5EF4-FFF2-40B4-BE49-F238E27FC236}">
                <a16:creationId xmlns:a16="http://schemas.microsoft.com/office/drawing/2014/main" id="{3F931D0B-D539-4FD1-9207-AED55222636C}"/>
              </a:ext>
            </a:extLst>
          </p:cNvPr>
          <p:cNvGraphicFramePr>
            <a:graphicFrameLocks noGrp="1"/>
          </p:cNvGraphicFramePr>
          <p:nvPr>
            <p:ph sz="half" idx="1"/>
            <p:extLst>
              <p:ext uri="{D42A27DB-BD31-4B8C-83A1-F6EECF244321}">
                <p14:modId xmlns:p14="http://schemas.microsoft.com/office/powerpoint/2010/main" val="1636504575"/>
              </p:ext>
            </p:extLst>
          </p:nvPr>
        </p:nvGraphicFramePr>
        <p:xfrm>
          <a:off x="457200" y="2198915"/>
          <a:ext cx="6771640" cy="402412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Footer Placeholder 1">
            <a:extLst>
              <a:ext uri="{FF2B5EF4-FFF2-40B4-BE49-F238E27FC236}">
                <a16:creationId xmlns:a16="http://schemas.microsoft.com/office/drawing/2014/main" id="{BD24E8F3-E58A-92F9-2AE5-8261E572B18F}"/>
              </a:ext>
            </a:extLst>
          </p:cNvPr>
          <p:cNvSpPr>
            <a:spLocks noGrp="1"/>
          </p:cNvSpPr>
          <p:nvPr>
            <p:ph type="ftr" sz="quarter" idx="11"/>
          </p:nvPr>
        </p:nvSpPr>
        <p:spPr/>
        <p:txBody>
          <a:bodyPr/>
          <a:lstStyle/>
          <a:p>
            <a:r>
              <a:rPr lang="en-US"/>
              <a:t>A CATHOLIC INTRODUCTION TO ARTIFICIAL INTELLIGENCE</a:t>
            </a:r>
          </a:p>
        </p:txBody>
      </p:sp>
      <p:sp>
        <p:nvSpPr>
          <p:cNvPr id="3" name="Slide Number Placeholder 2">
            <a:extLst>
              <a:ext uri="{FF2B5EF4-FFF2-40B4-BE49-F238E27FC236}">
                <a16:creationId xmlns:a16="http://schemas.microsoft.com/office/drawing/2014/main" id="{E4224648-9E25-44B3-0301-88D23B051901}"/>
              </a:ext>
            </a:extLst>
          </p:cNvPr>
          <p:cNvSpPr>
            <a:spLocks noGrp="1"/>
          </p:cNvSpPr>
          <p:nvPr>
            <p:ph type="sldNum" sz="quarter" idx="12"/>
          </p:nvPr>
        </p:nvSpPr>
        <p:spPr/>
        <p:txBody>
          <a:bodyPr/>
          <a:lstStyle/>
          <a:p>
            <a:fld id="{E31375A4-56A4-47D6-9801-1991572033F7}" type="slidenum">
              <a:rPr lang="en-US" smtClean="0"/>
              <a:t>22</a:t>
            </a:fld>
            <a:endParaRPr lang="en-US"/>
          </a:p>
        </p:txBody>
      </p:sp>
      <p:pic>
        <p:nvPicPr>
          <p:cNvPr id="18436" name="Picture 2" descr="https://www.ewtn.com/art/saints/angels/stmichael.jpg">
            <a:extLst>
              <a:ext uri="{FF2B5EF4-FFF2-40B4-BE49-F238E27FC236}">
                <a16:creationId xmlns:a16="http://schemas.microsoft.com/office/drawing/2014/main" id="{1A4F67E9-12EB-4FA0-A2A1-81B7E81A0C7C}"/>
              </a:ext>
            </a:extLst>
          </p:cNvPr>
          <p:cNvPicPr>
            <a:picLocks noChangeAspect="1" noChangeArrowheads="1"/>
          </p:cNvPicPr>
          <p:nvPr/>
        </p:nvPicPr>
        <p:blipFill rotWithShape="1">
          <a:blip r:embed="rId7">
            <a:extLst>
              <a:ext uri="{28A0092B-C50C-407E-A947-70E740481C1C}">
                <a14:useLocalDpi xmlns:a14="http://schemas.microsoft.com/office/drawing/2010/main" val="0"/>
              </a:ext>
            </a:extLst>
          </a:blip>
          <a:srcRect t="7490" r="-1" b="4353"/>
          <a:stretch/>
        </p:blipFill>
        <p:spPr bwMode="auto">
          <a:xfrm>
            <a:off x="7519416" y="10"/>
            <a:ext cx="4672584" cy="6857989"/>
          </a:xfrm>
          <a:prstGeom prst="rect">
            <a:avLst/>
          </a:prstGeom>
          <a:solidFill>
            <a:srgbClr val="FFFFFF"/>
          </a:solidFill>
          <a:extLs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51506878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B9E94B-A915-609D-E425-B1D348321154}"/>
              </a:ext>
            </a:extLst>
          </p:cNvPr>
          <p:cNvSpPr>
            <a:spLocks noGrp="1"/>
          </p:cNvSpPr>
          <p:nvPr>
            <p:ph type="title"/>
          </p:nvPr>
        </p:nvSpPr>
        <p:spPr>
          <a:xfrm>
            <a:off x="1524000" y="533400"/>
            <a:ext cx="9144000" cy="1143000"/>
          </a:xfrm>
        </p:spPr>
        <p:txBody>
          <a:bodyPr/>
          <a:lstStyle/>
          <a:p>
            <a:r>
              <a:rPr lang="en-US" dirty="0"/>
              <a:t>“AI” In Hollywood</a:t>
            </a:r>
          </a:p>
        </p:txBody>
      </p:sp>
      <p:sp>
        <p:nvSpPr>
          <p:cNvPr id="3" name="Content Placeholder 2">
            <a:extLst>
              <a:ext uri="{FF2B5EF4-FFF2-40B4-BE49-F238E27FC236}">
                <a16:creationId xmlns:a16="http://schemas.microsoft.com/office/drawing/2014/main" id="{AEDF904C-9245-0DC2-1593-D34A47FE3844}"/>
              </a:ext>
            </a:extLst>
          </p:cNvPr>
          <p:cNvSpPr>
            <a:spLocks noGrp="1"/>
          </p:cNvSpPr>
          <p:nvPr>
            <p:ph idx="1"/>
          </p:nvPr>
        </p:nvSpPr>
        <p:spPr>
          <a:xfrm>
            <a:off x="1524000" y="1905000"/>
            <a:ext cx="9144000" cy="4267200"/>
          </a:xfrm>
        </p:spPr>
        <p:txBody>
          <a:bodyPr>
            <a:normAutofit lnSpcReduction="10000"/>
          </a:bodyPr>
          <a:lstStyle/>
          <a:p>
            <a:r>
              <a:rPr lang="en-US" dirty="0"/>
              <a:t>War Games </a:t>
            </a:r>
          </a:p>
          <a:p>
            <a:pPr lvl="1"/>
            <a:r>
              <a:rPr lang="en-US" dirty="0">
                <a:hlinkClick r:id="rId2"/>
              </a:rPr>
              <a:t>https://www.youtube.com/watch?v=s93KC4AGKnY</a:t>
            </a:r>
            <a:r>
              <a:rPr lang="en-US" dirty="0"/>
              <a:t> (1:34)</a:t>
            </a:r>
          </a:p>
          <a:p>
            <a:r>
              <a:rPr lang="en-US" dirty="0"/>
              <a:t>The Terminator</a:t>
            </a:r>
          </a:p>
          <a:p>
            <a:pPr lvl="1"/>
            <a:r>
              <a:rPr lang="en-US" dirty="0">
                <a:hlinkClick r:id="rId3"/>
              </a:rPr>
              <a:t>https://www.youtube.com/watch?v=4DQsG3TKQ0I</a:t>
            </a:r>
            <a:endParaRPr lang="en-US" dirty="0"/>
          </a:p>
          <a:p>
            <a:r>
              <a:rPr lang="en-US" dirty="0"/>
              <a:t>I Robot</a:t>
            </a:r>
          </a:p>
          <a:p>
            <a:pPr lvl="1"/>
            <a:r>
              <a:rPr lang="en-US" dirty="0">
                <a:hlinkClick r:id="rId4"/>
              </a:rPr>
              <a:t>https://www.youtube.com/watch?v=05bGPiyM4jg</a:t>
            </a:r>
            <a:endParaRPr lang="en-US" dirty="0"/>
          </a:p>
          <a:p>
            <a:r>
              <a:rPr lang="en-US" dirty="0"/>
              <a:t>Tesla robots</a:t>
            </a:r>
          </a:p>
          <a:p>
            <a:pPr lvl="1"/>
            <a:r>
              <a:rPr lang="en-US" dirty="0">
                <a:hlinkClick r:id="rId5"/>
              </a:rPr>
              <a:t>https://www.youtube.com/watch?v=cpraXaw7dyc</a:t>
            </a:r>
            <a:endParaRPr lang="en-US" dirty="0"/>
          </a:p>
          <a:p>
            <a:pPr lvl="1"/>
            <a:r>
              <a:rPr lang="en-US" dirty="0">
                <a:hlinkClick r:id="rId6"/>
              </a:rPr>
              <a:t>https://www.youtube.com/watch?v=ZTrebszENNw</a:t>
            </a:r>
            <a:endParaRPr lang="en-US" dirty="0"/>
          </a:p>
          <a:p>
            <a:pPr lvl="1"/>
            <a:r>
              <a:rPr lang="en-US" dirty="0">
                <a:hlinkClick r:id="rId7"/>
              </a:rPr>
              <a:t>https://www.youtube.com/watch?v=T6KtiOmRkn8</a:t>
            </a:r>
            <a:r>
              <a:rPr lang="en-US" dirty="0"/>
              <a:t> (1:02)</a:t>
            </a:r>
          </a:p>
          <a:p>
            <a:pPr lvl="1"/>
            <a:endParaRPr lang="en-US" dirty="0"/>
          </a:p>
        </p:txBody>
      </p:sp>
      <p:sp>
        <p:nvSpPr>
          <p:cNvPr id="5" name="Footer Placeholder 4">
            <a:extLst>
              <a:ext uri="{FF2B5EF4-FFF2-40B4-BE49-F238E27FC236}">
                <a16:creationId xmlns:a16="http://schemas.microsoft.com/office/drawing/2014/main" id="{79617EEB-144F-245D-C48B-AC41B4894BC1}"/>
              </a:ext>
            </a:extLst>
          </p:cNvPr>
          <p:cNvSpPr>
            <a:spLocks noGrp="1"/>
          </p:cNvSpPr>
          <p:nvPr>
            <p:ph type="ftr" sz="quarter" idx="11"/>
          </p:nvPr>
        </p:nvSpPr>
        <p:spPr/>
        <p:txBody>
          <a:bodyPr/>
          <a:lstStyle/>
          <a:p>
            <a:r>
              <a:rPr lang="en-US"/>
              <a:t>A CATHOLIC INTRODUCTION TO ARTIFICIAL INTELLIGENCE</a:t>
            </a:r>
          </a:p>
        </p:txBody>
      </p:sp>
      <p:sp>
        <p:nvSpPr>
          <p:cNvPr id="6" name="Slide Number Placeholder 5">
            <a:extLst>
              <a:ext uri="{FF2B5EF4-FFF2-40B4-BE49-F238E27FC236}">
                <a16:creationId xmlns:a16="http://schemas.microsoft.com/office/drawing/2014/main" id="{6E4D4234-CFD1-9D4A-9651-8F9004A7FEEB}"/>
              </a:ext>
            </a:extLst>
          </p:cNvPr>
          <p:cNvSpPr>
            <a:spLocks noGrp="1"/>
          </p:cNvSpPr>
          <p:nvPr>
            <p:ph type="sldNum" sz="quarter" idx="12"/>
          </p:nvPr>
        </p:nvSpPr>
        <p:spPr/>
        <p:txBody>
          <a:bodyPr/>
          <a:lstStyle/>
          <a:p>
            <a:fld id="{E31375A4-56A4-47D6-9801-1991572033F7}" type="slidenum">
              <a:rPr lang="en-US" smtClean="0"/>
              <a:t>23</a:t>
            </a:fld>
            <a:endParaRPr lang="en-US"/>
          </a:p>
        </p:txBody>
      </p:sp>
      <p:pic>
        <p:nvPicPr>
          <p:cNvPr id="7" name="Picture 6">
            <a:extLst>
              <a:ext uri="{FF2B5EF4-FFF2-40B4-BE49-F238E27FC236}">
                <a16:creationId xmlns:a16="http://schemas.microsoft.com/office/drawing/2014/main" id="{1FBB615C-3EE6-395C-63D2-32CBBA6701D2}"/>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10600917" y="13716"/>
            <a:ext cx="1579626" cy="1053084"/>
          </a:xfrm>
          <a:prstGeom prst="rect">
            <a:avLst/>
          </a:prstGeom>
        </p:spPr>
      </p:pic>
      <p:pic>
        <p:nvPicPr>
          <p:cNvPr id="8" name="Picture 7">
            <a:extLst>
              <a:ext uri="{FF2B5EF4-FFF2-40B4-BE49-F238E27FC236}">
                <a16:creationId xmlns:a16="http://schemas.microsoft.com/office/drawing/2014/main" id="{D40D7FF9-2F19-DD44-96D4-D86B01AF507A}"/>
              </a:ext>
            </a:extLst>
          </p:cNvPr>
          <p:cNvPicPr>
            <a:picLocks noChangeAspect="1"/>
          </p:cNvPicPr>
          <p:nvPr/>
        </p:nvPicPr>
        <p:blipFill>
          <a:blip r:embed="rId9"/>
          <a:stretch>
            <a:fillRect/>
          </a:stretch>
        </p:blipFill>
        <p:spPr>
          <a:xfrm>
            <a:off x="11158347" y="5259124"/>
            <a:ext cx="1022196" cy="1485900"/>
          </a:xfrm>
          <a:prstGeom prst="rect">
            <a:avLst/>
          </a:prstGeom>
        </p:spPr>
      </p:pic>
    </p:spTree>
    <p:extLst>
      <p:ext uri="{BB962C8B-B14F-4D97-AF65-F5344CB8AC3E}">
        <p14:creationId xmlns:p14="http://schemas.microsoft.com/office/powerpoint/2010/main" val="292044297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A9A5BB-D040-62DE-101D-94B9F4CD6657}"/>
              </a:ext>
            </a:extLst>
          </p:cNvPr>
          <p:cNvSpPr>
            <a:spLocks noGrp="1"/>
          </p:cNvSpPr>
          <p:nvPr>
            <p:ph type="title"/>
          </p:nvPr>
        </p:nvSpPr>
        <p:spPr/>
        <p:txBody>
          <a:bodyPr/>
          <a:lstStyle/>
          <a:p>
            <a:r>
              <a:rPr lang="en-US" dirty="0"/>
              <a:t>Resources</a:t>
            </a:r>
          </a:p>
        </p:txBody>
      </p:sp>
      <p:sp>
        <p:nvSpPr>
          <p:cNvPr id="3" name="Content Placeholder 2">
            <a:extLst>
              <a:ext uri="{FF2B5EF4-FFF2-40B4-BE49-F238E27FC236}">
                <a16:creationId xmlns:a16="http://schemas.microsoft.com/office/drawing/2014/main" id="{9C26C0C5-95E7-3040-34D0-317092111947}"/>
              </a:ext>
            </a:extLst>
          </p:cNvPr>
          <p:cNvSpPr>
            <a:spLocks noGrp="1"/>
          </p:cNvSpPr>
          <p:nvPr>
            <p:ph idx="1"/>
          </p:nvPr>
        </p:nvSpPr>
        <p:spPr/>
        <p:txBody>
          <a:bodyPr/>
          <a:lstStyle/>
          <a:p>
            <a:r>
              <a:rPr lang="en-US" dirty="0">
                <a:hlinkClick r:id="rId2"/>
              </a:rPr>
              <a:t>https://www.youtube.com/watch?v=8u4SeFnY9Jc&amp;t=283s</a:t>
            </a:r>
            <a:endParaRPr lang="en-US" dirty="0"/>
          </a:p>
          <a:p>
            <a:r>
              <a:rPr lang="en-US" dirty="0">
                <a:hlinkClick r:id="rId3"/>
              </a:rPr>
              <a:t>https://www.youtube.com/watch?v=Wjrdr0NU4Sk</a:t>
            </a:r>
            <a:endParaRPr lang="en-US" dirty="0"/>
          </a:p>
          <a:p>
            <a:endParaRPr lang="en-US" dirty="0"/>
          </a:p>
        </p:txBody>
      </p:sp>
      <p:sp>
        <p:nvSpPr>
          <p:cNvPr id="5" name="Footer Placeholder 4">
            <a:extLst>
              <a:ext uri="{FF2B5EF4-FFF2-40B4-BE49-F238E27FC236}">
                <a16:creationId xmlns:a16="http://schemas.microsoft.com/office/drawing/2014/main" id="{3B8B051A-71DB-4645-B044-461A0983E980}"/>
              </a:ext>
            </a:extLst>
          </p:cNvPr>
          <p:cNvSpPr>
            <a:spLocks noGrp="1"/>
          </p:cNvSpPr>
          <p:nvPr>
            <p:ph type="ftr" sz="quarter" idx="11"/>
          </p:nvPr>
        </p:nvSpPr>
        <p:spPr/>
        <p:txBody>
          <a:bodyPr/>
          <a:lstStyle/>
          <a:p>
            <a:r>
              <a:rPr lang="en-US"/>
              <a:t>A CATHOLIC INTRODUCTION TO ARTIFICIAL INTELLIGENCE</a:t>
            </a:r>
          </a:p>
        </p:txBody>
      </p:sp>
      <p:sp>
        <p:nvSpPr>
          <p:cNvPr id="6" name="Slide Number Placeholder 5">
            <a:extLst>
              <a:ext uri="{FF2B5EF4-FFF2-40B4-BE49-F238E27FC236}">
                <a16:creationId xmlns:a16="http://schemas.microsoft.com/office/drawing/2014/main" id="{ED7E9C1B-5761-99CC-4361-7EE66F1DDB3C}"/>
              </a:ext>
            </a:extLst>
          </p:cNvPr>
          <p:cNvSpPr>
            <a:spLocks noGrp="1"/>
          </p:cNvSpPr>
          <p:nvPr>
            <p:ph type="sldNum" sz="quarter" idx="12"/>
          </p:nvPr>
        </p:nvSpPr>
        <p:spPr/>
        <p:txBody>
          <a:bodyPr/>
          <a:lstStyle/>
          <a:p>
            <a:fld id="{E31375A4-56A4-47D6-9801-1991572033F7}" type="slidenum">
              <a:rPr lang="en-US" smtClean="0"/>
              <a:t>24</a:t>
            </a:fld>
            <a:endParaRPr lang="en-US"/>
          </a:p>
        </p:txBody>
      </p:sp>
      <p:pic>
        <p:nvPicPr>
          <p:cNvPr id="7" name="Picture 6">
            <a:extLst>
              <a:ext uri="{FF2B5EF4-FFF2-40B4-BE49-F238E27FC236}">
                <a16:creationId xmlns:a16="http://schemas.microsoft.com/office/drawing/2014/main" id="{EE82FC2D-4B28-590E-242B-D72A6B66ACA0}"/>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0600917" y="13716"/>
            <a:ext cx="1579626" cy="1053084"/>
          </a:xfrm>
          <a:prstGeom prst="rect">
            <a:avLst/>
          </a:prstGeom>
        </p:spPr>
      </p:pic>
      <p:pic>
        <p:nvPicPr>
          <p:cNvPr id="8" name="Picture 7">
            <a:extLst>
              <a:ext uri="{FF2B5EF4-FFF2-40B4-BE49-F238E27FC236}">
                <a16:creationId xmlns:a16="http://schemas.microsoft.com/office/drawing/2014/main" id="{913A4A87-C3E5-E3B4-9D88-886D13F7D534}"/>
              </a:ext>
            </a:extLst>
          </p:cNvPr>
          <p:cNvPicPr>
            <a:picLocks noChangeAspect="1"/>
          </p:cNvPicPr>
          <p:nvPr/>
        </p:nvPicPr>
        <p:blipFill>
          <a:blip r:embed="rId5"/>
          <a:stretch>
            <a:fillRect/>
          </a:stretch>
        </p:blipFill>
        <p:spPr>
          <a:xfrm>
            <a:off x="11158347" y="5259124"/>
            <a:ext cx="1022196" cy="1485900"/>
          </a:xfrm>
          <a:prstGeom prst="rect">
            <a:avLst/>
          </a:prstGeom>
        </p:spPr>
      </p:pic>
    </p:spTree>
    <p:extLst>
      <p:ext uri="{BB962C8B-B14F-4D97-AF65-F5344CB8AC3E}">
        <p14:creationId xmlns:p14="http://schemas.microsoft.com/office/powerpoint/2010/main" val="3879537118"/>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ntegral">
  <a:themeElements>
    <a:clrScheme name="Integral">
      <a:dk1>
        <a:srgbClr val="2E2B21"/>
      </a:dk1>
      <a:lt1>
        <a:srgbClr val="FFFFFF"/>
      </a:lt1>
      <a:dk2>
        <a:srgbClr val="605B4F"/>
      </a:dk2>
      <a:lt2>
        <a:srgbClr val="D8D6BE"/>
      </a:lt2>
      <a:accent1>
        <a:srgbClr val="A9A57C"/>
      </a:accent1>
      <a:accent2>
        <a:srgbClr val="9CBEBD"/>
      </a:accent2>
      <a:accent3>
        <a:srgbClr val="D2CB6C"/>
      </a:accent3>
      <a:accent4>
        <a:srgbClr val="95A39D"/>
      </a:accent4>
      <a:accent5>
        <a:srgbClr val="C89F5D"/>
      </a:accent5>
      <a:accent6>
        <a:srgbClr val="B1A089"/>
      </a:accent6>
      <a:hlink>
        <a:srgbClr val="D25814"/>
      </a:hlink>
      <a:folHlink>
        <a:srgbClr val="849A0A"/>
      </a:folHlink>
    </a:clrScheme>
    <a:fontScheme name="Integral">
      <a:majorFont>
        <a:latin typeface="Tw Cen MT Condensed" panose="020B0606020104020203"/>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w Cen MT" panose="020B0602020104020603"/>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Integral">
      <a:fillStyleLst>
        <a:solidFill>
          <a:schemeClr val="phClr"/>
        </a:solidFill>
        <a:gradFill rotWithShape="1">
          <a:gsLst>
            <a:gs pos="0">
              <a:schemeClr val="phClr">
                <a:tint val="83000"/>
                <a:satMod val="100000"/>
                <a:lumMod val="100000"/>
              </a:schemeClr>
            </a:gs>
            <a:gs pos="100000">
              <a:schemeClr val="phClr">
                <a:tint val="61000"/>
                <a:satMod val="150000"/>
                <a:lumMod val="100000"/>
              </a:schemeClr>
            </a:gs>
          </a:gsLst>
          <a:path path="circle">
            <a:fillToRect l="100000" t="100000" r="100000" b="100000"/>
          </a:path>
        </a:gradFill>
        <a:gradFill rotWithShape="1">
          <a:gsLst>
            <a:gs pos="0">
              <a:schemeClr val="phClr">
                <a:tint val="100000"/>
                <a:shade val="85000"/>
                <a:satMod val="100000"/>
                <a:lumMod val="100000"/>
              </a:schemeClr>
            </a:gs>
            <a:gs pos="100000">
              <a:schemeClr val="phClr">
                <a:tint val="90000"/>
                <a:shade val="100000"/>
                <a:satMod val="150000"/>
                <a:lumMod val="100000"/>
              </a:schemeClr>
            </a:gs>
          </a:gsLst>
          <a:path path="circle">
            <a:fillToRect l="100000" t="100000" r="100000" b="100000"/>
          </a:path>
        </a:gradFill>
      </a:fillStyleLst>
      <a:lnStyleLst>
        <a:ln w="9525" cap="flat" cmpd="sng" algn="ctr">
          <a:solidFill>
            <a:schemeClr val="phClr"/>
          </a:solidFill>
          <a:prstDash val="solid"/>
        </a:ln>
        <a:ln w="15875"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outerShdw blurRad="50800" dist="12700" dir="5400000" algn="ctr" rotWithShape="0">
              <a:srgbClr val="000000">
                <a:alpha val="50000"/>
              </a:srgbClr>
            </a:outerShdw>
          </a:effectLst>
        </a:effectStyle>
        <a:effectStyle>
          <a:effectLst>
            <a:outerShdw blurRad="76200" dist="25400" dir="5400000" algn="ctr" rotWithShape="0">
              <a:srgbClr val="000000">
                <a:alpha val="60000"/>
              </a:srgbClr>
            </a:outerShdw>
          </a:effectLst>
          <a:scene3d>
            <a:camera prst="orthographicFront">
              <a:rot lat="0" lon="0" rev="0"/>
            </a:camera>
            <a:lightRig rig="flat" dir="t">
              <a:rot lat="0" lon="0" rev="3600000"/>
            </a:lightRig>
          </a:scene3d>
          <a:sp3d contourW="12700" prstMaterial="flat">
            <a:bevelT w="38100" h="44450" prst="angle"/>
            <a:contourClr>
              <a:schemeClr val="phClr">
                <a:shade val="35000"/>
                <a:satMod val="160000"/>
              </a:schemeClr>
            </a:contourClr>
          </a:sp3d>
        </a:effectStyle>
      </a:effectStyleLst>
      <a:bgFillStyleLst>
        <a:solidFill>
          <a:schemeClr val="phClr"/>
        </a:solidFill>
        <a:solidFill>
          <a:schemeClr val="phClr">
            <a:tint val="95000"/>
            <a:shade val="85000"/>
            <a:satMod val="125000"/>
          </a:schemeClr>
        </a:solidFill>
        <a:blipFill rotWithShape="1">
          <a:blip xmlns:r="http://schemas.openxmlformats.org/officeDocument/2006/relationships" r:embed="rId1">
            <a:duotone>
              <a:schemeClr val="phClr">
                <a:tint val="95000"/>
                <a:shade val="74000"/>
                <a:satMod val="230000"/>
              </a:schemeClr>
              <a:schemeClr val="phClr">
                <a:tint val="92000"/>
                <a:shade val="69000"/>
                <a:satMod val="250000"/>
              </a:schemeClr>
            </a:duotone>
          </a:blip>
          <a:tile tx="0" ty="0" sx="40000" sy="40000" flip="none" algn="tl"/>
        </a:blipFill>
      </a:bgFillStyleLst>
    </a:fmtScheme>
  </a:themeElements>
  <a:objectDefaults/>
  <a:extraClrSchemeLst/>
  <a:extLst>
    <a:ext uri="{05A4C25C-085E-4340-85A3-A5531E510DB2}">
      <thm15:themeFamily xmlns:thm15="http://schemas.microsoft.com/office/thememl/2012/main" name="Integral" id="{3577F8C9-A904-41D8-97D2-FD898F53F20E}" vid="{4825F1AF-8DBC-4E3D-9F3D-688338DA83FC}"/>
    </a:ext>
  </a:extLst>
</a:theme>
</file>

<file path=ppt/theme/theme2.xml><?xml version="1.0" encoding="utf-8"?>
<a:theme xmlns:a="http://schemas.openxmlformats.org/drawingml/2006/main" name="Office Theme">
  <a:themeElements>
    <a:clrScheme name="TechComputer">
      <a:dk1>
        <a:srgbClr val="000000"/>
      </a:dk1>
      <a:lt1>
        <a:sysClr val="window" lastClr="FFFFFF"/>
      </a:lt1>
      <a:dk2>
        <a:srgbClr val="4D4D4D"/>
      </a:dk2>
      <a:lt2>
        <a:srgbClr val="DDDDDD"/>
      </a:lt2>
      <a:accent1>
        <a:srgbClr val="92D050"/>
      </a:accent1>
      <a:accent2>
        <a:srgbClr val="F7C331"/>
      </a:accent2>
      <a:accent3>
        <a:srgbClr val="47B8C7"/>
      </a:accent3>
      <a:accent4>
        <a:srgbClr val="B074BA"/>
      </a:accent4>
      <a:accent5>
        <a:srgbClr val="F34D47"/>
      </a:accent5>
      <a:accent6>
        <a:srgbClr val="FA8F30"/>
      </a:accent6>
      <a:hlink>
        <a:srgbClr val="47B8C7"/>
      </a:hlink>
      <a:folHlink>
        <a:srgbClr val="969696"/>
      </a:folHlink>
    </a:clrScheme>
    <a:fontScheme name="Consolas-Candara">
      <a:majorFont>
        <a:latin typeface="Consolas"/>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ndara"/>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TechComputer">
      <a:dk1>
        <a:srgbClr val="000000"/>
      </a:dk1>
      <a:lt1>
        <a:sysClr val="window" lastClr="FFFFFF"/>
      </a:lt1>
      <a:dk2>
        <a:srgbClr val="4D4D4D"/>
      </a:dk2>
      <a:lt2>
        <a:srgbClr val="DDDDDD"/>
      </a:lt2>
      <a:accent1>
        <a:srgbClr val="92D050"/>
      </a:accent1>
      <a:accent2>
        <a:srgbClr val="F7C331"/>
      </a:accent2>
      <a:accent3>
        <a:srgbClr val="47B8C7"/>
      </a:accent3>
      <a:accent4>
        <a:srgbClr val="B074BA"/>
      </a:accent4>
      <a:accent5>
        <a:srgbClr val="F34D47"/>
      </a:accent5>
      <a:accent6>
        <a:srgbClr val="FA8F30"/>
      </a:accent6>
      <a:hlink>
        <a:srgbClr val="47B8C7"/>
      </a:hlink>
      <a:folHlink>
        <a:srgbClr val="969696"/>
      </a:folHlink>
    </a:clrScheme>
    <a:fontScheme name="Consolas-Candara">
      <a:majorFont>
        <a:latin typeface="Consolas"/>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ndara"/>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item1.xml><?xml version="1.0" encoding="utf-8"?>
<?mso-contentType ?>
<FormTemplates xmlns="http://schemas.microsoft.com/sharepoint/v3/contenttype/forms">
  <Display>DocumentLibraryForm</Display>
  <Edit>AssetEditForm</Edit>
  <New>DocumentLibraryForm</New>
</FormTemplates>
</file>

<file path=customXml/itemProps1.xml><?xml version="1.0" encoding="utf-8"?>
<ds:datastoreItem xmlns:ds="http://schemas.openxmlformats.org/officeDocument/2006/customXml" ds:itemID="{746CFF6F-D9AA-4BC0-911A-0A1356771912}">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Integral</Template>
  <TotalTime>4671</TotalTime>
  <Words>1245</Words>
  <Application>Microsoft Office PowerPoint</Application>
  <PresentationFormat>Widescreen</PresentationFormat>
  <Paragraphs>156</Paragraphs>
  <Slides>24</Slides>
  <Notes>2</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24</vt:i4>
      </vt:variant>
    </vt:vector>
  </HeadingPairs>
  <TitlesOfParts>
    <vt:vector size="32" baseType="lpstr">
      <vt:lpstr>-apple-system</vt:lpstr>
      <vt:lpstr>Candara</vt:lpstr>
      <vt:lpstr>Figtree</vt:lpstr>
      <vt:lpstr>Tw Cen MT</vt:lpstr>
      <vt:lpstr>Tw Cen MT Condensed</vt:lpstr>
      <vt:lpstr>Wingdings</vt:lpstr>
      <vt:lpstr>Wingdings 3</vt:lpstr>
      <vt:lpstr>Integral</vt:lpstr>
      <vt:lpstr>A Catholic introduction to artificial intelligence Class 1 lecture</vt:lpstr>
      <vt:lpstr>Opening Prayer</vt:lpstr>
      <vt:lpstr>What you will learn in this class</vt:lpstr>
      <vt:lpstr>Catholic Church view of Science</vt:lpstr>
      <vt:lpstr>Course objectives</vt:lpstr>
      <vt:lpstr>Course requirements</vt:lpstr>
      <vt:lpstr>Course expectations</vt:lpstr>
      <vt:lpstr>Academic Integrity Policy (AIP) </vt:lpstr>
      <vt:lpstr>Assessment overview</vt:lpstr>
      <vt:lpstr>What is AI?</vt:lpstr>
      <vt:lpstr>Self-Awareness</vt:lpstr>
      <vt:lpstr>The Big Picture of AI</vt:lpstr>
      <vt:lpstr>most AI in the world is</vt:lpstr>
      <vt:lpstr>Types of ai by market share</vt:lpstr>
      <vt:lpstr>Ai capabilities</vt:lpstr>
      <vt:lpstr>Differences between cs, ml, and dl</vt:lpstr>
      <vt:lpstr>Where Is AI Being Used Today?</vt:lpstr>
      <vt:lpstr>It’s Been Around a Long Time</vt:lpstr>
      <vt:lpstr>Ethics and Bias Teasers </vt:lpstr>
      <vt:lpstr>assignments</vt:lpstr>
      <vt:lpstr>PowerPoint Presentation</vt:lpstr>
      <vt:lpstr>Prayer to  St. Michael Archangel</vt:lpstr>
      <vt:lpstr>“AI” In Hollywood</vt:lpstr>
      <vt:lpstr>Resources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goddud</dc:creator>
  <cp:keywords/>
  <cp:lastModifiedBy>Dan Goddu</cp:lastModifiedBy>
  <cp:revision>51</cp:revision>
  <dcterms:created xsi:type="dcterms:W3CDTF">2016-07-18T21:49:12Z</dcterms:created>
  <dcterms:modified xsi:type="dcterms:W3CDTF">2026-07-22T19:48:47Z</dcterms:modified>
  <cp:version/>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TemplateID">
    <vt:lpwstr>TC029010269991</vt:lpwstr>
  </property>
</Properties>
</file>