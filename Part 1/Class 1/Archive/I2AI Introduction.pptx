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8"/>
  </p:notesMasterIdLst>
  <p:handoutMasterIdLst>
    <p:handoutMasterId r:id="rId19"/>
  </p:handoutMasterIdLst>
  <p:sldIdLst>
    <p:sldId id="256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2" r:id="rId13"/>
    <p:sldId id="273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B7CBBFC-9118-400D-9A92-021D0DA30BA9}">
          <p14:sldIdLst>
            <p14:sldId id="256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Untitled Section" id="{BE55955C-84BE-48BD-ABF0-4C19296E7EC1}">
          <p14:sldIdLst>
            <p14:sldId id="268"/>
            <p14:sldId id="272"/>
            <p14:sldId id="273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2A2767-FEC0-45D8-A250-3A0CECEC10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D87BEA-720A-4B01-983C-6493C00177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38802-F28A-42D1-9BCA-40E34B52D6F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F7142-7B6D-4E82-A762-17951F139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A5D6A-4E5C-4EA7-A13B-15A02BB533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A98BC-2DB8-47A3-A77F-B9E32C2662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6843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5794D-BDB5-4811-AA4A-B25E4EF28521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B1A04-13E8-48CD-97F9-AC2568E1A8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999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B1A04-13E8-48CD-97F9-AC2568E1A8D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305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41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36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801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33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59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12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5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6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866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196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256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2241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389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244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544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616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47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8522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email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88D5DFD-FA42-4EB0-B24E-4180C0CC5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CC864817-5955-484B-9D1F-9BC8DB739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280C083F-71A6-4E55-AE35-586518FE2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 cstate="email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 descr="Lightbulb">
            <a:extLst>
              <a:ext uri="{FF2B5EF4-FFF2-40B4-BE49-F238E27FC236}">
                <a16:creationId xmlns:a16="http://schemas.microsoft.com/office/drawing/2014/main" id="{AC06F95D-BA5D-4DEE-93EF-3FE3173D13F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D44056DF-7985-4692-968A-466E9E6AF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15" name="Round Diagonal Corner Rectangle 7">
              <a:extLst>
                <a:ext uri="{FF2B5EF4-FFF2-40B4-BE49-F238E27FC236}">
                  <a16:creationId xmlns:a16="http://schemas.microsoft.com/office/drawing/2014/main" id="{B414A174-532A-4602-934F-9858D1D86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40B0C0C-7F94-4725-8108-62B3B7A5A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17" name="Freeform 32">
                <a:extLst>
                  <a:ext uri="{FF2B5EF4-FFF2-40B4-BE49-F238E27FC236}">
                    <a16:creationId xmlns:a16="http://schemas.microsoft.com/office/drawing/2014/main" id="{367EAC5B-1891-480A-A3AD-B9F6A88FAC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3">
                <a:extLst>
                  <a:ext uri="{FF2B5EF4-FFF2-40B4-BE49-F238E27FC236}">
                    <a16:creationId xmlns:a16="http://schemas.microsoft.com/office/drawing/2014/main" id="{E33FF633-15BA-464F-8F5B-26C56665F7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4">
                <a:extLst>
                  <a:ext uri="{FF2B5EF4-FFF2-40B4-BE49-F238E27FC236}">
                    <a16:creationId xmlns:a16="http://schemas.microsoft.com/office/drawing/2014/main" id="{0C949DF6-E66B-4DB8-AB52-30CA781B4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id="{309C2298-5EF9-4B09-8995-014F6D3BFF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5">
                <a:extLst>
                  <a:ext uri="{FF2B5EF4-FFF2-40B4-BE49-F238E27FC236}">
                    <a16:creationId xmlns:a16="http://schemas.microsoft.com/office/drawing/2014/main" id="{319B2AFC-EBFF-477C-A364-6D575BE5AA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6">
                <a:extLst>
                  <a:ext uri="{FF2B5EF4-FFF2-40B4-BE49-F238E27FC236}">
                    <a16:creationId xmlns:a16="http://schemas.microsoft.com/office/drawing/2014/main" id="{CC6B7D67-F2F8-4B07-B954-EAC9135B2B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8">
                <a:extLst>
                  <a:ext uri="{FF2B5EF4-FFF2-40B4-BE49-F238E27FC236}">
                    <a16:creationId xmlns:a16="http://schemas.microsoft.com/office/drawing/2014/main" id="{7FF1659D-33DA-4F62-8567-A54020D2E2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9110F572-DC3D-4AB3-B731-B73BD65057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A2F7D0E9-68CE-40F9-B0E9-F915103ECF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Rectangle 41">
                <a:extLst>
                  <a:ext uri="{FF2B5EF4-FFF2-40B4-BE49-F238E27FC236}">
                    <a16:creationId xmlns:a16="http://schemas.microsoft.com/office/drawing/2014/main" id="{AB69A438-1FB7-454A-A3E9-0C329643CD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32">
                <a:extLst>
                  <a:ext uri="{FF2B5EF4-FFF2-40B4-BE49-F238E27FC236}">
                    <a16:creationId xmlns:a16="http://schemas.microsoft.com/office/drawing/2014/main" id="{E64598D0-3A2C-4570-9E7C-C52C89549B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33">
                <a:extLst>
                  <a:ext uri="{FF2B5EF4-FFF2-40B4-BE49-F238E27FC236}">
                    <a16:creationId xmlns:a16="http://schemas.microsoft.com/office/drawing/2014/main" id="{CC17CF42-8908-477B-9F36-DA1306CA01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34">
                <a:extLst>
                  <a:ext uri="{FF2B5EF4-FFF2-40B4-BE49-F238E27FC236}">
                    <a16:creationId xmlns:a16="http://schemas.microsoft.com/office/drawing/2014/main" id="{A2457851-D4A0-404C-BF3F-99AE00B9E9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37">
                <a:extLst>
                  <a:ext uri="{FF2B5EF4-FFF2-40B4-BE49-F238E27FC236}">
                    <a16:creationId xmlns:a16="http://schemas.microsoft.com/office/drawing/2014/main" id="{ECC300FA-EE4A-489E-9A47-79BEBF05DC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35">
                <a:extLst>
                  <a:ext uri="{FF2B5EF4-FFF2-40B4-BE49-F238E27FC236}">
                    <a16:creationId xmlns:a16="http://schemas.microsoft.com/office/drawing/2014/main" id="{0D1F26E2-902B-416B-A1DB-80DAF78D8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36">
                <a:extLst>
                  <a:ext uri="{FF2B5EF4-FFF2-40B4-BE49-F238E27FC236}">
                    <a16:creationId xmlns:a16="http://schemas.microsoft.com/office/drawing/2014/main" id="{491346A0-BF6D-45A5-806A-2150768722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8">
                <a:extLst>
                  <a:ext uri="{FF2B5EF4-FFF2-40B4-BE49-F238E27FC236}">
                    <a16:creationId xmlns:a16="http://schemas.microsoft.com/office/drawing/2014/main" id="{A8A5AAC9-38FD-4A03-AB91-236F2AAC62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39">
                <a:extLst>
                  <a:ext uri="{FF2B5EF4-FFF2-40B4-BE49-F238E27FC236}">
                    <a16:creationId xmlns:a16="http://schemas.microsoft.com/office/drawing/2014/main" id="{7AD4105C-55AA-47FF-AC5D-5BCB0B78C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40">
                <a:extLst>
                  <a:ext uri="{FF2B5EF4-FFF2-40B4-BE49-F238E27FC236}">
                    <a16:creationId xmlns:a16="http://schemas.microsoft.com/office/drawing/2014/main" id="{1C4B42B1-B112-4057-82C3-E5AF3BC7F6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Rectangle 41">
                <a:extLst>
                  <a:ext uri="{FF2B5EF4-FFF2-40B4-BE49-F238E27FC236}">
                    <a16:creationId xmlns:a16="http://schemas.microsoft.com/office/drawing/2014/main" id="{C8B37395-3651-4E66-A62E-31529FABC8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D687081-16D7-4BC5-A7DB-E70117439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/>
              <a:t>Modern</a:t>
            </a:r>
            <a:br>
              <a:rPr lang="en-US" dirty="0"/>
            </a:br>
            <a:r>
              <a:rPr lang="en-US" dirty="0"/>
              <a:t>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1851F-203A-4F8E-AA75-478526ABA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6D540F-1E2F-416F-819F-D8216BC8F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75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4BD3317-6ABA-3F17-98CD-743B502F8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75D89-D8F6-4F7A-BDEB-4391A7704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228600" indent="-228600" algn="l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Machine learning</a:t>
            </a:r>
            <a:r>
              <a:rPr lang="en-US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- This serves as a fundamental element of an AI system, allowing us to "train" a computer model to generate predictions and derive insights from data.</a:t>
            </a:r>
          </a:p>
          <a:p>
            <a:pPr marL="228600" indent="-228600" algn="l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Computer vision</a:t>
            </a:r>
            <a:r>
              <a:rPr lang="en-US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- The ability of AI to understand and interpret visual information from cameras, videos, and images.</a:t>
            </a:r>
          </a:p>
          <a:p>
            <a:pPr marL="228600" indent="-228600" algn="l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Natural language processing</a:t>
            </a:r>
            <a:r>
              <a:rPr lang="en-US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- A subset of AI that enables computers to comprehend and respond to written or spoken language.</a:t>
            </a:r>
          </a:p>
        </p:txBody>
      </p:sp>
    </p:spTree>
    <p:extLst>
      <p:ext uri="{BB962C8B-B14F-4D97-AF65-F5344CB8AC3E}">
        <p14:creationId xmlns:p14="http://schemas.microsoft.com/office/powerpoint/2010/main" val="3552452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4BD3317-6ABA-3F17-98CD-743B502F8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75D89-D8F6-4F7A-BDEB-4391A7704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28600" indent="-228600" algn="l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Document intelligence</a:t>
            </a:r>
            <a:r>
              <a:rPr lang="en-US" sz="200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- AI functionalities that focus on managing, processing, and utilizing large amounts of data found in various forms and documents.</a:t>
            </a:r>
          </a:p>
          <a:p>
            <a:pPr marL="228600" indent="-228600" algn="l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Knowledge mining</a:t>
            </a:r>
            <a:r>
              <a:rPr lang="en-US" sz="200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- AI capabilities that extract valuable information from extensive, often unstructured data sets to build a searchable repository of knowledge.</a:t>
            </a:r>
          </a:p>
          <a:p>
            <a:pPr marL="228600" indent="-228600" algn="l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Generative AI</a:t>
            </a:r>
            <a:r>
              <a:rPr lang="en-US" sz="200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- The branch of AI that is capable of producing original content across various formats, including natural language, images, code, and other mediums.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6103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CC03B9-B793-6868-A42F-369932865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730" y="833075"/>
            <a:ext cx="9602540" cy="5191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8944B4-D5FB-EC0B-8941-944F6B653470}"/>
              </a:ext>
            </a:extLst>
          </p:cNvPr>
          <p:cNvSpPr txBox="1"/>
          <p:nvPr/>
        </p:nvSpPr>
        <p:spPr>
          <a:xfrm>
            <a:off x="3119196" y="6136001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https://learn.microsoft.com/en-us/training/modules/get-started-ai-fundamentals/7-challenges-with-ai</a:t>
            </a:r>
          </a:p>
        </p:txBody>
      </p:sp>
    </p:spTree>
    <p:extLst>
      <p:ext uri="{BB962C8B-B14F-4D97-AF65-F5344CB8AC3E}">
        <p14:creationId xmlns:p14="http://schemas.microsoft.com/office/powerpoint/2010/main" val="1897027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5FE2-E6BB-239D-E65F-A550F3293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Industry worries about ethical aspects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5442B-8099-EA57-A85C-FE8B80DB8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https://learn.microsoft.com/en-us/training/modules/get-started-ai-fundamentals/8a-understand-responsible-ai</a:t>
            </a:r>
          </a:p>
        </p:txBody>
      </p:sp>
    </p:spTree>
    <p:extLst>
      <p:ext uri="{BB962C8B-B14F-4D97-AF65-F5344CB8AC3E}">
        <p14:creationId xmlns:p14="http://schemas.microsoft.com/office/powerpoint/2010/main" val="2729765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F5BCE-844E-FFD2-BDA3-88D1A8DA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43511-E0D8-8F03-087D-EE5F97F60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ECECEC"/>
                </a:solidFill>
                <a:effectLst/>
                <a:latin typeface="-apple-system"/>
              </a:rPr>
              <a:t>Who are you and what can you do?</a:t>
            </a:r>
          </a:p>
          <a:p>
            <a:r>
              <a:rPr lang="en-US" b="0" i="0" dirty="0">
                <a:solidFill>
                  <a:srgbClr val="ECECEC"/>
                </a:solidFill>
                <a:effectLst/>
                <a:latin typeface="-apple-system"/>
              </a:rPr>
              <a:t>Why is the sky blue?</a:t>
            </a:r>
            <a:endParaRPr lang="en-US" dirty="0">
              <a:solidFill>
                <a:srgbClr val="ECECEC"/>
              </a:solidFill>
              <a:latin typeface="-apple-system"/>
            </a:endParaRPr>
          </a:p>
          <a:p>
            <a:r>
              <a:rPr lang="en-US" b="0" i="0" dirty="0">
                <a:solidFill>
                  <a:srgbClr val="ECECEC"/>
                </a:solidFill>
                <a:effectLst/>
                <a:latin typeface="-apple-system"/>
              </a:rPr>
              <a:t>When Grant was 8, his brother was half his age. Now, Grant is 14. How old is his brother?</a:t>
            </a:r>
          </a:p>
          <a:p>
            <a:r>
              <a:rPr lang="en-US" b="0" i="0" dirty="0">
                <a:solidFill>
                  <a:srgbClr val="ECECEC"/>
                </a:solidFill>
                <a:effectLst/>
                <a:latin typeface="-apple-system"/>
              </a:rPr>
              <a:t>There are three apples in the basket, and you take away 2. How many apples do you have now?</a:t>
            </a:r>
            <a:endParaRPr lang="en-US" dirty="0">
              <a:solidFill>
                <a:srgbClr val="ECECEC"/>
              </a:solidFill>
              <a:latin typeface="-apple-system"/>
            </a:endParaRPr>
          </a:p>
          <a:p>
            <a:r>
              <a:rPr lang="en-US" b="0" i="0" dirty="0">
                <a:solidFill>
                  <a:srgbClr val="ECECEC"/>
                </a:solidFill>
                <a:effectLst/>
                <a:latin typeface="-apple-system"/>
              </a:rPr>
              <a:t>Two fathers and two sons spent the day fishing but only caught 3 fish. This was enough for each of the to have one fix. How is this possible?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538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0425A-ADF6-D9A3-CAB9-1143560E9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Openwebui.com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C1E14-FF37-BCDD-CACF-62188735A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at docs</a:t>
            </a:r>
          </a:p>
          <a:p>
            <a:r>
              <a:rPr lang="en-US" dirty="0"/>
              <a:t>How to add </a:t>
            </a:r>
            <a:r>
              <a:rPr lang="en-US"/>
              <a:t>users: https</a:t>
            </a:r>
            <a:r>
              <a:rPr lang="en-US" dirty="0"/>
              <a:t>://www.youtube.com/watch?v=DhRvV5o6SCU</a:t>
            </a:r>
          </a:p>
        </p:txBody>
      </p:sp>
    </p:spTree>
    <p:extLst>
      <p:ext uri="{BB962C8B-B14F-4D97-AF65-F5344CB8AC3E}">
        <p14:creationId xmlns:p14="http://schemas.microsoft.com/office/powerpoint/2010/main" val="181707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343436D-0E7C-1DEC-FF59-CDD081961ED3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rcRect l="44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651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91486E-955F-ABCE-15E3-2343B3CB7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56" y="380574"/>
            <a:ext cx="9945488" cy="609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834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CA4809-A7BB-7731-3E57-77D4E3816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37" y="443894"/>
            <a:ext cx="4172902" cy="20246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A64600-2906-197A-1D7D-409444831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036" y="2684041"/>
            <a:ext cx="5469928" cy="1705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E4AACC-FA91-1425-DE87-2527AF493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912" y="4704385"/>
            <a:ext cx="6368103" cy="17054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998057-7479-26C6-20D2-5C33A1B38F51}"/>
              </a:ext>
            </a:extLst>
          </p:cNvPr>
          <p:cNvSpPr txBox="1"/>
          <p:nvPr/>
        </p:nvSpPr>
        <p:spPr>
          <a:xfrm>
            <a:off x="6261651" y="590186"/>
            <a:ext cx="4671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 run a business that sells running shoes. Someone goes to my website to signup for a newsletter.</a:t>
            </a:r>
          </a:p>
        </p:txBody>
      </p:sp>
    </p:spTree>
    <p:extLst>
      <p:ext uri="{BB962C8B-B14F-4D97-AF65-F5344CB8AC3E}">
        <p14:creationId xmlns:p14="http://schemas.microsoft.com/office/powerpoint/2010/main" val="1859735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A36805-558E-4C78-4555-D269AA788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2" y="328180"/>
            <a:ext cx="11041016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97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9C16DD-F009-E3A1-D23D-897591F2A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44" y="366285"/>
            <a:ext cx="11002911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552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43BCD4D4-0FCB-418E-9D58-033B2DB41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3E363D-4793-4E9B-88F5-58007346C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AA3F2319-3466-4D84-ABE4-77BC773F3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A262DA-2E2C-7287-9668-4ECEEBC53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1" y="965201"/>
            <a:ext cx="10159998" cy="4927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49925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8C32A8-E4D9-473C-833A-8950C6E7C0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03EF818-EDF6-480C-9B86-0A3B979BCC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18BD99-41E9-467C-9777-74587F83171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design</Template>
  <TotalTime>3111</TotalTime>
  <Words>343</Words>
  <Application>Microsoft Office PowerPoint</Application>
  <PresentationFormat>Widescreen</PresentationFormat>
  <Paragraphs>23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-apple-system</vt:lpstr>
      <vt:lpstr>Arial</vt:lpstr>
      <vt:lpstr>Calibri</vt:lpstr>
      <vt:lpstr>Segoe UI</vt:lpstr>
      <vt:lpstr>Tw Cen MT</vt:lpstr>
      <vt:lpstr>Circuit</vt:lpstr>
      <vt:lpstr>Modern design</vt:lpstr>
      <vt:lpstr>COMPONENTS OF ai</vt:lpstr>
      <vt:lpstr>COMPONENTS OF ai</vt:lpstr>
      <vt:lpstr>PowerPoint Presentation</vt:lpstr>
      <vt:lpstr>How Industry worries about ethical aspects of ai</vt:lpstr>
      <vt:lpstr>Prompts</vt:lpstr>
      <vt:lpstr>Openwebui.com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Goddu</dc:creator>
  <cp:lastModifiedBy>Dan Goddu</cp:lastModifiedBy>
  <cp:revision>12</cp:revision>
  <dcterms:created xsi:type="dcterms:W3CDTF">2025-02-18T16:50:15Z</dcterms:created>
  <dcterms:modified xsi:type="dcterms:W3CDTF">2025-11-08T19:53:27Z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