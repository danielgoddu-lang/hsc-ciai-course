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14"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78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is Class 1 of A Catholic Introduction to AI. Today: how the course works, and a first real definition of what AI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Minsky's question reframes the whole field. We tend to assume intelligence means thinking like us. AI scientists ask something narrower and stranger.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map for today. Five things you'll be able to do by the end of class.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practical part: how this course is built and what's expected of you.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Church sees science as a way to explore God's creation. Technology is good when it respects human dignity and is guided by moral discernment. This course holds faith and technology together.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we'll use. Most need only a free account or none at all. We use them to learn AI honestly — never to shortcut your own thinking.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course. The recording is a refresher, not a substitute. Come having met one of the prerequisites, participate with your mic, and hold to the academic integrity policy.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grade is weighted toward applying what you learn: the final project is the biggest piece, essays next. Quizzes are light. Participation genuinely counts.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today: a real, scientific definition of AI — not the movie version.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define AI in your own words. Then the reframe — scientists don't ask whether a machine thinks like you. They ask whether it can display intelligence at all, and what it would have to do to prove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judge a machine, first name what intelligence looks like in us. These seven capacities are the yardstick we'll hold AI against.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Scientists sort AI four ways, along two axes: acting vs thinking, and humanly vs rationally. Each cell has a familiar example.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to remember from today. Strip away the hype and AI comes down to agents: things that perceive their world and act on it to reach a goal.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loop drawn out. The agent senses the environment (percepts coming in) and acts back on it (actions going out). Round and round — that cycle is the whole idea.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comes in three levels of capability. Almost everything real today is narrow. General and superintelligent AI are still hypothetical — that gap is where a lot of the hype lives.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use AI, ML, and deep learning as if they're the same word. They're not — they nest inside each other.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it as nesting dolls. Computer science is the whole field. AI is part of it, ML is part of AI, deep learning is part of ML. Data science overlaps all of them because everything here runs on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main flavors of machine learning. Supervised: you give the right answers (labels) and it learns to predict them. Unsupervised: no answers given — it finds the patterns itself.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use AI constantly. Point at each example and ask who's used it today. The goal: make the invisible visible.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teaser for where this course is going. AI gets things wrong, and its data can carry human bias. Hold the two discussion questions open — don't resolve them today.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exit ticket. Have everyone answer both questions before they leave — it sets up next week and tells me where the class is starting from.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047750" y="914400"/>
            <a:ext cx="1569137" cy="33909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CAE62"/>
                </a:solidFill>
                <a:latin typeface="IBM Plex Mono" pitchFamily="34" charset="0"/>
                <a:ea typeface="IBM Plex Mono" pitchFamily="34" charset="-122"/>
                <a:cs typeface="IBM Plex Mono" pitchFamily="34" charset="-120"/>
              </a:rPr>
              <a:t>CLASS 01</a:t>
            </a:r>
            <a:endParaRPr lang="en-US" sz="1800" dirty="0"/>
          </a:p>
        </p:txBody>
      </p:sp>
      <p:sp>
        <p:nvSpPr>
          <p:cNvPr id="3" name="Shape 1"/>
          <p:cNvSpPr/>
          <p:nvPr/>
        </p:nvSpPr>
        <p:spPr>
          <a:xfrm>
            <a:off x="2645688" y="1060133"/>
            <a:ext cx="438150" cy="9525"/>
          </a:xfrm>
          <a:prstGeom prst="rect">
            <a:avLst/>
          </a:prstGeom>
          <a:solidFill>
            <a:srgbClr val="CCAE62"/>
          </a:solidFill>
          <a:ln/>
        </p:spPr>
      </p:sp>
      <p:sp>
        <p:nvSpPr>
          <p:cNvPr id="4" name="Text 2"/>
          <p:cNvSpPr/>
          <p:nvPr/>
        </p:nvSpPr>
        <p:spPr>
          <a:xfrm>
            <a:off x="3255288" y="914400"/>
            <a:ext cx="5688039" cy="33909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CAE62"/>
                </a:solidFill>
                <a:latin typeface="IBM Plex Mono" pitchFamily="34" charset="0"/>
                <a:ea typeface="IBM Plex Mono" pitchFamily="34" charset="-122"/>
                <a:cs typeface="IBM Plex Mono" pitchFamily="34" charset="-120"/>
              </a:rPr>
              <a:t>COURSE OVERVIEW &amp; WHAT IS AI?</a:t>
            </a:r>
            <a:endParaRPr lang="en-US" sz="1800" dirty="0"/>
          </a:p>
        </p:txBody>
      </p:sp>
      <p:sp>
        <p:nvSpPr>
          <p:cNvPr id="5" name="Text 3"/>
          <p:cNvSpPr/>
          <p:nvPr/>
        </p:nvSpPr>
        <p:spPr>
          <a:xfrm>
            <a:off x="1047750" y="3415903"/>
            <a:ext cx="14519910" cy="2058829"/>
          </a:xfrm>
          <a:prstGeom prst="rect">
            <a:avLst/>
          </a:prstGeom>
          <a:noFill/>
          <a:ln/>
        </p:spPr>
        <p:txBody>
          <a:bodyPr wrap="square" lIns="25400" tIns="25400" rIns="25400" bIns="25400" rtlCol="0" anchor="t">
            <a:normAutofit/>
          </a:bodyPr>
          <a:lstStyle/>
          <a:p>
            <a:pPr marL="0" indent="0" algn="l">
              <a:lnSpc>
                <a:spcPct val="102000"/>
              </a:lnSpc>
              <a:buNone/>
            </a:pPr>
            <a:r>
              <a:rPr lang="en-US" sz="7800" b="1" kern="0" spc="-78" dirty="0">
                <a:solidFill>
                  <a:srgbClr val="F4F1E8"/>
                </a:solidFill>
                <a:latin typeface="Spectral" pitchFamily="34" charset="0"/>
                <a:ea typeface="Spectral" pitchFamily="34" charset="-122"/>
                <a:cs typeface="Spectral" pitchFamily="34" charset="-120"/>
              </a:rPr>
              <a:t>A Catholic Introduction to Artificial Intelligence</a:t>
            </a:r>
            <a:endParaRPr lang="en-US" sz="7800" dirty="0"/>
          </a:p>
        </p:txBody>
      </p:sp>
      <p:sp>
        <p:nvSpPr>
          <p:cNvPr id="6" name="Text 4"/>
          <p:cNvSpPr/>
          <p:nvPr/>
        </p:nvSpPr>
        <p:spPr>
          <a:xfrm>
            <a:off x="1047750" y="5760482"/>
            <a:ext cx="11576685" cy="1015365"/>
          </a:xfrm>
          <a:prstGeom prst="rect">
            <a:avLst/>
          </a:prstGeom>
          <a:noFill/>
          <a:ln/>
        </p:spPr>
        <p:txBody>
          <a:bodyPr wrap="square" lIns="25400" tIns="25400" rIns="25400" bIns="25400" rtlCol="0" anchor="t">
            <a:normAutofit/>
          </a:bodyPr>
          <a:lstStyle/>
          <a:p>
            <a:pPr marL="0" indent="0" algn="l">
              <a:lnSpc>
                <a:spcPct val="135000"/>
              </a:lnSpc>
              <a:buNone/>
            </a:pPr>
            <a:r>
              <a:rPr lang="en-US" sz="2850" dirty="0">
                <a:solidFill>
                  <a:srgbClr val="CDD9CF"/>
                </a:solidFill>
                <a:latin typeface="IBM Plex Sans" pitchFamily="34" charset="0"/>
                <a:ea typeface="IBM Plex Sans" pitchFamily="34" charset="-122"/>
                <a:cs typeface="IBM Plex Sans" pitchFamily="34" charset="-120"/>
              </a:rPr>
              <a:t>Integrating faith, ethics, and technology — beginning with one honest question: what is AI, really?</a:t>
            </a:r>
            <a:endParaRPr lang="en-US" sz="2850" dirty="0"/>
          </a:p>
        </p:txBody>
      </p:sp>
      <p:sp>
        <p:nvSpPr>
          <p:cNvPr id="7" name="Text 5"/>
          <p:cNvSpPr/>
          <p:nvPr/>
        </p:nvSpPr>
        <p:spPr>
          <a:xfrm>
            <a:off x="1047750" y="8938260"/>
            <a:ext cx="5455111" cy="472440"/>
          </a:xfrm>
          <a:prstGeom prst="rect">
            <a:avLst/>
          </a:prstGeom>
          <a:noFill/>
          <a:ln/>
        </p:spPr>
        <p:txBody>
          <a:bodyPr wrap="square" lIns="25400" tIns="25400" rIns="25400" bIns="25400" rtlCol="0" anchor="t">
            <a:normAutofit/>
          </a:bodyPr>
          <a:lstStyle/>
          <a:p>
            <a:pPr marL="0" indent="0" algn="l">
              <a:buNone/>
            </a:pPr>
            <a:r>
              <a:rPr lang="en-US" sz="2250" i="1" dirty="0">
                <a:solidFill>
                  <a:srgbClr val="CDD9CF"/>
                </a:solidFill>
                <a:latin typeface="Spectral" pitchFamily="34" charset="0"/>
                <a:ea typeface="Spectral" pitchFamily="34" charset="-122"/>
                <a:cs typeface="Spectral" pitchFamily="34" charset="-120"/>
              </a:rPr>
              <a:t>“Let us think, and discern, before we trust.”</a:t>
            </a:r>
            <a:endParaRPr lang="en-US" sz="2250" dirty="0"/>
          </a:p>
        </p:txBody>
      </p:sp>
      <p:sp>
        <p:nvSpPr>
          <p:cNvPr id="8" name="Text 6"/>
          <p:cNvSpPr/>
          <p:nvPr/>
        </p:nvSpPr>
        <p:spPr>
          <a:xfrm>
            <a:off x="13822681" y="9086850"/>
            <a:ext cx="3759327" cy="323850"/>
          </a:xfrm>
          <a:prstGeom prst="rect">
            <a:avLst/>
          </a:prstGeom>
          <a:noFill/>
          <a:ln/>
        </p:spPr>
        <p:txBody>
          <a:bodyPr wrap="square" lIns="25400" tIns="25400" rIns="25400" bIns="25400" rtlCol="0" anchor="t">
            <a:normAutofit/>
          </a:bodyPr>
          <a:lstStyle/>
          <a:p>
            <a:pPr marL="0" indent="0" algn="l">
              <a:buNone/>
            </a:pPr>
            <a:r>
              <a:rPr lang="en-US" sz="1725" dirty="0">
                <a:solidFill>
                  <a:srgbClr val="9BB0A1"/>
                </a:solidFill>
                <a:latin typeface="IBM Plex Mono" pitchFamily="34" charset="0"/>
                <a:ea typeface="IBM Plex Mono" pitchFamily="34" charset="-122"/>
                <a:cs typeface="IBM Plex Mono" pitchFamily="34" charset="-120"/>
              </a:rPr>
              <a:t>Lecture 1 of the Series †</a:t>
            </a:r>
            <a:endParaRPr lang="en-US" sz="17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428750" y="3161943"/>
            <a:ext cx="16973550" cy="895350"/>
          </a:xfrm>
          <a:prstGeom prst="rect">
            <a:avLst/>
          </a:prstGeom>
          <a:noFill/>
          <a:ln/>
        </p:spPr>
        <p:txBody>
          <a:bodyPr wrap="square" lIns="25400" tIns="25400" rIns="25400" bIns="25400" rtlCol="0" anchor="t">
            <a:normAutofit/>
          </a:bodyPr>
          <a:lstStyle/>
          <a:p>
            <a:pPr marL="0" indent="0" algn="l">
              <a:lnSpc>
                <a:spcPct val="60000"/>
              </a:lnSpc>
              <a:buNone/>
            </a:pPr>
            <a:r>
              <a:rPr lang="en-US" sz="12000" dirty="0">
                <a:solidFill>
                  <a:srgbClr val="CCAE62"/>
                </a:solidFill>
                <a:latin typeface="Spectral" pitchFamily="34" charset="0"/>
                <a:ea typeface="Spectral" pitchFamily="34" charset="-122"/>
                <a:cs typeface="Spectral" pitchFamily="34" charset="-120"/>
              </a:rPr>
              <a:t>“</a:t>
            </a:r>
            <a:endParaRPr lang="en-US" sz="12000" dirty="0"/>
          </a:p>
        </p:txBody>
      </p:sp>
      <p:sp>
        <p:nvSpPr>
          <p:cNvPr id="3" name="Text 1"/>
          <p:cNvSpPr/>
          <p:nvPr/>
        </p:nvSpPr>
        <p:spPr>
          <a:xfrm>
            <a:off x="1428750" y="4019193"/>
            <a:ext cx="14716125" cy="2305705"/>
          </a:xfrm>
          <a:prstGeom prst="rect">
            <a:avLst/>
          </a:prstGeom>
          <a:noFill/>
          <a:ln/>
        </p:spPr>
        <p:txBody>
          <a:bodyPr wrap="square" lIns="25400" tIns="25400" rIns="25400" bIns="25400" rtlCol="0" anchor="t">
            <a:normAutofit/>
          </a:bodyPr>
          <a:lstStyle/>
          <a:p>
            <a:pPr marL="0" indent="0" algn="l">
              <a:lnSpc>
                <a:spcPct val="128000"/>
              </a:lnSpc>
              <a:buNone/>
            </a:pPr>
            <a:r>
              <a:rPr lang="en-US" sz="4650" kern="0" spc="-23" dirty="0">
                <a:solidFill>
                  <a:srgbClr val="F4F1E8"/>
                </a:solidFill>
                <a:latin typeface="Spectral" pitchFamily="34" charset="0"/>
                <a:ea typeface="Spectral" pitchFamily="34" charset="-122"/>
                <a:cs typeface="Spectral" pitchFamily="34" charset="-120"/>
              </a:rPr>
              <a:t>The question is not whether intelligent machines can have any emotions, but whether machines can be intelligent without any emotions.</a:t>
            </a:r>
            <a:endParaRPr lang="en-US" sz="4650" dirty="0"/>
          </a:p>
        </p:txBody>
      </p:sp>
      <p:sp>
        <p:nvSpPr>
          <p:cNvPr id="4" name="Shape 2"/>
          <p:cNvSpPr/>
          <p:nvPr/>
        </p:nvSpPr>
        <p:spPr>
          <a:xfrm>
            <a:off x="1428750" y="6953548"/>
            <a:ext cx="571500" cy="19050"/>
          </a:xfrm>
          <a:prstGeom prst="rect">
            <a:avLst/>
          </a:prstGeom>
          <a:solidFill>
            <a:srgbClr val="CCAE62"/>
          </a:solidFill>
          <a:ln/>
        </p:spPr>
      </p:sp>
      <p:sp>
        <p:nvSpPr>
          <p:cNvPr id="5" name="Text 3"/>
          <p:cNvSpPr/>
          <p:nvPr/>
        </p:nvSpPr>
        <p:spPr>
          <a:xfrm>
            <a:off x="2190750" y="6801148"/>
            <a:ext cx="8706410"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CDD9CF"/>
                </a:solidFill>
                <a:latin typeface="IBM Plex Mono" pitchFamily="34" charset="0"/>
                <a:ea typeface="IBM Plex Mono" pitchFamily="34" charset="-122"/>
                <a:cs typeface="IBM Plex Mono" pitchFamily="34" charset="-120"/>
              </a:rPr>
              <a:t>Marvin Minsky · co-founder of the field of AI</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BY THE END OF THIS CLASS</a:t>
            </a:r>
            <a:endParaRPr lang="en-US" sz="1800" dirty="0"/>
          </a:p>
        </p:txBody>
      </p:sp>
      <p:sp>
        <p:nvSpPr>
          <p:cNvPr id="3" name="Text 1"/>
          <p:cNvSpPr/>
          <p:nvPr/>
        </p:nvSpPr>
        <p:spPr>
          <a:xfrm>
            <a:off x="1047750" y="1253490"/>
            <a:ext cx="17811750" cy="75819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54" dirty="0">
                <a:solidFill>
                  <a:srgbClr val="1C1E1A"/>
                </a:solidFill>
                <a:latin typeface="Spectral" pitchFamily="34" charset="0"/>
                <a:ea typeface="Spectral" pitchFamily="34" charset="-122"/>
                <a:cs typeface="Spectral" pitchFamily="34" charset="-120"/>
              </a:rPr>
              <a:t>Learning Objectives</a:t>
            </a:r>
            <a:endParaRPr lang="en-US" sz="5400" dirty="0"/>
          </a:p>
        </p:txBody>
      </p:sp>
      <p:sp>
        <p:nvSpPr>
          <p:cNvPr id="4" name="Text 2"/>
          <p:cNvSpPr/>
          <p:nvPr/>
        </p:nvSpPr>
        <p:spPr>
          <a:xfrm>
            <a:off x="1047750" y="3286324"/>
            <a:ext cx="514350"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CAB06A"/>
                </a:solidFill>
                <a:latin typeface="Spectral" pitchFamily="34" charset="0"/>
                <a:ea typeface="Spectral" pitchFamily="34" charset="-122"/>
                <a:cs typeface="Spectral" pitchFamily="34" charset="-120"/>
              </a:rPr>
              <a:t>01</a:t>
            </a:r>
            <a:endParaRPr lang="en-US" sz="3000" dirty="0"/>
          </a:p>
        </p:txBody>
      </p:sp>
      <p:sp>
        <p:nvSpPr>
          <p:cNvPr id="5" name="Text 3"/>
          <p:cNvSpPr/>
          <p:nvPr/>
        </p:nvSpPr>
        <p:spPr>
          <a:xfrm>
            <a:off x="1733550" y="3286324"/>
            <a:ext cx="7279577" cy="91821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475" dirty="0">
                <a:solidFill>
                  <a:srgbClr val="1C1E1A"/>
                </a:solidFill>
                <a:latin typeface="IBM Plex Sans" pitchFamily="34" charset="0"/>
                <a:ea typeface="IBM Plex Sans" pitchFamily="34" charset="-122"/>
                <a:cs typeface="IBM Plex Sans" pitchFamily="34" charset="-120"/>
              </a:rPr>
              <a:t>Understand the course objectives, requirements, and expectations.</a:t>
            </a:r>
            <a:endParaRPr lang="en-US" sz="2475" dirty="0"/>
          </a:p>
        </p:txBody>
      </p:sp>
      <p:sp>
        <p:nvSpPr>
          <p:cNvPr id="6" name="Text 4"/>
          <p:cNvSpPr/>
          <p:nvPr/>
        </p:nvSpPr>
        <p:spPr>
          <a:xfrm>
            <a:off x="9486900" y="3286324"/>
            <a:ext cx="514350"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CAB06A"/>
                </a:solidFill>
                <a:latin typeface="Spectral" pitchFamily="34" charset="0"/>
                <a:ea typeface="Spectral" pitchFamily="34" charset="-122"/>
                <a:cs typeface="Spectral" pitchFamily="34" charset="-120"/>
              </a:rPr>
              <a:t>02</a:t>
            </a:r>
            <a:endParaRPr lang="en-US" sz="3000" dirty="0"/>
          </a:p>
        </p:txBody>
      </p:sp>
      <p:sp>
        <p:nvSpPr>
          <p:cNvPr id="7" name="Text 5"/>
          <p:cNvSpPr/>
          <p:nvPr/>
        </p:nvSpPr>
        <p:spPr>
          <a:xfrm>
            <a:off x="10172700" y="3286324"/>
            <a:ext cx="7667828" cy="47815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75" dirty="0">
                <a:solidFill>
                  <a:srgbClr val="1C1E1A"/>
                </a:solidFill>
                <a:latin typeface="IBM Plex Sans" pitchFamily="34" charset="0"/>
                <a:ea typeface="IBM Plex Sans" pitchFamily="34" charset="-122"/>
                <a:cs typeface="IBM Plex Sans" pitchFamily="34" charset="-120"/>
              </a:rPr>
              <a:t>Define </a:t>
            </a:r>
            <a:r>
              <a:rPr lang="en-US" sz="2475" b="1" dirty="0">
                <a:solidFill>
                  <a:srgbClr val="1C1E1A"/>
                </a:solidFill>
                <a:latin typeface="IBM Plex Sans" pitchFamily="34" charset="0"/>
                <a:ea typeface="IBM Plex Sans" pitchFamily="34" charset="-122"/>
                <a:cs typeface="IBM Plex Sans" pitchFamily="34" charset="-120"/>
              </a:rPr>
              <a:t>Artificial Intelligence </a:t>
            </a:r>
            <a:r>
              <a:rPr lang="en-US" sz="2475" dirty="0">
                <a:solidFill>
                  <a:srgbClr val="1C1E1A"/>
                </a:solidFill>
                <a:latin typeface="IBM Plex Sans" pitchFamily="34" charset="0"/>
                <a:ea typeface="IBM Plex Sans" pitchFamily="34" charset="-122"/>
                <a:cs typeface="IBM Plex Sans" pitchFamily="34" charset="-120"/>
              </a:rPr>
              <a:t>in clear, plain terms.</a:t>
            </a:r>
            <a:endParaRPr lang="en-US" sz="2475" dirty="0"/>
          </a:p>
        </p:txBody>
      </p:sp>
      <p:sp>
        <p:nvSpPr>
          <p:cNvPr id="8" name="Text 6"/>
          <p:cNvSpPr/>
          <p:nvPr/>
        </p:nvSpPr>
        <p:spPr>
          <a:xfrm>
            <a:off x="1047750" y="4471234"/>
            <a:ext cx="514350"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CAB06A"/>
                </a:solidFill>
                <a:latin typeface="Spectral" pitchFamily="34" charset="0"/>
                <a:ea typeface="Spectral" pitchFamily="34" charset="-122"/>
                <a:cs typeface="Spectral" pitchFamily="34" charset="-120"/>
              </a:rPr>
              <a:t>03</a:t>
            </a:r>
            <a:endParaRPr lang="en-US" sz="3000" dirty="0"/>
          </a:p>
        </p:txBody>
      </p:sp>
      <p:sp>
        <p:nvSpPr>
          <p:cNvPr id="9" name="Text 7"/>
          <p:cNvSpPr/>
          <p:nvPr/>
        </p:nvSpPr>
        <p:spPr>
          <a:xfrm>
            <a:off x="1733550" y="4471234"/>
            <a:ext cx="7279577" cy="91821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475" dirty="0">
                <a:solidFill>
                  <a:srgbClr val="1C1E1A"/>
                </a:solidFill>
                <a:latin typeface="IBM Plex Sans" pitchFamily="34" charset="0"/>
                <a:ea typeface="IBM Plex Sans" pitchFamily="34" charset="-122"/>
                <a:cs typeface="IBM Plex Sans" pitchFamily="34" charset="-120"/>
              </a:rPr>
              <a:t>Distinguish between AI, Machine Learning, and Deep Learning.</a:t>
            </a:r>
            <a:endParaRPr lang="en-US" sz="2475" dirty="0"/>
          </a:p>
        </p:txBody>
      </p:sp>
      <p:sp>
        <p:nvSpPr>
          <p:cNvPr id="10" name="Text 8"/>
          <p:cNvSpPr/>
          <p:nvPr/>
        </p:nvSpPr>
        <p:spPr>
          <a:xfrm>
            <a:off x="9486900" y="4471234"/>
            <a:ext cx="514350"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CAB06A"/>
                </a:solidFill>
                <a:latin typeface="Spectral" pitchFamily="34" charset="0"/>
                <a:ea typeface="Spectral" pitchFamily="34" charset="-122"/>
                <a:cs typeface="Spectral" pitchFamily="34" charset="-120"/>
              </a:rPr>
              <a:t>04</a:t>
            </a:r>
            <a:endParaRPr lang="en-US" sz="3000" dirty="0"/>
          </a:p>
        </p:txBody>
      </p:sp>
      <p:sp>
        <p:nvSpPr>
          <p:cNvPr id="11" name="Text 9"/>
          <p:cNvSpPr/>
          <p:nvPr/>
        </p:nvSpPr>
        <p:spPr>
          <a:xfrm>
            <a:off x="10172700" y="4471234"/>
            <a:ext cx="7279577" cy="9182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475" dirty="0">
                <a:solidFill>
                  <a:srgbClr val="1C1E1A"/>
                </a:solidFill>
                <a:latin typeface="IBM Plex Sans" pitchFamily="34" charset="0"/>
                <a:ea typeface="IBM Plex Sans" pitchFamily="34" charset="-122"/>
                <a:cs typeface="IBM Plex Sans" pitchFamily="34" charset="-120"/>
              </a:rPr>
              <a:t>Identify examples of AI already present in daily life.</a:t>
            </a:r>
            <a:endParaRPr lang="en-US" sz="2475" dirty="0"/>
          </a:p>
        </p:txBody>
      </p:sp>
      <p:sp>
        <p:nvSpPr>
          <p:cNvPr id="12" name="Text 10"/>
          <p:cNvSpPr/>
          <p:nvPr/>
        </p:nvSpPr>
        <p:spPr>
          <a:xfrm>
            <a:off x="1047750" y="5656144"/>
            <a:ext cx="514350"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CAB06A"/>
                </a:solidFill>
                <a:latin typeface="Spectral" pitchFamily="34" charset="0"/>
                <a:ea typeface="Spectral" pitchFamily="34" charset="-122"/>
                <a:cs typeface="Spectral" pitchFamily="34" charset="-120"/>
              </a:rPr>
              <a:t>05</a:t>
            </a:r>
            <a:endParaRPr lang="en-US" sz="3000" dirty="0"/>
          </a:p>
        </p:txBody>
      </p:sp>
      <p:sp>
        <p:nvSpPr>
          <p:cNvPr id="13" name="Text 11"/>
          <p:cNvSpPr/>
          <p:nvPr/>
        </p:nvSpPr>
        <p:spPr>
          <a:xfrm>
            <a:off x="1733550" y="5656144"/>
            <a:ext cx="7279577" cy="9182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475" dirty="0">
                <a:solidFill>
                  <a:srgbClr val="1C1E1A"/>
                </a:solidFill>
                <a:latin typeface="IBM Plex Sans" pitchFamily="34" charset="0"/>
                <a:ea typeface="IBM Plex Sans" pitchFamily="34" charset="-122"/>
                <a:cs typeface="IBM Plex Sans" pitchFamily="34" charset="-120"/>
              </a:rPr>
              <a:t>Think critically about what AI is — and what it is not.</a:t>
            </a:r>
            <a:endParaRPr lang="en-US" sz="24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047750" y="914400"/>
            <a:ext cx="17811750" cy="33909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CAE62"/>
                </a:solidFill>
                <a:latin typeface="IBM Plex Mono" pitchFamily="34" charset="0"/>
                <a:ea typeface="IBM Plex Mono" pitchFamily="34" charset="-122"/>
                <a:cs typeface="IBM Plex Mono" pitchFamily="34" charset="-120"/>
              </a:rPr>
              <a:t>PART ONE</a:t>
            </a:r>
            <a:endParaRPr lang="en-US" sz="1800" dirty="0"/>
          </a:p>
        </p:txBody>
      </p:sp>
      <p:sp>
        <p:nvSpPr>
          <p:cNvPr id="3" name="Text 1"/>
          <p:cNvSpPr/>
          <p:nvPr/>
        </p:nvSpPr>
        <p:spPr>
          <a:xfrm>
            <a:off x="1047750" y="3480435"/>
            <a:ext cx="1781175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3A6B49"/>
                </a:solidFill>
                <a:latin typeface="Spectral" pitchFamily="34" charset="0"/>
                <a:ea typeface="Spectral" pitchFamily="34" charset="-122"/>
                <a:cs typeface="Spectral" pitchFamily="34" charset="-120"/>
              </a:rPr>
              <a:t>01</a:t>
            </a:r>
            <a:endParaRPr lang="en-US" sz="15000" dirty="0"/>
          </a:p>
        </p:txBody>
      </p:sp>
      <p:sp>
        <p:nvSpPr>
          <p:cNvPr id="4" name="Text 2"/>
          <p:cNvSpPr/>
          <p:nvPr/>
        </p:nvSpPr>
        <p:spPr>
          <a:xfrm>
            <a:off x="1047750" y="5309235"/>
            <a:ext cx="17811750" cy="918210"/>
          </a:xfrm>
          <a:prstGeom prst="rect">
            <a:avLst/>
          </a:prstGeom>
          <a:noFill/>
          <a:ln/>
        </p:spPr>
        <p:txBody>
          <a:bodyPr wrap="square" lIns="25400" tIns="25400" rIns="25400" bIns="25400" rtlCol="0" anchor="t">
            <a:normAutofit/>
          </a:bodyPr>
          <a:lstStyle/>
          <a:p>
            <a:pPr marL="0" indent="0" algn="l">
              <a:lnSpc>
                <a:spcPct val="105000"/>
              </a:lnSpc>
              <a:buNone/>
            </a:pPr>
            <a:r>
              <a:rPr lang="en-US" sz="6600" b="1" kern="0" spc="-66" dirty="0">
                <a:solidFill>
                  <a:srgbClr val="F4F1E8"/>
                </a:solidFill>
                <a:latin typeface="Spectral" pitchFamily="34" charset="0"/>
                <a:ea typeface="Spectral" pitchFamily="34" charset="-122"/>
                <a:cs typeface="Spectral" pitchFamily="34" charset="-120"/>
              </a:rPr>
              <a:t>Course Overview</a:t>
            </a:r>
            <a:endParaRPr lang="en-US" sz="6600" dirty="0"/>
          </a:p>
        </p:txBody>
      </p:sp>
      <p:sp>
        <p:nvSpPr>
          <p:cNvPr id="5" name="Text 3"/>
          <p:cNvSpPr/>
          <p:nvPr/>
        </p:nvSpPr>
        <p:spPr>
          <a:xfrm>
            <a:off x="1047750" y="6417945"/>
            <a:ext cx="1047750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CDD9CF"/>
                </a:solidFill>
                <a:latin typeface="IBM Plex Sans" pitchFamily="34" charset="0"/>
                <a:ea typeface="IBM Plex Sans" pitchFamily="34" charset="-122"/>
                <a:cs typeface="IBM Plex Sans" pitchFamily="34" charset="-120"/>
              </a:rPr>
              <a:t>Objectives, tools, expectations, and how you'll be assessed.</a:t>
            </a:r>
            <a:endParaRPr lang="en-US" sz="2550" dirty="0"/>
          </a:p>
        </p:txBody>
      </p:sp>
      <p:sp>
        <p:nvSpPr>
          <p:cNvPr id="6" name="Text 4"/>
          <p:cNvSpPr/>
          <p:nvPr/>
        </p:nvSpPr>
        <p:spPr>
          <a:xfrm>
            <a:off x="1047750" y="9102090"/>
            <a:ext cx="17811750" cy="308610"/>
          </a:xfrm>
          <a:prstGeom prst="rect">
            <a:avLst/>
          </a:prstGeom>
          <a:noFill/>
          <a:ln/>
        </p:spPr>
        <p:txBody>
          <a:bodyPr wrap="square" lIns="25400" tIns="25400" rIns="25400" bIns="25400" rtlCol="0" anchor="t">
            <a:normAutofit/>
          </a:bodyPr>
          <a:lstStyle/>
          <a:p>
            <a:pPr marL="0" indent="0" algn="l">
              <a:buNone/>
            </a:pPr>
            <a:r>
              <a:rPr lang="en-US" sz="1650" dirty="0">
                <a:solidFill>
                  <a:srgbClr val="9BB0A1"/>
                </a:solidFill>
                <a:latin typeface="IBM Plex Mono" pitchFamily="34" charset="0"/>
                <a:ea typeface="IBM Plex Mono" pitchFamily="34" charset="-122"/>
                <a:cs typeface="IBM Plex Mono" pitchFamily="34" charset="-120"/>
              </a:rPr>
              <a:t>CIAI · Class 01 †</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COURSE OBJECTIVES</a:t>
            </a:r>
            <a:endParaRPr lang="en-US" sz="1800" dirty="0"/>
          </a:p>
        </p:txBody>
      </p:sp>
      <p:sp>
        <p:nvSpPr>
          <p:cNvPr id="3" name="Text 1"/>
          <p:cNvSpPr/>
          <p:nvPr/>
        </p:nvSpPr>
        <p:spPr>
          <a:xfrm>
            <a:off x="1047750" y="1253490"/>
            <a:ext cx="1362075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b="1" kern="0" spc="-51" dirty="0">
                <a:solidFill>
                  <a:srgbClr val="1C1E1A"/>
                </a:solidFill>
                <a:latin typeface="Spectral" pitchFamily="34" charset="0"/>
                <a:ea typeface="Spectral" pitchFamily="34" charset="-122"/>
                <a:cs typeface="Spectral" pitchFamily="34" charset="-120"/>
              </a:rPr>
              <a:t>Faith and technology, explored together</a:t>
            </a:r>
            <a:endParaRPr lang="en-US" sz="5100" dirty="0"/>
          </a:p>
        </p:txBody>
      </p:sp>
      <p:sp>
        <p:nvSpPr>
          <p:cNvPr id="4" name="Text 2"/>
          <p:cNvSpPr/>
          <p:nvPr/>
        </p:nvSpPr>
        <p:spPr>
          <a:xfrm>
            <a:off x="1047750" y="2390775"/>
            <a:ext cx="8829675" cy="1809750"/>
          </a:xfrm>
          <a:prstGeom prst="rect">
            <a:avLst/>
          </a:prstGeom>
          <a:noFill/>
          <a:ln/>
        </p:spPr>
        <p:txBody>
          <a:bodyPr wrap="square" lIns="25400" tIns="25400" rIns="25400" bIns="25400" rtlCol="0" anchor="t">
            <a:normAutofit/>
          </a:bodyPr>
          <a:lstStyle/>
          <a:p>
            <a:pPr marL="0" indent="0" algn="l">
              <a:lnSpc>
                <a:spcPct val="150000"/>
              </a:lnSpc>
              <a:buNone/>
            </a:pPr>
            <a:r>
              <a:rPr lang="en-US" sz="2325" dirty="0">
                <a:solidFill>
                  <a:srgbClr val="33352F"/>
                </a:solidFill>
                <a:latin typeface="IBM Plex Sans" pitchFamily="34" charset="0"/>
                <a:ea typeface="IBM Plex Sans" pitchFamily="34" charset="-122"/>
                <a:cs typeface="IBM Plex Sans" pitchFamily="34" charset="-120"/>
              </a:rPr>
              <a:t>The Catholic Church views science as a way to explore and comprehend the natural world created by God. Technology is encouraged when it respects ethical principles and upholds the dignity of human life.</a:t>
            </a:r>
            <a:endParaRPr lang="en-US" sz="2325" dirty="0"/>
          </a:p>
        </p:txBody>
      </p:sp>
      <p:sp>
        <p:nvSpPr>
          <p:cNvPr id="5" name="Text 3"/>
          <p:cNvSpPr/>
          <p:nvPr/>
        </p:nvSpPr>
        <p:spPr>
          <a:xfrm>
            <a:off x="1047749" y="4719638"/>
            <a:ext cx="8829675" cy="13668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325" dirty="0">
                <a:solidFill>
                  <a:srgbClr val="33352F"/>
                </a:solidFill>
                <a:latin typeface="IBM Plex Sans" pitchFamily="34" charset="0"/>
                <a:ea typeface="IBM Plex Sans" pitchFamily="34" charset="-122"/>
                <a:cs typeface="IBM Plex Sans" pitchFamily="34" charset="-120"/>
              </a:rPr>
              <a:t>Moral discernment is crucial — it guides technology to serve humanity ethically and to avoid harm or injustice. This course will cut through the fantasy and hype so often attributed to AI.</a:t>
            </a:r>
            <a:endParaRPr lang="en-US" sz="2325" dirty="0"/>
          </a:p>
        </p:txBody>
      </p:sp>
      <p:sp>
        <p:nvSpPr>
          <p:cNvPr id="6" name="Text 4"/>
          <p:cNvSpPr/>
          <p:nvPr/>
        </p:nvSpPr>
        <p:spPr>
          <a:xfrm>
            <a:off x="10382250" y="2390775"/>
            <a:ext cx="7543800" cy="308610"/>
          </a:xfrm>
          <a:prstGeom prst="rect">
            <a:avLst/>
          </a:prstGeom>
          <a:noFill/>
          <a:ln/>
        </p:spPr>
        <p:txBody>
          <a:bodyPr wrap="square" lIns="25400" tIns="25400" rIns="25400" bIns="25400" rtlCol="0" anchor="t">
            <a:normAutofit/>
          </a:bodyPr>
          <a:lstStyle/>
          <a:p>
            <a:pPr marL="0" indent="0" algn="l">
              <a:buNone/>
            </a:pPr>
            <a:r>
              <a:rPr lang="en-US" sz="1650" kern="0" spc="198" dirty="0">
                <a:solidFill>
                  <a:srgbClr val="8A8470"/>
                </a:solidFill>
                <a:latin typeface="IBM Plex Mono" pitchFamily="34" charset="0"/>
                <a:ea typeface="IBM Plex Mono" pitchFamily="34" charset="-122"/>
                <a:cs typeface="IBM Plex Mono" pitchFamily="34" charset="-120"/>
              </a:rPr>
              <a:t>OUR AIM</a:t>
            </a:r>
            <a:endParaRPr lang="en-US" sz="1650" dirty="0"/>
          </a:p>
        </p:txBody>
      </p:sp>
      <p:sp>
        <p:nvSpPr>
          <p:cNvPr id="7" name="Shape 5"/>
          <p:cNvSpPr/>
          <p:nvPr/>
        </p:nvSpPr>
        <p:spPr>
          <a:xfrm>
            <a:off x="10382250" y="2870835"/>
            <a:ext cx="6858000" cy="1447800"/>
          </a:xfrm>
          <a:prstGeom prst="roundRect">
            <a:avLst>
              <a:gd name="adj" fmla="val 3947"/>
            </a:avLst>
          </a:prstGeom>
          <a:solidFill>
            <a:srgbClr val="21402E"/>
          </a:solidFill>
          <a:ln/>
        </p:spPr>
      </p:sp>
      <p:sp>
        <p:nvSpPr>
          <p:cNvPr id="8" name="Text 6"/>
          <p:cNvSpPr/>
          <p:nvPr/>
        </p:nvSpPr>
        <p:spPr>
          <a:xfrm>
            <a:off x="10725150" y="3194685"/>
            <a:ext cx="6377940" cy="83820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F4F1E8"/>
                </a:solidFill>
                <a:highlight>
                  <a:srgbClr val="21402E"/>
                </a:highlight>
                <a:latin typeface="IBM Plex Sans" pitchFamily="34" charset="0"/>
                <a:ea typeface="IBM Plex Sans" pitchFamily="34" charset="-122"/>
                <a:cs typeface="IBM Plex Sans" pitchFamily="34" charset="-120"/>
              </a:rPr>
              <a:t>Become </a:t>
            </a:r>
            <a:r>
              <a:rPr lang="en-US" sz="2250" b="1" dirty="0">
                <a:solidFill>
                  <a:srgbClr val="CCAE62"/>
                </a:solidFill>
                <a:latin typeface="IBM Plex Sans" pitchFamily="34" charset="0"/>
                <a:ea typeface="IBM Plex Sans" pitchFamily="34" charset="-122"/>
                <a:cs typeface="IBM Plex Sans" pitchFamily="34" charset="-120"/>
              </a:rPr>
              <a:t>critical thinkers </a:t>
            </a:r>
            <a:r>
              <a:rPr lang="en-US" sz="2250" dirty="0">
                <a:solidFill>
                  <a:srgbClr val="F4F1E8"/>
                </a:solidFill>
                <a:highlight>
                  <a:srgbClr val="21402E"/>
                </a:highlight>
                <a:latin typeface="IBM Plex Sans" pitchFamily="34" charset="0"/>
                <a:ea typeface="IBM Plex Sans" pitchFamily="34" charset="-122"/>
                <a:cs typeface="IBM Plex Sans" pitchFamily="34" charset="-120"/>
              </a:rPr>
              <a:t>and responsible users of AI.</a:t>
            </a:r>
            <a:endParaRPr lang="en-US" sz="2250" dirty="0"/>
          </a:p>
        </p:txBody>
      </p:sp>
      <p:sp>
        <p:nvSpPr>
          <p:cNvPr id="9" name="Shape 7"/>
          <p:cNvSpPr/>
          <p:nvPr/>
        </p:nvSpPr>
        <p:spPr>
          <a:xfrm>
            <a:off x="10382250" y="4528185"/>
            <a:ext cx="6858000" cy="1485900"/>
          </a:xfrm>
          <a:prstGeom prst="roundRect">
            <a:avLst>
              <a:gd name="adj" fmla="val 3846"/>
            </a:avLst>
          </a:prstGeom>
          <a:ln w="19050">
            <a:solidFill>
              <a:srgbClr val="D6D1C0"/>
            </a:solidFill>
            <a:prstDash val="solid"/>
          </a:ln>
        </p:spPr>
      </p:sp>
      <p:sp>
        <p:nvSpPr>
          <p:cNvPr id="10" name="Text 8"/>
          <p:cNvSpPr/>
          <p:nvPr/>
        </p:nvSpPr>
        <p:spPr>
          <a:xfrm>
            <a:off x="10744200" y="4871085"/>
            <a:ext cx="6339840" cy="83820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33352F"/>
                </a:solidFill>
                <a:latin typeface="IBM Plex Sans" pitchFamily="34" charset="0"/>
                <a:ea typeface="IBM Plex Sans" pitchFamily="34" charset="-122"/>
                <a:cs typeface="IBM Plex Sans" pitchFamily="34" charset="-120"/>
              </a:rPr>
              <a:t>Understand how AI impacts </a:t>
            </a:r>
            <a:r>
              <a:rPr lang="en-US" sz="2250" b="1" dirty="0">
                <a:solidFill>
                  <a:srgbClr val="33352F"/>
                </a:solidFill>
                <a:latin typeface="IBM Plex Sans" pitchFamily="34" charset="0"/>
                <a:ea typeface="IBM Plex Sans" pitchFamily="34" charset="-122"/>
                <a:cs typeface="IBM Plex Sans" pitchFamily="34" charset="-120"/>
              </a:rPr>
              <a:t>privacy, ethics, employment, and truth.</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7620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COURSE REQUIREMENTS</a:t>
            </a:r>
            <a:endParaRPr lang="en-US" sz="1800" dirty="0"/>
          </a:p>
        </p:txBody>
      </p:sp>
      <p:sp>
        <p:nvSpPr>
          <p:cNvPr id="3" name="Text 1"/>
          <p:cNvSpPr/>
          <p:nvPr/>
        </p:nvSpPr>
        <p:spPr>
          <a:xfrm>
            <a:off x="1047750" y="11963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The tools we'll use</a:t>
            </a:r>
            <a:endParaRPr lang="en-US" sz="4800" dirty="0"/>
          </a:p>
        </p:txBody>
      </p:sp>
      <p:sp>
        <p:nvSpPr>
          <p:cNvPr id="4" name="Shape 2"/>
          <p:cNvSpPr/>
          <p:nvPr/>
        </p:nvSpPr>
        <p:spPr>
          <a:xfrm>
            <a:off x="1047750" y="3217129"/>
            <a:ext cx="5245061" cy="1684020"/>
          </a:xfrm>
          <a:prstGeom prst="roundRect">
            <a:avLst>
              <a:gd name="adj" fmla="val 3394"/>
            </a:avLst>
          </a:prstGeom>
          <a:solidFill>
            <a:srgbClr val="FFFFFF"/>
          </a:solidFill>
          <a:ln w="19050">
            <a:solidFill>
              <a:srgbClr val="DDD8C8"/>
            </a:solidFill>
            <a:prstDash val="solid"/>
          </a:ln>
        </p:spPr>
      </p:sp>
      <p:sp>
        <p:nvSpPr>
          <p:cNvPr id="5" name="Text 3"/>
          <p:cNvSpPr/>
          <p:nvPr/>
        </p:nvSpPr>
        <p:spPr>
          <a:xfrm>
            <a:off x="1333500" y="3483829"/>
            <a:ext cx="5140916"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NotebookLM</a:t>
            </a:r>
            <a:endParaRPr lang="en-US" sz="2250" dirty="0"/>
          </a:p>
        </p:txBody>
      </p:sp>
      <p:sp>
        <p:nvSpPr>
          <p:cNvPr id="6" name="Text 4"/>
          <p:cNvSpPr/>
          <p:nvPr/>
        </p:nvSpPr>
        <p:spPr>
          <a:xfrm>
            <a:off x="1333500" y="3994369"/>
            <a:ext cx="4813767"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64D"/>
                </a:solidFill>
                <a:latin typeface="IBM Plex Sans" pitchFamily="34" charset="0"/>
                <a:ea typeface="IBM Plex Sans" pitchFamily="34" charset="-122"/>
                <a:cs typeface="IBM Plex Sans" pitchFamily="34" charset="-120"/>
              </a:rPr>
              <a:t>Google research tool that reasons only over documents you upload.</a:t>
            </a:r>
            <a:endParaRPr lang="en-US" sz="1800" dirty="0"/>
          </a:p>
        </p:txBody>
      </p:sp>
      <p:sp>
        <p:nvSpPr>
          <p:cNvPr id="7" name="Shape 5"/>
          <p:cNvSpPr/>
          <p:nvPr/>
        </p:nvSpPr>
        <p:spPr>
          <a:xfrm>
            <a:off x="6521411" y="3217129"/>
            <a:ext cx="5245120" cy="1684020"/>
          </a:xfrm>
          <a:prstGeom prst="roundRect">
            <a:avLst>
              <a:gd name="adj" fmla="val 3394"/>
            </a:avLst>
          </a:prstGeom>
          <a:solidFill>
            <a:srgbClr val="FFFFFF"/>
          </a:solidFill>
          <a:ln w="19050">
            <a:solidFill>
              <a:srgbClr val="DDD8C8"/>
            </a:solidFill>
            <a:prstDash val="solid"/>
          </a:ln>
        </p:spPr>
      </p:sp>
      <p:sp>
        <p:nvSpPr>
          <p:cNvPr id="8" name="Text 6"/>
          <p:cNvSpPr/>
          <p:nvPr/>
        </p:nvSpPr>
        <p:spPr>
          <a:xfrm>
            <a:off x="6807161" y="3483829"/>
            <a:ext cx="5140982"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Jupyter Notebook</a:t>
            </a:r>
            <a:endParaRPr lang="en-US" sz="2250" dirty="0"/>
          </a:p>
        </p:txBody>
      </p:sp>
      <p:sp>
        <p:nvSpPr>
          <p:cNvPr id="9" name="Text 7"/>
          <p:cNvSpPr/>
          <p:nvPr/>
        </p:nvSpPr>
        <p:spPr>
          <a:xfrm>
            <a:off x="6807161" y="3994369"/>
            <a:ext cx="4813829"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64D"/>
                </a:solidFill>
                <a:latin typeface="IBM Plex Sans" pitchFamily="34" charset="0"/>
                <a:ea typeface="IBM Plex Sans" pitchFamily="34" charset="-122"/>
                <a:cs typeface="IBM Plex Sans" pitchFamily="34" charset="-120"/>
              </a:rPr>
              <a:t>Run code, results, and notes in one document — right in the browser.</a:t>
            </a:r>
            <a:endParaRPr lang="en-US" sz="1800" dirty="0"/>
          </a:p>
        </p:txBody>
      </p:sp>
      <p:sp>
        <p:nvSpPr>
          <p:cNvPr id="10" name="Shape 8"/>
          <p:cNvSpPr/>
          <p:nvPr/>
        </p:nvSpPr>
        <p:spPr>
          <a:xfrm>
            <a:off x="11995131" y="3217129"/>
            <a:ext cx="5245061" cy="1684020"/>
          </a:xfrm>
          <a:prstGeom prst="roundRect">
            <a:avLst>
              <a:gd name="adj" fmla="val 3394"/>
            </a:avLst>
          </a:prstGeom>
          <a:solidFill>
            <a:srgbClr val="FFFFFF"/>
          </a:solidFill>
          <a:ln w="19050">
            <a:solidFill>
              <a:srgbClr val="DDD8C8"/>
            </a:solidFill>
            <a:prstDash val="solid"/>
          </a:ln>
        </p:spPr>
      </p:sp>
      <p:sp>
        <p:nvSpPr>
          <p:cNvPr id="11" name="Text 9"/>
          <p:cNvSpPr/>
          <p:nvPr/>
        </p:nvSpPr>
        <p:spPr>
          <a:xfrm>
            <a:off x="12280881" y="3483829"/>
            <a:ext cx="5140916"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ChatGPT</a:t>
            </a:r>
            <a:endParaRPr lang="en-US" sz="2250" dirty="0"/>
          </a:p>
        </p:txBody>
      </p:sp>
      <p:sp>
        <p:nvSpPr>
          <p:cNvPr id="12" name="Text 10"/>
          <p:cNvSpPr/>
          <p:nvPr/>
        </p:nvSpPr>
        <p:spPr>
          <a:xfrm>
            <a:off x="12280881" y="3994369"/>
            <a:ext cx="4813767"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64D"/>
                </a:solidFill>
                <a:latin typeface="IBM Plex Sans" pitchFamily="34" charset="0"/>
                <a:ea typeface="IBM Plex Sans" pitchFamily="34" charset="-122"/>
                <a:cs typeface="IBM Plex Sans" pitchFamily="34" charset="-120"/>
              </a:rPr>
              <a:t>An AI assistant for explaining ideas, researching, and problem-solving.</a:t>
            </a:r>
            <a:endParaRPr lang="en-US" sz="1800" dirty="0"/>
          </a:p>
        </p:txBody>
      </p:sp>
      <p:sp>
        <p:nvSpPr>
          <p:cNvPr id="13" name="Shape 11"/>
          <p:cNvSpPr/>
          <p:nvPr/>
        </p:nvSpPr>
        <p:spPr>
          <a:xfrm>
            <a:off x="1047750" y="5129749"/>
            <a:ext cx="5245061" cy="1684020"/>
          </a:xfrm>
          <a:prstGeom prst="roundRect">
            <a:avLst>
              <a:gd name="adj" fmla="val 3394"/>
            </a:avLst>
          </a:prstGeom>
          <a:solidFill>
            <a:srgbClr val="FFFFFF"/>
          </a:solidFill>
          <a:ln w="19050">
            <a:solidFill>
              <a:srgbClr val="DDD8C8"/>
            </a:solidFill>
            <a:prstDash val="solid"/>
          </a:ln>
        </p:spPr>
      </p:sp>
      <p:sp>
        <p:nvSpPr>
          <p:cNvPr id="14" name="Text 12"/>
          <p:cNvSpPr/>
          <p:nvPr/>
        </p:nvSpPr>
        <p:spPr>
          <a:xfrm>
            <a:off x="1333500" y="5396449"/>
            <a:ext cx="5140916"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Google Gemini</a:t>
            </a:r>
            <a:endParaRPr lang="en-US" sz="2250" dirty="0"/>
          </a:p>
        </p:txBody>
      </p:sp>
      <p:sp>
        <p:nvSpPr>
          <p:cNvPr id="15" name="Text 13"/>
          <p:cNvSpPr/>
          <p:nvPr/>
        </p:nvSpPr>
        <p:spPr>
          <a:xfrm>
            <a:off x="1333500" y="5906990"/>
            <a:ext cx="4813767"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64D"/>
                </a:solidFill>
                <a:latin typeface="IBM Plex Sans" pitchFamily="34" charset="0"/>
                <a:ea typeface="IBM Plex Sans" pitchFamily="34" charset="-122"/>
                <a:cs typeface="IBM Plex Sans" pitchFamily="34" charset="-120"/>
              </a:rPr>
              <a:t>Google's assistant for text, images, audio, and video.</a:t>
            </a:r>
            <a:endParaRPr lang="en-US" sz="1800" dirty="0"/>
          </a:p>
        </p:txBody>
      </p:sp>
      <p:sp>
        <p:nvSpPr>
          <p:cNvPr id="16" name="Shape 14"/>
          <p:cNvSpPr/>
          <p:nvPr/>
        </p:nvSpPr>
        <p:spPr>
          <a:xfrm>
            <a:off x="6521411" y="5129749"/>
            <a:ext cx="5245120" cy="1684020"/>
          </a:xfrm>
          <a:prstGeom prst="roundRect">
            <a:avLst>
              <a:gd name="adj" fmla="val 3394"/>
            </a:avLst>
          </a:prstGeom>
          <a:solidFill>
            <a:srgbClr val="FFFFFF"/>
          </a:solidFill>
          <a:ln w="19050">
            <a:solidFill>
              <a:srgbClr val="DDD8C8"/>
            </a:solidFill>
            <a:prstDash val="solid"/>
          </a:ln>
        </p:spPr>
      </p:sp>
      <p:sp>
        <p:nvSpPr>
          <p:cNvPr id="17" name="Text 15"/>
          <p:cNvSpPr/>
          <p:nvPr/>
        </p:nvSpPr>
        <p:spPr>
          <a:xfrm>
            <a:off x="6807161" y="5396449"/>
            <a:ext cx="5140982"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Claude</a:t>
            </a:r>
            <a:endParaRPr lang="en-US" sz="2250" dirty="0"/>
          </a:p>
        </p:txBody>
      </p:sp>
      <p:sp>
        <p:nvSpPr>
          <p:cNvPr id="18" name="Text 16"/>
          <p:cNvSpPr/>
          <p:nvPr/>
        </p:nvSpPr>
        <p:spPr>
          <a:xfrm>
            <a:off x="6807161" y="5906990"/>
            <a:ext cx="4813829"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64D"/>
                </a:solidFill>
                <a:latin typeface="IBM Plex Sans" pitchFamily="34" charset="0"/>
                <a:ea typeface="IBM Plex Sans" pitchFamily="34" charset="-122"/>
                <a:cs typeface="IBM Plex Sans" pitchFamily="34" charset="-120"/>
              </a:rPr>
              <a:t>Anthropic's assistant for writing, analysis, and coding.</a:t>
            </a:r>
            <a:endParaRPr lang="en-US" sz="1800" dirty="0"/>
          </a:p>
        </p:txBody>
      </p:sp>
      <p:sp>
        <p:nvSpPr>
          <p:cNvPr id="19" name="Shape 17"/>
          <p:cNvSpPr/>
          <p:nvPr/>
        </p:nvSpPr>
        <p:spPr>
          <a:xfrm>
            <a:off x="11995131" y="5129749"/>
            <a:ext cx="5245061" cy="1684020"/>
          </a:xfrm>
          <a:prstGeom prst="roundRect">
            <a:avLst>
              <a:gd name="adj" fmla="val 3394"/>
            </a:avLst>
          </a:prstGeom>
          <a:solidFill>
            <a:srgbClr val="FFFFFF"/>
          </a:solidFill>
          <a:ln w="19050">
            <a:solidFill>
              <a:srgbClr val="DDD8C8"/>
            </a:solidFill>
            <a:prstDash val="solid"/>
          </a:ln>
        </p:spPr>
      </p:sp>
      <p:sp>
        <p:nvSpPr>
          <p:cNvPr id="20" name="Text 18"/>
          <p:cNvSpPr/>
          <p:nvPr/>
        </p:nvSpPr>
        <p:spPr>
          <a:xfrm>
            <a:off x="12280881" y="5396449"/>
            <a:ext cx="5140916"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Teachable Machine</a:t>
            </a:r>
            <a:endParaRPr lang="en-US" sz="2250" dirty="0"/>
          </a:p>
        </p:txBody>
      </p:sp>
      <p:sp>
        <p:nvSpPr>
          <p:cNvPr id="21" name="Text 19"/>
          <p:cNvSpPr/>
          <p:nvPr/>
        </p:nvSpPr>
        <p:spPr>
          <a:xfrm>
            <a:off x="12280881" y="5906990"/>
            <a:ext cx="4813767"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64D"/>
                </a:solidFill>
                <a:latin typeface="IBM Plex Sans" pitchFamily="34" charset="0"/>
                <a:ea typeface="IBM Plex Sans" pitchFamily="34" charset="-122"/>
                <a:cs typeface="IBM Plex Sans" pitchFamily="34" charset="-120"/>
              </a:rPr>
              <a:t>Train image, sound, or pose models with no coding required.</a:t>
            </a:r>
            <a:endParaRPr lang="en-US" sz="1800" dirty="0"/>
          </a:p>
        </p:txBody>
      </p:sp>
      <p:sp>
        <p:nvSpPr>
          <p:cNvPr id="22" name="Text 20"/>
          <p:cNvSpPr/>
          <p:nvPr/>
        </p:nvSpPr>
        <p:spPr>
          <a:xfrm>
            <a:off x="1047750" y="7067134"/>
            <a:ext cx="1196340" cy="297180"/>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8A8470"/>
                </a:solidFill>
                <a:latin typeface="IBM Plex Mono" pitchFamily="34" charset="0"/>
                <a:ea typeface="IBM Plex Mono" pitchFamily="34" charset="-122"/>
                <a:cs typeface="IBM Plex Mono" pitchFamily="34" charset="-120"/>
              </a:rPr>
              <a:t>OPTIONAL</a:t>
            </a:r>
            <a:endParaRPr lang="en-US" sz="1575" dirty="0"/>
          </a:p>
        </p:txBody>
      </p:sp>
      <p:sp>
        <p:nvSpPr>
          <p:cNvPr id="23" name="Shape 21"/>
          <p:cNvSpPr/>
          <p:nvPr/>
        </p:nvSpPr>
        <p:spPr>
          <a:xfrm>
            <a:off x="2320290" y="7082374"/>
            <a:ext cx="9525" cy="228600"/>
          </a:xfrm>
          <a:prstGeom prst="rect">
            <a:avLst/>
          </a:prstGeom>
          <a:solidFill>
            <a:srgbClr val="CFC9B6"/>
          </a:solidFill>
          <a:ln/>
        </p:spPr>
      </p:sp>
      <p:sp>
        <p:nvSpPr>
          <p:cNvPr id="24" name="Text 22"/>
          <p:cNvSpPr/>
          <p:nvPr/>
        </p:nvSpPr>
        <p:spPr>
          <a:xfrm>
            <a:off x="2482215" y="7042370"/>
            <a:ext cx="9473493" cy="346710"/>
          </a:xfrm>
          <a:prstGeom prst="rect">
            <a:avLst/>
          </a:prstGeom>
          <a:noFill/>
          <a:ln/>
        </p:spPr>
        <p:txBody>
          <a:bodyPr wrap="square" lIns="25400" tIns="25400" rIns="25400" bIns="25400" rtlCol="0" anchor="t">
            <a:normAutofit/>
          </a:bodyPr>
          <a:lstStyle/>
          <a:p>
            <a:pPr marL="0" indent="0" algn="l">
              <a:buNone/>
            </a:pPr>
            <a:r>
              <a:rPr lang="en-US" sz="1875" dirty="0">
                <a:solidFill>
                  <a:srgbClr val="55564D"/>
                </a:solidFill>
                <a:latin typeface="IBM Plex Sans" pitchFamily="34" charset="0"/>
                <a:ea typeface="IBM Plex Sans" pitchFamily="34" charset="-122"/>
                <a:cs typeface="IBM Plex Sans" pitchFamily="34" charset="-120"/>
              </a:rPr>
              <a:t>Visual Studio Code · Google Colab — for students with programming experience.</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PREREQUISITES &amp; EXPECTATIONS</a:t>
            </a:r>
            <a:endParaRPr lang="en-US" sz="1800" dirty="0"/>
          </a:p>
        </p:txBody>
      </p:sp>
      <p:sp>
        <p:nvSpPr>
          <p:cNvPr id="3" name="Text 1"/>
          <p:cNvSpPr/>
          <p:nvPr/>
        </p:nvSpPr>
        <p:spPr>
          <a:xfrm>
            <a:off x="1047750" y="12344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What you'll need to show up with</a:t>
            </a:r>
            <a:endParaRPr lang="en-US" sz="4800" dirty="0"/>
          </a:p>
        </p:txBody>
      </p:sp>
      <p:sp>
        <p:nvSpPr>
          <p:cNvPr id="4" name="Text 2"/>
          <p:cNvSpPr/>
          <p:nvPr/>
        </p:nvSpPr>
        <p:spPr>
          <a:xfrm>
            <a:off x="1047750" y="3575268"/>
            <a:ext cx="8528685" cy="308610"/>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8A8470"/>
                </a:solidFill>
                <a:latin typeface="IBM Plex Mono" pitchFamily="34" charset="0"/>
                <a:ea typeface="IBM Plex Mono" pitchFamily="34" charset="-122"/>
                <a:cs typeface="IBM Plex Mono" pitchFamily="34" charset="-120"/>
              </a:rPr>
              <a:t>ONE PREREQUISITE COURSE</a:t>
            </a:r>
            <a:endParaRPr lang="en-US" sz="1650" dirty="0"/>
          </a:p>
        </p:txBody>
      </p:sp>
      <p:sp>
        <p:nvSpPr>
          <p:cNvPr id="5" name="Text 3"/>
          <p:cNvSpPr/>
          <p:nvPr/>
        </p:nvSpPr>
        <p:spPr>
          <a:xfrm>
            <a:off x="1047750" y="4055328"/>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6" name="Text 4"/>
          <p:cNvSpPr/>
          <p:nvPr/>
        </p:nvSpPr>
        <p:spPr>
          <a:xfrm>
            <a:off x="1442085" y="4055328"/>
            <a:ext cx="6403783"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Introduction to Computer Science, Part 1 or 2</a:t>
            </a:r>
            <a:endParaRPr lang="en-US" sz="2250" dirty="0"/>
          </a:p>
        </p:txBody>
      </p:sp>
      <p:sp>
        <p:nvSpPr>
          <p:cNvPr id="7" name="Text 5"/>
          <p:cNvSpPr/>
          <p:nvPr/>
        </p:nvSpPr>
        <p:spPr>
          <a:xfrm>
            <a:off x="1047750" y="4612541"/>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8" name="Text 6"/>
          <p:cNvSpPr/>
          <p:nvPr/>
        </p:nvSpPr>
        <p:spPr>
          <a:xfrm>
            <a:off x="1442085" y="4612541"/>
            <a:ext cx="660082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Introduction to Computer Science Using SNAP!</a:t>
            </a:r>
            <a:endParaRPr lang="en-US" sz="2250" dirty="0"/>
          </a:p>
        </p:txBody>
      </p:sp>
      <p:sp>
        <p:nvSpPr>
          <p:cNvPr id="9" name="Text 7"/>
          <p:cNvSpPr/>
          <p:nvPr/>
        </p:nvSpPr>
        <p:spPr>
          <a:xfrm>
            <a:off x="1047750" y="5169753"/>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10" name="Text 8"/>
          <p:cNvSpPr/>
          <p:nvPr/>
        </p:nvSpPr>
        <p:spPr>
          <a:xfrm>
            <a:off x="1442085" y="5169753"/>
            <a:ext cx="576256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Computer Programming 101 with Python</a:t>
            </a:r>
            <a:endParaRPr lang="en-US" sz="2250" dirty="0"/>
          </a:p>
        </p:txBody>
      </p:sp>
      <p:sp>
        <p:nvSpPr>
          <p:cNvPr id="11" name="Text 9"/>
          <p:cNvSpPr/>
          <p:nvPr/>
        </p:nvSpPr>
        <p:spPr>
          <a:xfrm>
            <a:off x="1047750" y="5726966"/>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12" name="Text 10"/>
          <p:cNvSpPr/>
          <p:nvPr/>
        </p:nvSpPr>
        <p:spPr>
          <a:xfrm>
            <a:off x="1442085" y="5726966"/>
            <a:ext cx="452503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C# Programming with Unity 101</a:t>
            </a:r>
            <a:endParaRPr lang="en-US" sz="2250" dirty="0"/>
          </a:p>
        </p:txBody>
      </p:sp>
      <p:sp>
        <p:nvSpPr>
          <p:cNvPr id="13" name="Text 11"/>
          <p:cNvSpPr/>
          <p:nvPr/>
        </p:nvSpPr>
        <p:spPr>
          <a:xfrm>
            <a:off x="9486900" y="3575268"/>
            <a:ext cx="8528685" cy="308610"/>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8A8470"/>
                </a:solidFill>
                <a:latin typeface="IBM Plex Mono" pitchFamily="34" charset="0"/>
                <a:ea typeface="IBM Plex Mono" pitchFamily="34" charset="-122"/>
                <a:cs typeface="IBM Plex Mono" pitchFamily="34" charset="-120"/>
              </a:rPr>
              <a:t>WHAT'S EXPECTED OF YOU</a:t>
            </a:r>
            <a:endParaRPr lang="en-US" sz="1650" dirty="0"/>
          </a:p>
        </p:txBody>
      </p:sp>
      <p:sp>
        <p:nvSpPr>
          <p:cNvPr id="14" name="Text 12"/>
          <p:cNvSpPr/>
          <p:nvPr/>
        </p:nvSpPr>
        <p:spPr>
          <a:xfrm>
            <a:off x="9486900" y="4055328"/>
            <a:ext cx="299085" cy="809625"/>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15" name="Text 13"/>
          <p:cNvSpPr/>
          <p:nvPr/>
        </p:nvSpPr>
        <p:spPr>
          <a:xfrm>
            <a:off x="9881235" y="4055328"/>
            <a:ext cx="7579786" cy="80962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2250" b="1" dirty="0">
                <a:solidFill>
                  <a:srgbClr val="1C1E1A"/>
                </a:solidFill>
                <a:latin typeface="IBM Plex Sans" pitchFamily="34" charset="0"/>
                <a:ea typeface="IBM Plex Sans" pitchFamily="34" charset="-122"/>
                <a:cs typeface="IBM Plex Sans" pitchFamily="34" charset="-120"/>
              </a:rPr>
              <a:t>Attend live </a:t>
            </a:r>
            <a:r>
              <a:rPr lang="en-US" sz="2250" dirty="0">
                <a:solidFill>
                  <a:srgbClr val="1C1E1A"/>
                </a:solidFill>
                <a:latin typeface="IBM Plex Sans" pitchFamily="34" charset="0"/>
                <a:ea typeface="IBM Plex Sans" pitchFamily="34" charset="-122"/>
                <a:cs typeface="IBM Plex Sans" pitchFamily="34" charset="-120"/>
              </a:rPr>
              <a:t>each week — the recording is a refresher, not a first viewing.</a:t>
            </a:r>
            <a:endParaRPr lang="en-US" sz="2250" dirty="0"/>
          </a:p>
        </p:txBody>
      </p:sp>
      <p:sp>
        <p:nvSpPr>
          <p:cNvPr id="16" name="Text 14"/>
          <p:cNvSpPr/>
          <p:nvPr/>
        </p:nvSpPr>
        <p:spPr>
          <a:xfrm>
            <a:off x="9486900" y="4998303"/>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17" name="Text 15"/>
          <p:cNvSpPr/>
          <p:nvPr/>
        </p:nvSpPr>
        <p:spPr>
          <a:xfrm>
            <a:off x="9881235" y="4998303"/>
            <a:ext cx="792825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Participate: use your mic, ask in chat, or raise your hand.</a:t>
            </a:r>
            <a:endParaRPr lang="en-US" sz="2250" dirty="0"/>
          </a:p>
        </p:txBody>
      </p:sp>
      <p:sp>
        <p:nvSpPr>
          <p:cNvPr id="18" name="Text 16"/>
          <p:cNvSpPr/>
          <p:nvPr/>
        </p:nvSpPr>
        <p:spPr>
          <a:xfrm>
            <a:off x="9486900" y="5555516"/>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19" name="Text 17"/>
          <p:cNvSpPr/>
          <p:nvPr/>
        </p:nvSpPr>
        <p:spPr>
          <a:xfrm>
            <a:off x="9881235" y="5555516"/>
            <a:ext cx="604132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Write short essays on what you're learning.</a:t>
            </a:r>
            <a:endParaRPr lang="en-US" sz="2250" dirty="0"/>
          </a:p>
        </p:txBody>
      </p:sp>
      <p:sp>
        <p:nvSpPr>
          <p:cNvPr id="20" name="Text 18"/>
          <p:cNvSpPr/>
          <p:nvPr/>
        </p:nvSpPr>
        <p:spPr>
          <a:xfrm>
            <a:off x="9486900" y="6112728"/>
            <a:ext cx="29908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3A6B49"/>
                </a:solidFill>
                <a:latin typeface="IBM Plex Sans" pitchFamily="34" charset="0"/>
                <a:ea typeface="IBM Plex Sans" pitchFamily="34" charset="-122"/>
                <a:cs typeface="IBM Plex Sans" pitchFamily="34" charset="-120"/>
              </a:rPr>
              <a:t>—</a:t>
            </a:r>
            <a:endParaRPr lang="en-US" sz="2250" dirty="0"/>
          </a:p>
        </p:txBody>
      </p:sp>
      <p:sp>
        <p:nvSpPr>
          <p:cNvPr id="21" name="Text 19"/>
          <p:cNvSpPr/>
          <p:nvPr/>
        </p:nvSpPr>
        <p:spPr>
          <a:xfrm>
            <a:off x="9881235" y="6112728"/>
            <a:ext cx="680140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C1E1A"/>
                </a:solidFill>
                <a:latin typeface="IBM Plex Sans" pitchFamily="34" charset="0"/>
                <a:ea typeface="IBM Plex Sans" pitchFamily="34" charset="-122"/>
                <a:cs typeface="IBM Plex Sans" pitchFamily="34" charset="-120"/>
              </a:rPr>
              <a:t>Follow the </a:t>
            </a:r>
            <a:r>
              <a:rPr lang="en-US" sz="2250" b="1" dirty="0">
                <a:solidFill>
                  <a:srgbClr val="1C1E1A"/>
                </a:solidFill>
                <a:latin typeface="IBM Plex Sans" pitchFamily="34" charset="0"/>
                <a:ea typeface="IBM Plex Sans" pitchFamily="34" charset="-122"/>
                <a:cs typeface="IBM Plex Sans" pitchFamily="34" charset="-120"/>
              </a:rPr>
              <a:t>Academic Integrity Policy </a:t>
            </a:r>
            <a:r>
              <a:rPr lang="en-US" sz="2250" dirty="0">
                <a:solidFill>
                  <a:srgbClr val="1C1E1A"/>
                </a:solidFill>
                <a:latin typeface="IBM Plex Sans" pitchFamily="34" charset="0"/>
                <a:ea typeface="IBM Plex Sans" pitchFamily="34" charset="-122"/>
                <a:cs typeface="IBM Plex Sans" pitchFamily="34" charset="-120"/>
              </a:rPr>
              <a:t>for AI use.</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ASSESSMENT OVERVIEW</a:t>
            </a:r>
            <a:endParaRPr lang="en-US" sz="1800" dirty="0"/>
          </a:p>
        </p:txBody>
      </p:sp>
      <p:sp>
        <p:nvSpPr>
          <p:cNvPr id="3" name="Text 1"/>
          <p:cNvSpPr/>
          <p:nvPr/>
        </p:nvSpPr>
        <p:spPr>
          <a:xfrm>
            <a:off x="1047750" y="12344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How you'll be graded</a:t>
            </a:r>
            <a:endParaRPr lang="en-US" sz="4800" dirty="0"/>
          </a:p>
        </p:txBody>
      </p:sp>
      <p:sp>
        <p:nvSpPr>
          <p:cNvPr id="4" name="Text 2"/>
          <p:cNvSpPr/>
          <p:nvPr/>
        </p:nvSpPr>
        <p:spPr>
          <a:xfrm>
            <a:off x="933450" y="3485847"/>
            <a:ext cx="2095500"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Final Project</a:t>
            </a:r>
            <a:endParaRPr lang="en-US" sz="2250" dirty="0"/>
          </a:p>
        </p:txBody>
      </p:sp>
      <p:sp>
        <p:nvSpPr>
          <p:cNvPr id="5" name="Shape 3"/>
          <p:cNvSpPr/>
          <p:nvPr/>
        </p:nvSpPr>
        <p:spPr>
          <a:xfrm>
            <a:off x="3143250" y="3436317"/>
            <a:ext cx="10725150" cy="533400"/>
          </a:xfrm>
          <a:prstGeom prst="roundRect">
            <a:avLst>
              <a:gd name="adj" fmla="val 7143"/>
            </a:avLst>
          </a:prstGeom>
          <a:solidFill>
            <a:srgbClr val="E7E2D3"/>
          </a:solidFill>
          <a:ln/>
        </p:spPr>
      </p:sp>
      <p:sp>
        <p:nvSpPr>
          <p:cNvPr id="6" name="Shape 4"/>
          <p:cNvSpPr/>
          <p:nvPr/>
        </p:nvSpPr>
        <p:spPr>
          <a:xfrm>
            <a:off x="3143250" y="3436317"/>
            <a:ext cx="4290060" cy="533400"/>
          </a:xfrm>
          <a:prstGeom prst="rect">
            <a:avLst/>
          </a:prstGeom>
          <a:solidFill>
            <a:srgbClr val="21402E"/>
          </a:solidFill>
          <a:ln/>
        </p:spPr>
      </p:sp>
      <p:sp>
        <p:nvSpPr>
          <p:cNvPr id="7" name="Text 5"/>
          <p:cNvSpPr/>
          <p:nvPr/>
        </p:nvSpPr>
        <p:spPr>
          <a:xfrm>
            <a:off x="14097000" y="3426792"/>
            <a:ext cx="1123950" cy="590550"/>
          </a:xfrm>
          <a:prstGeom prst="rect">
            <a:avLst/>
          </a:prstGeom>
          <a:noFill/>
          <a:ln/>
        </p:spPr>
        <p:txBody>
          <a:bodyPr wrap="square" lIns="25400" tIns="25400" rIns="25400" bIns="25400" rtlCol="0" anchor="t">
            <a:normAutofit/>
          </a:bodyPr>
          <a:lstStyle/>
          <a:p>
            <a:pPr marL="0" indent="0" algn="r">
              <a:buNone/>
            </a:pPr>
            <a:r>
              <a:rPr lang="en-US" sz="2850" b="1" dirty="0">
                <a:solidFill>
                  <a:srgbClr val="21402E"/>
                </a:solidFill>
                <a:latin typeface="Spectral" pitchFamily="34" charset="0"/>
                <a:ea typeface="Spectral" pitchFamily="34" charset="-122"/>
                <a:cs typeface="Spectral" pitchFamily="34" charset="-120"/>
              </a:rPr>
              <a:t>40%</a:t>
            </a:r>
            <a:endParaRPr lang="en-US" sz="2850" dirty="0"/>
          </a:p>
        </p:txBody>
      </p:sp>
      <p:sp>
        <p:nvSpPr>
          <p:cNvPr id="8" name="Text 6"/>
          <p:cNvSpPr/>
          <p:nvPr/>
        </p:nvSpPr>
        <p:spPr>
          <a:xfrm>
            <a:off x="933450" y="4324047"/>
            <a:ext cx="2095500"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Short Essays</a:t>
            </a:r>
            <a:endParaRPr lang="en-US" sz="2250" dirty="0"/>
          </a:p>
        </p:txBody>
      </p:sp>
      <p:sp>
        <p:nvSpPr>
          <p:cNvPr id="9" name="Shape 7"/>
          <p:cNvSpPr/>
          <p:nvPr/>
        </p:nvSpPr>
        <p:spPr>
          <a:xfrm>
            <a:off x="3143250" y="4274517"/>
            <a:ext cx="10725150" cy="533400"/>
          </a:xfrm>
          <a:prstGeom prst="roundRect">
            <a:avLst>
              <a:gd name="adj" fmla="val 7143"/>
            </a:avLst>
          </a:prstGeom>
          <a:solidFill>
            <a:srgbClr val="E7E2D3"/>
          </a:solidFill>
          <a:ln/>
        </p:spPr>
      </p:sp>
      <p:sp>
        <p:nvSpPr>
          <p:cNvPr id="10" name="Shape 8"/>
          <p:cNvSpPr/>
          <p:nvPr/>
        </p:nvSpPr>
        <p:spPr>
          <a:xfrm>
            <a:off x="3143250" y="4274517"/>
            <a:ext cx="3217545" cy="533400"/>
          </a:xfrm>
          <a:prstGeom prst="rect">
            <a:avLst/>
          </a:prstGeom>
          <a:solidFill>
            <a:srgbClr val="3A6B49"/>
          </a:solidFill>
          <a:ln/>
        </p:spPr>
      </p:sp>
      <p:sp>
        <p:nvSpPr>
          <p:cNvPr id="11" name="Text 9"/>
          <p:cNvSpPr/>
          <p:nvPr/>
        </p:nvSpPr>
        <p:spPr>
          <a:xfrm>
            <a:off x="14097000" y="4264992"/>
            <a:ext cx="1123950" cy="590550"/>
          </a:xfrm>
          <a:prstGeom prst="rect">
            <a:avLst/>
          </a:prstGeom>
          <a:noFill/>
          <a:ln/>
        </p:spPr>
        <p:txBody>
          <a:bodyPr wrap="square" lIns="25400" tIns="25400" rIns="25400" bIns="25400" rtlCol="0" anchor="t">
            <a:normAutofit/>
          </a:bodyPr>
          <a:lstStyle/>
          <a:p>
            <a:pPr marL="0" indent="0" algn="r">
              <a:buNone/>
            </a:pPr>
            <a:r>
              <a:rPr lang="en-US" sz="2850" b="1" dirty="0">
                <a:solidFill>
                  <a:srgbClr val="21402E"/>
                </a:solidFill>
                <a:latin typeface="Spectral" pitchFamily="34" charset="0"/>
                <a:ea typeface="Spectral" pitchFamily="34" charset="-122"/>
                <a:cs typeface="Spectral" pitchFamily="34" charset="-120"/>
              </a:rPr>
              <a:t>30%</a:t>
            </a:r>
            <a:endParaRPr lang="en-US" sz="2850" dirty="0"/>
          </a:p>
        </p:txBody>
      </p:sp>
      <p:sp>
        <p:nvSpPr>
          <p:cNvPr id="12" name="Text 10"/>
          <p:cNvSpPr/>
          <p:nvPr/>
        </p:nvSpPr>
        <p:spPr>
          <a:xfrm>
            <a:off x="933450" y="5162247"/>
            <a:ext cx="2095500"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Participation</a:t>
            </a:r>
            <a:endParaRPr lang="en-US" sz="2250" dirty="0"/>
          </a:p>
        </p:txBody>
      </p:sp>
      <p:sp>
        <p:nvSpPr>
          <p:cNvPr id="13" name="Shape 11"/>
          <p:cNvSpPr/>
          <p:nvPr/>
        </p:nvSpPr>
        <p:spPr>
          <a:xfrm>
            <a:off x="3143250" y="5112717"/>
            <a:ext cx="10725150" cy="533400"/>
          </a:xfrm>
          <a:prstGeom prst="roundRect">
            <a:avLst>
              <a:gd name="adj" fmla="val 7143"/>
            </a:avLst>
          </a:prstGeom>
          <a:solidFill>
            <a:srgbClr val="E7E2D3"/>
          </a:solidFill>
          <a:ln/>
        </p:spPr>
      </p:sp>
      <p:sp>
        <p:nvSpPr>
          <p:cNvPr id="14" name="Shape 12"/>
          <p:cNvSpPr/>
          <p:nvPr/>
        </p:nvSpPr>
        <p:spPr>
          <a:xfrm>
            <a:off x="3143250" y="5112717"/>
            <a:ext cx="2145030" cy="533400"/>
          </a:xfrm>
          <a:prstGeom prst="rect">
            <a:avLst/>
          </a:prstGeom>
          <a:solidFill>
            <a:srgbClr val="6A9A78"/>
          </a:solidFill>
          <a:ln/>
        </p:spPr>
      </p:sp>
      <p:sp>
        <p:nvSpPr>
          <p:cNvPr id="15" name="Text 13"/>
          <p:cNvSpPr/>
          <p:nvPr/>
        </p:nvSpPr>
        <p:spPr>
          <a:xfrm>
            <a:off x="14097000" y="5103192"/>
            <a:ext cx="1123950" cy="590550"/>
          </a:xfrm>
          <a:prstGeom prst="rect">
            <a:avLst/>
          </a:prstGeom>
          <a:noFill/>
          <a:ln/>
        </p:spPr>
        <p:txBody>
          <a:bodyPr wrap="square" lIns="25400" tIns="25400" rIns="25400" bIns="25400" rtlCol="0" anchor="t">
            <a:normAutofit/>
          </a:bodyPr>
          <a:lstStyle/>
          <a:p>
            <a:pPr marL="0" indent="0" algn="r">
              <a:buNone/>
            </a:pPr>
            <a:r>
              <a:rPr lang="en-US" sz="2850" b="1" dirty="0">
                <a:solidFill>
                  <a:srgbClr val="21402E"/>
                </a:solidFill>
                <a:latin typeface="Spectral" pitchFamily="34" charset="0"/>
                <a:ea typeface="Spectral" pitchFamily="34" charset="-122"/>
                <a:cs typeface="Spectral" pitchFamily="34" charset="-120"/>
              </a:rPr>
              <a:t>20%</a:t>
            </a:r>
            <a:endParaRPr lang="en-US" sz="2850" dirty="0"/>
          </a:p>
        </p:txBody>
      </p:sp>
      <p:sp>
        <p:nvSpPr>
          <p:cNvPr id="16" name="Text 14"/>
          <p:cNvSpPr/>
          <p:nvPr/>
        </p:nvSpPr>
        <p:spPr>
          <a:xfrm>
            <a:off x="933450" y="6000447"/>
            <a:ext cx="2095500" cy="472440"/>
          </a:xfrm>
          <a:prstGeom prst="rect">
            <a:avLst/>
          </a:prstGeom>
          <a:noFill/>
          <a:ln/>
        </p:spPr>
        <p:txBody>
          <a:bodyPr wrap="square" lIns="25400" tIns="25400" rIns="25400" bIns="25400" rtlCol="0" anchor="t">
            <a:normAutofit/>
          </a:bodyPr>
          <a:lstStyle/>
          <a:p>
            <a:pPr marL="0" indent="0" algn="l">
              <a:buNone/>
            </a:pPr>
            <a:r>
              <a:rPr lang="en-US" sz="2250" b="1" dirty="0">
                <a:solidFill>
                  <a:srgbClr val="1C1E1A"/>
                </a:solidFill>
                <a:latin typeface="Spectral" pitchFamily="34" charset="0"/>
                <a:ea typeface="Spectral" pitchFamily="34" charset="-122"/>
                <a:cs typeface="Spectral" pitchFamily="34" charset="-120"/>
              </a:rPr>
              <a:t>Quizzes</a:t>
            </a:r>
            <a:endParaRPr lang="en-US" sz="2250" dirty="0"/>
          </a:p>
        </p:txBody>
      </p:sp>
      <p:sp>
        <p:nvSpPr>
          <p:cNvPr id="17" name="Shape 15"/>
          <p:cNvSpPr/>
          <p:nvPr/>
        </p:nvSpPr>
        <p:spPr>
          <a:xfrm>
            <a:off x="3143250" y="5950917"/>
            <a:ext cx="10725150" cy="533400"/>
          </a:xfrm>
          <a:prstGeom prst="roundRect">
            <a:avLst>
              <a:gd name="adj" fmla="val 7143"/>
            </a:avLst>
          </a:prstGeom>
          <a:solidFill>
            <a:srgbClr val="E7E2D3"/>
          </a:solidFill>
          <a:ln/>
        </p:spPr>
      </p:sp>
      <p:sp>
        <p:nvSpPr>
          <p:cNvPr id="18" name="Shape 16"/>
          <p:cNvSpPr/>
          <p:nvPr/>
        </p:nvSpPr>
        <p:spPr>
          <a:xfrm>
            <a:off x="3143250" y="5950917"/>
            <a:ext cx="1072515" cy="533400"/>
          </a:xfrm>
          <a:prstGeom prst="rect">
            <a:avLst/>
          </a:prstGeom>
          <a:solidFill>
            <a:srgbClr val="CAB06A"/>
          </a:solidFill>
          <a:ln/>
        </p:spPr>
      </p:sp>
      <p:sp>
        <p:nvSpPr>
          <p:cNvPr id="19" name="Text 17"/>
          <p:cNvSpPr/>
          <p:nvPr/>
        </p:nvSpPr>
        <p:spPr>
          <a:xfrm>
            <a:off x="14097000" y="5941392"/>
            <a:ext cx="1123950" cy="590550"/>
          </a:xfrm>
          <a:prstGeom prst="rect">
            <a:avLst/>
          </a:prstGeom>
          <a:noFill/>
          <a:ln/>
        </p:spPr>
        <p:txBody>
          <a:bodyPr wrap="square" lIns="25400" tIns="25400" rIns="25400" bIns="25400" rtlCol="0" anchor="t">
            <a:normAutofit/>
          </a:bodyPr>
          <a:lstStyle/>
          <a:p>
            <a:pPr marL="0" indent="0" algn="r">
              <a:buNone/>
            </a:pPr>
            <a:r>
              <a:rPr lang="en-US" sz="2850" b="1" dirty="0">
                <a:solidFill>
                  <a:srgbClr val="21402E"/>
                </a:solidFill>
                <a:latin typeface="Spectral" pitchFamily="34" charset="0"/>
                <a:ea typeface="Spectral" pitchFamily="34" charset="-122"/>
                <a:cs typeface="Spectral" pitchFamily="34" charset="-120"/>
              </a:rPr>
              <a:t>10%</a:t>
            </a:r>
            <a:endParaRPr lang="en-US" sz="2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047750" y="914400"/>
            <a:ext cx="17811750" cy="33909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CAE62"/>
                </a:solidFill>
                <a:latin typeface="IBM Plex Mono" pitchFamily="34" charset="0"/>
                <a:ea typeface="IBM Plex Mono" pitchFamily="34" charset="-122"/>
                <a:cs typeface="IBM Plex Mono" pitchFamily="34" charset="-120"/>
              </a:rPr>
              <a:t>PART TWO</a:t>
            </a:r>
            <a:endParaRPr lang="en-US" sz="1800" dirty="0"/>
          </a:p>
        </p:txBody>
      </p:sp>
      <p:sp>
        <p:nvSpPr>
          <p:cNvPr id="3" name="Text 1"/>
          <p:cNvSpPr/>
          <p:nvPr/>
        </p:nvSpPr>
        <p:spPr>
          <a:xfrm>
            <a:off x="1047750" y="3480435"/>
            <a:ext cx="1781175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3A6B49"/>
                </a:solidFill>
                <a:latin typeface="Spectral" pitchFamily="34" charset="0"/>
                <a:ea typeface="Spectral" pitchFamily="34" charset="-122"/>
                <a:cs typeface="Spectral" pitchFamily="34" charset="-120"/>
              </a:rPr>
              <a:t>02</a:t>
            </a:r>
            <a:endParaRPr lang="en-US" sz="15000" dirty="0"/>
          </a:p>
        </p:txBody>
      </p:sp>
      <p:sp>
        <p:nvSpPr>
          <p:cNvPr id="4" name="Text 2"/>
          <p:cNvSpPr/>
          <p:nvPr/>
        </p:nvSpPr>
        <p:spPr>
          <a:xfrm>
            <a:off x="1047750" y="5309235"/>
            <a:ext cx="17811750" cy="918210"/>
          </a:xfrm>
          <a:prstGeom prst="rect">
            <a:avLst/>
          </a:prstGeom>
          <a:noFill/>
          <a:ln/>
        </p:spPr>
        <p:txBody>
          <a:bodyPr wrap="square" lIns="25400" tIns="25400" rIns="25400" bIns="25400" rtlCol="0" anchor="t">
            <a:normAutofit/>
          </a:bodyPr>
          <a:lstStyle/>
          <a:p>
            <a:pPr marL="0" indent="0" algn="l">
              <a:lnSpc>
                <a:spcPct val="105000"/>
              </a:lnSpc>
              <a:buNone/>
            </a:pPr>
            <a:r>
              <a:rPr lang="en-US" sz="6600" b="1" kern="0" spc="-66" dirty="0">
                <a:solidFill>
                  <a:srgbClr val="F4F1E8"/>
                </a:solidFill>
                <a:latin typeface="Spectral" pitchFamily="34" charset="0"/>
                <a:ea typeface="Spectral" pitchFamily="34" charset="-122"/>
                <a:cs typeface="Spectral" pitchFamily="34" charset="-120"/>
              </a:rPr>
              <a:t>What Is AI?</a:t>
            </a:r>
            <a:endParaRPr lang="en-US" sz="6600" dirty="0"/>
          </a:p>
        </p:txBody>
      </p:sp>
      <p:sp>
        <p:nvSpPr>
          <p:cNvPr id="5" name="Text 3"/>
          <p:cNvSpPr/>
          <p:nvPr/>
        </p:nvSpPr>
        <p:spPr>
          <a:xfrm>
            <a:off x="1047750" y="6417945"/>
            <a:ext cx="1047750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CDD9CF"/>
                </a:solidFill>
                <a:latin typeface="IBM Plex Sans" pitchFamily="34" charset="0"/>
                <a:ea typeface="IBM Plex Sans" pitchFamily="34" charset="-122"/>
                <a:cs typeface="IBM Plex Sans" pitchFamily="34" charset="-120"/>
              </a:rPr>
              <a:t>A definition that survives contact with reality — past the hype.</a:t>
            </a:r>
            <a:endParaRPr lang="en-US" sz="2550" dirty="0"/>
          </a:p>
        </p:txBody>
      </p:sp>
      <p:sp>
        <p:nvSpPr>
          <p:cNvPr id="6" name="Text 4"/>
          <p:cNvSpPr/>
          <p:nvPr/>
        </p:nvSpPr>
        <p:spPr>
          <a:xfrm>
            <a:off x="1047750" y="9102090"/>
            <a:ext cx="17811750" cy="308610"/>
          </a:xfrm>
          <a:prstGeom prst="rect">
            <a:avLst/>
          </a:prstGeom>
          <a:noFill/>
          <a:ln/>
        </p:spPr>
        <p:txBody>
          <a:bodyPr wrap="square" lIns="25400" tIns="25400" rIns="25400" bIns="25400" rtlCol="0" anchor="t">
            <a:normAutofit/>
          </a:bodyPr>
          <a:lstStyle/>
          <a:p>
            <a:pPr marL="0" indent="0" algn="l">
              <a:buNone/>
            </a:pPr>
            <a:r>
              <a:rPr lang="en-US" sz="1650" dirty="0">
                <a:solidFill>
                  <a:srgbClr val="9BB0A1"/>
                </a:solidFill>
                <a:latin typeface="IBM Plex Mono" pitchFamily="34" charset="0"/>
                <a:ea typeface="IBM Plex Mono" pitchFamily="34" charset="-122"/>
                <a:cs typeface="IBM Plex Mono" pitchFamily="34" charset="-120"/>
              </a:rPr>
              <a:t>CIAI · Class 01 †</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3383756"/>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DISCUSSION · 2 MINUTES</a:t>
            </a:r>
            <a:endParaRPr lang="en-US" sz="1800" dirty="0"/>
          </a:p>
        </p:txBody>
      </p:sp>
      <p:sp>
        <p:nvSpPr>
          <p:cNvPr id="3" name="Text 1"/>
          <p:cNvSpPr/>
          <p:nvPr/>
        </p:nvSpPr>
        <p:spPr>
          <a:xfrm>
            <a:off x="1047750" y="3856196"/>
            <a:ext cx="17811750" cy="818198"/>
          </a:xfrm>
          <a:prstGeom prst="rect">
            <a:avLst/>
          </a:prstGeom>
          <a:noFill/>
          <a:ln/>
        </p:spPr>
        <p:txBody>
          <a:bodyPr wrap="square" lIns="25400" tIns="25400" rIns="25400" bIns="25400" rtlCol="0" anchor="t">
            <a:normAutofit/>
          </a:bodyPr>
          <a:lstStyle/>
          <a:p>
            <a:pPr marL="0" indent="0" algn="l">
              <a:lnSpc>
                <a:spcPct val="105000"/>
              </a:lnSpc>
              <a:buNone/>
            </a:pPr>
            <a:r>
              <a:rPr lang="en-US" sz="5850" b="1" kern="0" spc="-58" dirty="0">
                <a:solidFill>
                  <a:srgbClr val="1C1E1A"/>
                </a:solidFill>
                <a:latin typeface="Spectral" pitchFamily="34" charset="0"/>
                <a:ea typeface="Spectral" pitchFamily="34" charset="-122"/>
                <a:cs typeface="Spectral" pitchFamily="34" charset="-120"/>
              </a:rPr>
              <a:t>What is AI, in your own words?</a:t>
            </a:r>
            <a:endParaRPr lang="en-US" sz="5850" dirty="0"/>
          </a:p>
        </p:txBody>
      </p:sp>
      <p:sp>
        <p:nvSpPr>
          <p:cNvPr id="4" name="Text 2"/>
          <p:cNvSpPr/>
          <p:nvPr/>
        </p:nvSpPr>
        <p:spPr>
          <a:xfrm>
            <a:off x="1047750" y="5017294"/>
            <a:ext cx="7946708" cy="1924050"/>
          </a:xfrm>
          <a:prstGeom prst="rect">
            <a:avLst/>
          </a:prstGeom>
          <a:noFill/>
          <a:ln/>
        </p:spPr>
        <p:txBody>
          <a:bodyPr wrap="square" lIns="25400" tIns="25400" rIns="25400" bIns="25400" rtlCol="0" anchor="t">
            <a:normAutofit/>
          </a:bodyPr>
          <a:lstStyle/>
          <a:p>
            <a:pPr marL="0" indent="0" algn="l">
              <a:lnSpc>
                <a:spcPct val="150000"/>
              </a:lnSpc>
              <a:buNone/>
            </a:pPr>
            <a:r>
              <a:rPr lang="en-US" sz="2475" dirty="0">
                <a:solidFill>
                  <a:srgbClr val="33352F"/>
                </a:solidFill>
                <a:latin typeface="IBM Plex Sans" pitchFamily="34" charset="0"/>
                <a:ea typeface="IBM Plex Sans" pitchFamily="34" charset="-122"/>
                <a:cs typeface="IBM Plex Sans" pitchFamily="34" charset="-120"/>
              </a:rPr>
              <a:t>When scientists speak of artificial intelligence, they mean the ways a computer can be intelligent </a:t>
            </a:r>
            <a:r>
              <a:rPr lang="en-US" sz="2475" i="1" dirty="0">
                <a:solidFill>
                  <a:srgbClr val="33352F"/>
                </a:solidFill>
                <a:latin typeface="IBM Plex Sans" pitchFamily="34" charset="0"/>
                <a:ea typeface="IBM Plex Sans" pitchFamily="34" charset="-122"/>
                <a:cs typeface="IBM Plex Sans" pitchFamily="34" charset="-120"/>
              </a:rPr>
              <a:t>like </a:t>
            </a:r>
            <a:r>
              <a:rPr lang="en-US" sz="2475" dirty="0">
                <a:solidFill>
                  <a:srgbClr val="33352F"/>
                </a:solidFill>
                <a:latin typeface="IBM Plex Sans" pitchFamily="34" charset="0"/>
                <a:ea typeface="IBM Plex Sans" pitchFamily="34" charset="-122"/>
                <a:cs typeface="IBM Plex Sans" pitchFamily="34" charset="-120"/>
              </a:rPr>
              <a:t>humans — which turns out to have little to do with human intelligence itself.</a:t>
            </a:r>
            <a:endParaRPr lang="en-US" sz="2475" dirty="0"/>
          </a:p>
        </p:txBody>
      </p:sp>
      <p:sp>
        <p:nvSpPr>
          <p:cNvPr id="5" name="Text 3"/>
          <p:cNvSpPr/>
          <p:nvPr/>
        </p:nvSpPr>
        <p:spPr>
          <a:xfrm>
            <a:off x="9525000" y="5017294"/>
            <a:ext cx="8486775" cy="308610"/>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8A8470"/>
                </a:solidFill>
                <a:latin typeface="IBM Plex Mono" pitchFamily="34" charset="0"/>
                <a:ea typeface="IBM Plex Mono" pitchFamily="34" charset="-122"/>
                <a:cs typeface="IBM Plex Mono" pitchFamily="34" charset="-120"/>
              </a:rPr>
              <a:t>INSTEAD THEY ASK</a:t>
            </a:r>
            <a:endParaRPr lang="en-US" sz="1650" dirty="0"/>
          </a:p>
        </p:txBody>
      </p:sp>
      <p:sp>
        <p:nvSpPr>
          <p:cNvPr id="6" name="Text 4"/>
          <p:cNvSpPr/>
          <p:nvPr/>
        </p:nvSpPr>
        <p:spPr>
          <a:xfrm>
            <a:off x="9525000" y="5478304"/>
            <a:ext cx="7946708" cy="929640"/>
          </a:xfrm>
          <a:prstGeom prst="rect">
            <a:avLst/>
          </a:prstGeom>
          <a:noFill/>
          <a:ln/>
        </p:spPr>
        <p:txBody>
          <a:bodyPr wrap="square" lIns="25400" tIns="25400" rIns="25400" bIns="25400" rtlCol="0" anchor="t">
            <a:normAutofit/>
          </a:bodyPr>
          <a:lstStyle/>
          <a:p>
            <a:pPr marL="0" indent="0" algn="l">
              <a:lnSpc>
                <a:spcPct val="130000"/>
              </a:lnSpc>
              <a:buNone/>
            </a:pPr>
            <a:r>
              <a:rPr lang="en-US" sz="2700" i="1" dirty="0">
                <a:solidFill>
                  <a:srgbClr val="21402E"/>
                </a:solidFill>
                <a:latin typeface="Spectral" pitchFamily="34" charset="0"/>
                <a:ea typeface="Spectral" pitchFamily="34" charset="-122"/>
                <a:cs typeface="Spectral" pitchFamily="34" charset="-120"/>
              </a:rPr>
              <a:t>Can a computer display intelligence? How would it demonstrate it — what would it actually have to do?</a:t>
            </a:r>
            <a:endParaRPr lang="en-US" sz="2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7620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THE HUMAN YARDSTICK</a:t>
            </a:r>
            <a:endParaRPr lang="en-US" sz="1800" dirty="0"/>
          </a:p>
        </p:txBody>
      </p:sp>
      <p:sp>
        <p:nvSpPr>
          <p:cNvPr id="3" name="Text 1"/>
          <p:cNvSpPr/>
          <p:nvPr/>
        </p:nvSpPr>
        <p:spPr>
          <a:xfrm>
            <a:off x="1047750" y="11963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How humans demonstrate intelligence</a:t>
            </a:r>
            <a:endParaRPr lang="en-US" sz="4800" dirty="0"/>
          </a:p>
        </p:txBody>
      </p:sp>
      <p:sp>
        <p:nvSpPr>
          <p:cNvPr id="4" name="Shape 2"/>
          <p:cNvSpPr/>
          <p:nvPr/>
        </p:nvSpPr>
        <p:spPr>
          <a:xfrm>
            <a:off x="1047750" y="3122831"/>
            <a:ext cx="7791450" cy="9525"/>
          </a:xfrm>
          <a:prstGeom prst="rect">
            <a:avLst/>
          </a:prstGeom>
          <a:solidFill>
            <a:srgbClr val="E0DAC9"/>
          </a:solidFill>
          <a:ln/>
        </p:spPr>
      </p:sp>
      <p:sp>
        <p:nvSpPr>
          <p:cNvPr id="5" name="Text 3"/>
          <p:cNvSpPr/>
          <p:nvPr/>
        </p:nvSpPr>
        <p:spPr>
          <a:xfrm>
            <a:off x="1047750" y="2230338"/>
            <a:ext cx="2933700" cy="48768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Learning</a:t>
            </a:r>
            <a:endParaRPr lang="en-US" sz="2325" dirty="0"/>
          </a:p>
        </p:txBody>
      </p:sp>
      <p:sp>
        <p:nvSpPr>
          <p:cNvPr id="6" name="Text 4"/>
          <p:cNvSpPr/>
          <p:nvPr/>
        </p:nvSpPr>
        <p:spPr>
          <a:xfrm>
            <a:off x="3924300" y="2276058"/>
            <a:ext cx="5062347" cy="732473"/>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Obtain, process, and retain new information.</a:t>
            </a:r>
            <a:endParaRPr lang="en-US" sz="2025" dirty="0"/>
          </a:p>
        </p:txBody>
      </p:sp>
      <p:sp>
        <p:nvSpPr>
          <p:cNvPr id="7" name="Shape 5"/>
          <p:cNvSpPr/>
          <p:nvPr/>
        </p:nvSpPr>
        <p:spPr>
          <a:xfrm>
            <a:off x="9448800" y="3122831"/>
            <a:ext cx="7791450" cy="9525"/>
          </a:xfrm>
          <a:prstGeom prst="rect">
            <a:avLst/>
          </a:prstGeom>
          <a:solidFill>
            <a:srgbClr val="E0DAC9"/>
          </a:solidFill>
          <a:ln/>
        </p:spPr>
      </p:sp>
      <p:sp>
        <p:nvSpPr>
          <p:cNvPr id="8" name="Text 6"/>
          <p:cNvSpPr/>
          <p:nvPr/>
        </p:nvSpPr>
        <p:spPr>
          <a:xfrm>
            <a:off x="9448800" y="2230338"/>
            <a:ext cx="2933700" cy="48768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Reasoning</a:t>
            </a:r>
            <a:endParaRPr lang="en-US" sz="2325" dirty="0"/>
          </a:p>
        </p:txBody>
      </p:sp>
      <p:sp>
        <p:nvSpPr>
          <p:cNvPr id="9" name="Text 7"/>
          <p:cNvSpPr/>
          <p:nvPr/>
        </p:nvSpPr>
        <p:spPr>
          <a:xfrm>
            <a:off x="12325350" y="2276058"/>
            <a:ext cx="4341287" cy="385286"/>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Manipulate and judge information.</a:t>
            </a:r>
            <a:endParaRPr lang="en-US" sz="2025" dirty="0"/>
          </a:p>
        </p:txBody>
      </p:sp>
      <p:sp>
        <p:nvSpPr>
          <p:cNvPr id="10" name="Shape 8"/>
          <p:cNvSpPr/>
          <p:nvPr/>
        </p:nvSpPr>
        <p:spPr>
          <a:xfrm>
            <a:off x="1047750" y="3941981"/>
            <a:ext cx="7791450" cy="9525"/>
          </a:xfrm>
          <a:prstGeom prst="rect">
            <a:avLst/>
          </a:prstGeom>
          <a:solidFill>
            <a:srgbClr val="E0DAC9"/>
          </a:solidFill>
          <a:ln/>
        </p:spPr>
      </p:sp>
      <p:sp>
        <p:nvSpPr>
          <p:cNvPr id="11" name="Text 9"/>
          <p:cNvSpPr/>
          <p:nvPr/>
        </p:nvSpPr>
        <p:spPr>
          <a:xfrm>
            <a:off x="1047750" y="3340001"/>
            <a:ext cx="2933700" cy="48768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Understanding</a:t>
            </a:r>
            <a:endParaRPr lang="en-US" sz="2325" dirty="0"/>
          </a:p>
        </p:txBody>
      </p:sp>
      <p:sp>
        <p:nvSpPr>
          <p:cNvPr id="12" name="Text 10"/>
          <p:cNvSpPr/>
          <p:nvPr/>
        </p:nvSpPr>
        <p:spPr>
          <a:xfrm>
            <a:off x="3924300" y="3385721"/>
            <a:ext cx="4938504" cy="385286"/>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Analyze the results of new information.</a:t>
            </a:r>
            <a:endParaRPr lang="en-US" sz="2025" dirty="0"/>
          </a:p>
        </p:txBody>
      </p:sp>
      <p:sp>
        <p:nvSpPr>
          <p:cNvPr id="13" name="Shape 11"/>
          <p:cNvSpPr/>
          <p:nvPr/>
        </p:nvSpPr>
        <p:spPr>
          <a:xfrm>
            <a:off x="9448800" y="3941981"/>
            <a:ext cx="7791450" cy="9525"/>
          </a:xfrm>
          <a:prstGeom prst="rect">
            <a:avLst/>
          </a:prstGeom>
          <a:solidFill>
            <a:srgbClr val="E0DAC9"/>
          </a:solidFill>
          <a:ln/>
        </p:spPr>
      </p:sp>
      <p:sp>
        <p:nvSpPr>
          <p:cNvPr id="14" name="Text 12"/>
          <p:cNvSpPr/>
          <p:nvPr/>
        </p:nvSpPr>
        <p:spPr>
          <a:xfrm>
            <a:off x="9448800" y="3340001"/>
            <a:ext cx="2933700" cy="48768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Grasping truth</a:t>
            </a:r>
            <a:endParaRPr lang="en-US" sz="2325" dirty="0"/>
          </a:p>
        </p:txBody>
      </p:sp>
      <p:sp>
        <p:nvSpPr>
          <p:cNvPr id="15" name="Text 13"/>
          <p:cNvSpPr/>
          <p:nvPr/>
        </p:nvSpPr>
        <p:spPr>
          <a:xfrm>
            <a:off x="12325350" y="3385721"/>
            <a:ext cx="4027027" cy="385286"/>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Validate processed information.</a:t>
            </a:r>
            <a:endParaRPr lang="en-US" sz="2025" dirty="0"/>
          </a:p>
        </p:txBody>
      </p:sp>
      <p:sp>
        <p:nvSpPr>
          <p:cNvPr id="16" name="Shape 14"/>
          <p:cNvSpPr/>
          <p:nvPr/>
        </p:nvSpPr>
        <p:spPr>
          <a:xfrm>
            <a:off x="1047750" y="4761131"/>
            <a:ext cx="7791450" cy="9525"/>
          </a:xfrm>
          <a:prstGeom prst="rect">
            <a:avLst/>
          </a:prstGeom>
          <a:solidFill>
            <a:srgbClr val="E0DAC9"/>
          </a:solidFill>
          <a:ln/>
        </p:spPr>
      </p:sp>
      <p:sp>
        <p:nvSpPr>
          <p:cNvPr id="17" name="Text 15"/>
          <p:cNvSpPr/>
          <p:nvPr/>
        </p:nvSpPr>
        <p:spPr>
          <a:xfrm>
            <a:off x="1047750" y="4159151"/>
            <a:ext cx="2994404" cy="48768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Seeing relationships</a:t>
            </a:r>
            <a:endParaRPr lang="en-US" sz="2325" dirty="0"/>
          </a:p>
        </p:txBody>
      </p:sp>
      <p:sp>
        <p:nvSpPr>
          <p:cNvPr id="18" name="Text 16"/>
          <p:cNvSpPr/>
          <p:nvPr/>
        </p:nvSpPr>
        <p:spPr>
          <a:xfrm>
            <a:off x="3979486" y="4204871"/>
            <a:ext cx="5314188" cy="385286"/>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Notice how data interacts with other data.</a:t>
            </a:r>
            <a:endParaRPr lang="en-US" sz="2025" dirty="0"/>
          </a:p>
        </p:txBody>
      </p:sp>
      <p:sp>
        <p:nvSpPr>
          <p:cNvPr id="19" name="Shape 17"/>
          <p:cNvSpPr/>
          <p:nvPr/>
        </p:nvSpPr>
        <p:spPr>
          <a:xfrm>
            <a:off x="9448800" y="4761131"/>
            <a:ext cx="7791450" cy="9525"/>
          </a:xfrm>
          <a:prstGeom prst="rect">
            <a:avLst/>
          </a:prstGeom>
          <a:solidFill>
            <a:srgbClr val="E0DAC9"/>
          </a:solidFill>
          <a:ln/>
        </p:spPr>
      </p:sp>
      <p:sp>
        <p:nvSpPr>
          <p:cNvPr id="20" name="Text 18"/>
          <p:cNvSpPr/>
          <p:nvPr/>
        </p:nvSpPr>
        <p:spPr>
          <a:xfrm>
            <a:off x="9448800" y="4159151"/>
            <a:ext cx="3173045" cy="48768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Considering meaning</a:t>
            </a:r>
            <a:endParaRPr lang="en-US" sz="2325" dirty="0"/>
          </a:p>
        </p:txBody>
      </p:sp>
      <p:sp>
        <p:nvSpPr>
          <p:cNvPr id="21" name="Text 19"/>
          <p:cNvSpPr/>
          <p:nvPr/>
        </p:nvSpPr>
        <p:spPr>
          <a:xfrm>
            <a:off x="12542937" y="4204871"/>
            <a:ext cx="3817674" cy="385286"/>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Apply truths to real situations.</a:t>
            </a:r>
            <a:endParaRPr lang="en-US" sz="2025" dirty="0"/>
          </a:p>
        </p:txBody>
      </p:sp>
      <p:sp>
        <p:nvSpPr>
          <p:cNvPr id="22" name="Text 20"/>
          <p:cNvSpPr/>
          <p:nvPr/>
        </p:nvSpPr>
        <p:spPr>
          <a:xfrm>
            <a:off x="1047750" y="4978301"/>
            <a:ext cx="2928386" cy="937260"/>
          </a:xfrm>
          <a:prstGeom prst="rect">
            <a:avLst/>
          </a:prstGeom>
          <a:noFill/>
          <a:ln/>
        </p:spPr>
        <p:txBody>
          <a:bodyPr wrap="square" lIns="25400" tIns="25400" rIns="25400" bIns="25400" rtlCol="0" anchor="t">
            <a:normAutofit/>
          </a:bodyPr>
          <a:lstStyle/>
          <a:p>
            <a:pPr marL="0" indent="0" algn="l">
              <a:buNone/>
            </a:pPr>
            <a:r>
              <a:rPr lang="en-US" sz="2325" b="1" dirty="0">
                <a:solidFill>
                  <a:srgbClr val="1C1E1A"/>
                </a:solidFill>
                <a:latin typeface="Spectral" pitchFamily="34" charset="0"/>
                <a:ea typeface="Spectral" pitchFamily="34" charset="-122"/>
                <a:cs typeface="Spectral" pitchFamily="34" charset="-120"/>
              </a:rPr>
              <a:t>Separating fact from belief</a:t>
            </a:r>
            <a:endParaRPr lang="en-US" sz="2325" dirty="0"/>
          </a:p>
        </p:txBody>
      </p:sp>
      <p:sp>
        <p:nvSpPr>
          <p:cNvPr id="23" name="Text 21"/>
          <p:cNvSpPr/>
          <p:nvPr/>
        </p:nvSpPr>
        <p:spPr>
          <a:xfrm>
            <a:off x="4100394" y="5024021"/>
            <a:ext cx="4880971" cy="732473"/>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55564D"/>
                </a:solidFill>
                <a:latin typeface="IBM Plex Sans" pitchFamily="34" charset="0"/>
                <a:ea typeface="IBM Plex Sans" pitchFamily="34" charset="-122"/>
                <a:cs typeface="IBM Plex Sans" pitchFamily="34" charset="-120"/>
              </a:rPr>
              <a:t>Judge whether the data truly supports a conclusion.</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7620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FOUR WAYS TO CATEGORIZE AI</a:t>
            </a:r>
            <a:endParaRPr lang="en-US" sz="1800" dirty="0"/>
          </a:p>
        </p:txBody>
      </p:sp>
      <p:sp>
        <p:nvSpPr>
          <p:cNvPr id="3" name="Text 1"/>
          <p:cNvSpPr/>
          <p:nvPr/>
        </p:nvSpPr>
        <p:spPr>
          <a:xfrm>
            <a:off x="1047750" y="11963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Acting or thinking — humanly or rationally</a:t>
            </a:r>
            <a:endParaRPr lang="en-US" sz="4800" dirty="0"/>
          </a:p>
        </p:txBody>
      </p:sp>
      <p:sp>
        <p:nvSpPr>
          <p:cNvPr id="4" name="Shape 2"/>
          <p:cNvSpPr/>
          <p:nvPr/>
        </p:nvSpPr>
        <p:spPr>
          <a:xfrm>
            <a:off x="1047750" y="2211288"/>
            <a:ext cx="7981950" cy="1765935"/>
          </a:xfrm>
          <a:prstGeom prst="roundRect">
            <a:avLst>
              <a:gd name="adj" fmla="val 3236"/>
            </a:avLst>
          </a:prstGeom>
          <a:solidFill>
            <a:srgbClr val="FFFFFF"/>
          </a:solidFill>
          <a:ln w="19050">
            <a:solidFill>
              <a:srgbClr val="DDD8C8"/>
            </a:solidFill>
            <a:prstDash val="solid"/>
          </a:ln>
        </p:spPr>
      </p:sp>
      <p:sp>
        <p:nvSpPr>
          <p:cNvPr id="5" name="Text 3"/>
          <p:cNvSpPr/>
          <p:nvPr/>
        </p:nvSpPr>
        <p:spPr>
          <a:xfrm>
            <a:off x="1390650" y="2516088"/>
            <a:ext cx="8025765"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3A6B49"/>
                </a:solidFill>
                <a:latin typeface="IBM Plex Mono" pitchFamily="34" charset="0"/>
                <a:ea typeface="IBM Plex Mono" pitchFamily="34" charset="-122"/>
                <a:cs typeface="IBM Plex Mono" pitchFamily="34" charset="-120"/>
              </a:rPr>
              <a:t>ACTING HUMANLY</a:t>
            </a:r>
            <a:endParaRPr lang="en-US" sz="1575" dirty="0"/>
          </a:p>
        </p:txBody>
      </p:sp>
      <p:sp>
        <p:nvSpPr>
          <p:cNvPr id="6" name="Text 4"/>
          <p:cNvSpPr/>
          <p:nvPr/>
        </p:nvSpPr>
        <p:spPr>
          <a:xfrm>
            <a:off x="1390650" y="2870418"/>
            <a:ext cx="8025765" cy="42481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C1E1A"/>
                </a:solidFill>
                <a:latin typeface="IBM Plex Sans" pitchFamily="34" charset="0"/>
                <a:ea typeface="IBM Plex Sans" pitchFamily="34" charset="-122"/>
                <a:cs typeface="IBM Plex Sans" pitchFamily="34" charset="-120"/>
              </a:rPr>
              <a:t>A user can't tell the computer from a human.</a:t>
            </a:r>
            <a:endParaRPr lang="en-US" sz="2175" dirty="0"/>
          </a:p>
        </p:txBody>
      </p:sp>
      <p:sp>
        <p:nvSpPr>
          <p:cNvPr id="7" name="Text 5"/>
          <p:cNvSpPr/>
          <p:nvPr/>
        </p:nvSpPr>
        <p:spPr>
          <a:xfrm>
            <a:off x="1390650" y="3371433"/>
            <a:ext cx="8025765" cy="339090"/>
          </a:xfrm>
          <a:prstGeom prst="rect">
            <a:avLst/>
          </a:prstGeom>
          <a:noFill/>
          <a:ln/>
        </p:spPr>
        <p:txBody>
          <a:bodyPr wrap="square" lIns="25400" tIns="25400" rIns="25400" bIns="25400" rtlCol="0" anchor="t">
            <a:normAutofit/>
          </a:bodyPr>
          <a:lstStyle/>
          <a:p>
            <a:pPr marL="0" indent="0" algn="l">
              <a:buNone/>
            </a:pPr>
            <a:r>
              <a:rPr lang="en-US" sz="1800" i="1" dirty="0">
                <a:solidFill>
                  <a:srgbClr val="8A8470"/>
                </a:solidFill>
                <a:latin typeface="IBM Plex Sans" pitchFamily="34" charset="0"/>
                <a:ea typeface="IBM Plex Sans" pitchFamily="34" charset="-122"/>
                <a:cs typeface="IBM Plex Sans" pitchFamily="34" charset="-120"/>
              </a:rPr>
              <a:t>e.g. the Turing test</a:t>
            </a:r>
            <a:endParaRPr lang="en-US" sz="1800" dirty="0"/>
          </a:p>
        </p:txBody>
      </p:sp>
      <p:sp>
        <p:nvSpPr>
          <p:cNvPr id="8" name="Shape 6"/>
          <p:cNvSpPr/>
          <p:nvPr/>
        </p:nvSpPr>
        <p:spPr>
          <a:xfrm>
            <a:off x="9258300" y="2211288"/>
            <a:ext cx="7981950" cy="1765935"/>
          </a:xfrm>
          <a:prstGeom prst="roundRect">
            <a:avLst>
              <a:gd name="adj" fmla="val 3236"/>
            </a:avLst>
          </a:prstGeom>
          <a:solidFill>
            <a:srgbClr val="FFFFFF"/>
          </a:solidFill>
          <a:ln w="19050">
            <a:solidFill>
              <a:srgbClr val="DDD8C8"/>
            </a:solidFill>
            <a:prstDash val="solid"/>
          </a:ln>
        </p:spPr>
      </p:sp>
      <p:sp>
        <p:nvSpPr>
          <p:cNvPr id="9" name="Text 7"/>
          <p:cNvSpPr/>
          <p:nvPr/>
        </p:nvSpPr>
        <p:spPr>
          <a:xfrm>
            <a:off x="9601200" y="2516088"/>
            <a:ext cx="8025765"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3A6B49"/>
                </a:solidFill>
                <a:latin typeface="IBM Plex Mono" pitchFamily="34" charset="0"/>
                <a:ea typeface="IBM Plex Mono" pitchFamily="34" charset="-122"/>
                <a:cs typeface="IBM Plex Mono" pitchFamily="34" charset="-120"/>
              </a:rPr>
              <a:t>THINKING HUMANLY</a:t>
            </a:r>
            <a:endParaRPr lang="en-US" sz="1575" dirty="0"/>
          </a:p>
        </p:txBody>
      </p:sp>
      <p:sp>
        <p:nvSpPr>
          <p:cNvPr id="10" name="Text 8"/>
          <p:cNvSpPr/>
          <p:nvPr/>
        </p:nvSpPr>
        <p:spPr>
          <a:xfrm>
            <a:off x="9601200" y="2870418"/>
            <a:ext cx="8025765" cy="42481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C1E1A"/>
                </a:solidFill>
                <a:latin typeface="IBM Plex Sans" pitchFamily="34" charset="0"/>
                <a:ea typeface="IBM Plex Sans" pitchFamily="34" charset="-122"/>
                <a:cs typeface="IBM Plex Sans" pitchFamily="34" charset="-120"/>
              </a:rPr>
              <a:t>The computer performs a task the way a person would.</a:t>
            </a:r>
            <a:endParaRPr lang="en-US" sz="2175" dirty="0"/>
          </a:p>
        </p:txBody>
      </p:sp>
      <p:sp>
        <p:nvSpPr>
          <p:cNvPr id="11" name="Text 9"/>
          <p:cNvSpPr/>
          <p:nvPr/>
        </p:nvSpPr>
        <p:spPr>
          <a:xfrm>
            <a:off x="9601200" y="3371433"/>
            <a:ext cx="8025765" cy="339090"/>
          </a:xfrm>
          <a:prstGeom prst="rect">
            <a:avLst/>
          </a:prstGeom>
          <a:noFill/>
          <a:ln/>
        </p:spPr>
        <p:txBody>
          <a:bodyPr wrap="square" lIns="25400" tIns="25400" rIns="25400" bIns="25400" rtlCol="0" anchor="t">
            <a:normAutofit/>
          </a:bodyPr>
          <a:lstStyle/>
          <a:p>
            <a:pPr marL="0" indent="0" algn="l">
              <a:buNone/>
            </a:pPr>
            <a:r>
              <a:rPr lang="en-US" sz="1800" i="1" dirty="0">
                <a:solidFill>
                  <a:srgbClr val="8A8470"/>
                </a:solidFill>
                <a:latin typeface="IBM Plex Sans" pitchFamily="34" charset="0"/>
                <a:ea typeface="IBM Plex Sans" pitchFamily="34" charset="-122"/>
                <a:cs typeface="IBM Plex Sans" pitchFamily="34" charset="-120"/>
              </a:rPr>
              <a:t>e.g. self-driving cars</a:t>
            </a:r>
            <a:endParaRPr lang="en-US" sz="1800" dirty="0"/>
          </a:p>
        </p:txBody>
      </p:sp>
      <p:sp>
        <p:nvSpPr>
          <p:cNvPr id="12" name="Shape 10"/>
          <p:cNvSpPr/>
          <p:nvPr/>
        </p:nvSpPr>
        <p:spPr>
          <a:xfrm>
            <a:off x="1047750" y="4205823"/>
            <a:ext cx="7981950" cy="2152650"/>
          </a:xfrm>
          <a:prstGeom prst="roundRect">
            <a:avLst>
              <a:gd name="adj" fmla="val 2655"/>
            </a:avLst>
          </a:prstGeom>
          <a:solidFill>
            <a:srgbClr val="FFFFFF"/>
          </a:solidFill>
          <a:ln w="19050">
            <a:solidFill>
              <a:srgbClr val="DDD8C8"/>
            </a:solidFill>
            <a:prstDash val="solid"/>
          </a:ln>
        </p:spPr>
      </p:sp>
      <p:sp>
        <p:nvSpPr>
          <p:cNvPr id="13" name="Text 11"/>
          <p:cNvSpPr/>
          <p:nvPr/>
        </p:nvSpPr>
        <p:spPr>
          <a:xfrm>
            <a:off x="1390650" y="4510623"/>
            <a:ext cx="8025765"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3A6B49"/>
                </a:solidFill>
                <a:latin typeface="IBM Plex Mono" pitchFamily="34" charset="0"/>
                <a:ea typeface="IBM Plex Mono" pitchFamily="34" charset="-122"/>
                <a:cs typeface="IBM Plex Mono" pitchFamily="34" charset="-120"/>
              </a:rPr>
              <a:t>THINKING RATIONALLY</a:t>
            </a:r>
            <a:endParaRPr lang="en-US" sz="1575" dirty="0"/>
          </a:p>
        </p:txBody>
      </p:sp>
      <p:sp>
        <p:nvSpPr>
          <p:cNvPr id="14" name="Text 12"/>
          <p:cNvSpPr/>
          <p:nvPr/>
        </p:nvSpPr>
        <p:spPr>
          <a:xfrm>
            <a:off x="1390650" y="4864953"/>
            <a:ext cx="8025765" cy="42481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C1E1A"/>
                </a:solidFill>
                <a:latin typeface="IBM Plex Sans" pitchFamily="34" charset="0"/>
                <a:ea typeface="IBM Plex Sans" pitchFamily="34" charset="-122"/>
                <a:cs typeface="IBM Plex Sans" pitchFamily="34" charset="-120"/>
              </a:rPr>
              <a:t>The computer solves problems with pure logic.</a:t>
            </a:r>
            <a:endParaRPr lang="en-US" sz="2175" dirty="0"/>
          </a:p>
        </p:txBody>
      </p:sp>
      <p:sp>
        <p:nvSpPr>
          <p:cNvPr id="15" name="Text 13"/>
          <p:cNvSpPr/>
          <p:nvPr/>
        </p:nvSpPr>
        <p:spPr>
          <a:xfrm>
            <a:off x="1390650" y="5365968"/>
            <a:ext cx="8025765" cy="339090"/>
          </a:xfrm>
          <a:prstGeom prst="rect">
            <a:avLst/>
          </a:prstGeom>
          <a:noFill/>
          <a:ln/>
        </p:spPr>
        <p:txBody>
          <a:bodyPr wrap="square" lIns="25400" tIns="25400" rIns="25400" bIns="25400" rtlCol="0" anchor="t">
            <a:normAutofit/>
          </a:bodyPr>
          <a:lstStyle/>
          <a:p>
            <a:pPr marL="0" indent="0" algn="l">
              <a:buNone/>
            </a:pPr>
            <a:r>
              <a:rPr lang="en-US" sz="1800" i="1" dirty="0">
                <a:solidFill>
                  <a:srgbClr val="8A8470"/>
                </a:solidFill>
                <a:latin typeface="IBM Plex Sans" pitchFamily="34" charset="0"/>
                <a:ea typeface="IBM Plex Sans" pitchFamily="34" charset="-122"/>
                <a:cs typeface="IBM Plex Sans" pitchFamily="34" charset="-120"/>
              </a:rPr>
              <a:t>e.g. checkers, chess</a:t>
            </a:r>
            <a:endParaRPr lang="en-US" sz="1800" dirty="0"/>
          </a:p>
        </p:txBody>
      </p:sp>
      <p:sp>
        <p:nvSpPr>
          <p:cNvPr id="16" name="Shape 14"/>
          <p:cNvSpPr/>
          <p:nvPr/>
        </p:nvSpPr>
        <p:spPr>
          <a:xfrm>
            <a:off x="9258300" y="4205823"/>
            <a:ext cx="7981950" cy="2152650"/>
          </a:xfrm>
          <a:prstGeom prst="roundRect">
            <a:avLst>
              <a:gd name="adj" fmla="val 2655"/>
            </a:avLst>
          </a:prstGeom>
          <a:solidFill>
            <a:srgbClr val="FFFFFF"/>
          </a:solidFill>
          <a:ln w="19050">
            <a:solidFill>
              <a:srgbClr val="DDD8C8"/>
            </a:solidFill>
            <a:prstDash val="solid"/>
          </a:ln>
        </p:spPr>
      </p:sp>
      <p:sp>
        <p:nvSpPr>
          <p:cNvPr id="17" name="Text 15"/>
          <p:cNvSpPr/>
          <p:nvPr/>
        </p:nvSpPr>
        <p:spPr>
          <a:xfrm>
            <a:off x="9601200" y="4510623"/>
            <a:ext cx="8025765"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3A6B49"/>
                </a:solidFill>
                <a:latin typeface="IBM Plex Mono" pitchFamily="34" charset="0"/>
                <a:ea typeface="IBM Plex Mono" pitchFamily="34" charset="-122"/>
                <a:cs typeface="IBM Plex Mono" pitchFamily="34" charset="-120"/>
              </a:rPr>
              <a:t>ACTING RATIONALLY</a:t>
            </a:r>
            <a:endParaRPr lang="en-US" sz="1575" dirty="0"/>
          </a:p>
        </p:txBody>
      </p:sp>
      <p:sp>
        <p:nvSpPr>
          <p:cNvPr id="18" name="Text 16"/>
          <p:cNvSpPr/>
          <p:nvPr/>
        </p:nvSpPr>
        <p:spPr>
          <a:xfrm>
            <a:off x="9601200" y="4864953"/>
            <a:ext cx="7515035" cy="811530"/>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C1E1A"/>
                </a:solidFill>
                <a:latin typeface="IBM Plex Sans" pitchFamily="34" charset="0"/>
                <a:ea typeface="IBM Plex Sans" pitchFamily="34" charset="-122"/>
                <a:cs typeface="IBM Plex Sans" pitchFamily="34" charset="-120"/>
              </a:rPr>
              <a:t>The computer reacts to its environment to decide in real time.</a:t>
            </a:r>
            <a:endParaRPr lang="en-US" sz="2175" dirty="0"/>
          </a:p>
        </p:txBody>
      </p:sp>
      <p:sp>
        <p:nvSpPr>
          <p:cNvPr id="19" name="Text 17"/>
          <p:cNvSpPr/>
          <p:nvPr/>
        </p:nvSpPr>
        <p:spPr>
          <a:xfrm>
            <a:off x="9601200" y="5752683"/>
            <a:ext cx="8025765" cy="339090"/>
          </a:xfrm>
          <a:prstGeom prst="rect">
            <a:avLst/>
          </a:prstGeom>
          <a:noFill/>
          <a:ln/>
        </p:spPr>
        <p:txBody>
          <a:bodyPr wrap="square" lIns="25400" tIns="25400" rIns="25400" bIns="25400" rtlCol="0" anchor="t">
            <a:normAutofit/>
          </a:bodyPr>
          <a:lstStyle/>
          <a:p>
            <a:pPr marL="0" indent="0" algn="l">
              <a:buNone/>
            </a:pPr>
            <a:r>
              <a:rPr lang="en-US" sz="1800" i="1" dirty="0">
                <a:solidFill>
                  <a:srgbClr val="8A8470"/>
                </a:solidFill>
                <a:latin typeface="IBM Plex Sans" pitchFamily="34" charset="0"/>
                <a:ea typeface="IBM Plex Sans" pitchFamily="34" charset="-122"/>
                <a:cs typeface="IBM Plex Sans" pitchFamily="34" charset="-120"/>
              </a:rPr>
              <a:t>e.g. adapting when conditions change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047750" y="3114675"/>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CCAE62"/>
                </a:solidFill>
                <a:latin typeface="IBM Plex Mono" pitchFamily="34" charset="0"/>
                <a:ea typeface="IBM Plex Mono" pitchFamily="34" charset="-122"/>
                <a:cs typeface="IBM Plex Mono" pitchFamily="34" charset="-120"/>
              </a:rPr>
              <a:t>THE CORE IDEA</a:t>
            </a:r>
            <a:endParaRPr lang="en-US" sz="1800" dirty="0"/>
          </a:p>
        </p:txBody>
      </p:sp>
      <p:sp>
        <p:nvSpPr>
          <p:cNvPr id="3" name="Text 1"/>
          <p:cNvSpPr/>
          <p:nvPr/>
        </p:nvSpPr>
        <p:spPr>
          <a:xfrm>
            <a:off x="1047750" y="3663315"/>
            <a:ext cx="14716125" cy="1746409"/>
          </a:xfrm>
          <a:prstGeom prst="rect">
            <a:avLst/>
          </a:prstGeom>
          <a:noFill/>
          <a:ln/>
        </p:spPr>
        <p:txBody>
          <a:bodyPr wrap="square" lIns="25400" tIns="25400" rIns="25400" bIns="25400" rtlCol="0" anchor="t">
            <a:normAutofit/>
          </a:bodyPr>
          <a:lstStyle/>
          <a:p>
            <a:pPr marL="0" indent="0" algn="l">
              <a:lnSpc>
                <a:spcPct val="118000"/>
              </a:lnSpc>
              <a:buNone/>
            </a:pPr>
            <a:r>
              <a:rPr lang="en-US" sz="5700" b="1" kern="0" spc="-57" dirty="0">
                <a:solidFill>
                  <a:srgbClr val="F4F1E8"/>
                </a:solidFill>
                <a:latin typeface="Spectral" pitchFamily="34" charset="0"/>
                <a:ea typeface="Spectral" pitchFamily="34" charset="-122"/>
                <a:cs typeface="Spectral" pitchFamily="34" charset="-120"/>
              </a:rPr>
              <a:t>AI is about building </a:t>
            </a:r>
            <a:r>
              <a:rPr lang="en-US" sz="5700" b="1" kern="0" spc="-57" dirty="0">
                <a:solidFill>
                  <a:srgbClr val="CCAE62"/>
                </a:solidFill>
                <a:latin typeface="Spectral" pitchFamily="34" charset="0"/>
                <a:ea typeface="Spectral" pitchFamily="34" charset="-122"/>
                <a:cs typeface="Spectral" pitchFamily="34" charset="-120"/>
              </a:rPr>
              <a:t>agents </a:t>
            </a:r>
            <a:r>
              <a:rPr lang="en-US" sz="5700" b="1" kern="0" spc="-57" dirty="0">
                <a:solidFill>
                  <a:srgbClr val="F4F1E8"/>
                </a:solidFill>
                <a:latin typeface="Spectral" pitchFamily="34" charset="0"/>
                <a:ea typeface="Spectral" pitchFamily="34" charset="-122"/>
                <a:cs typeface="Spectral" pitchFamily="34" charset="-120"/>
              </a:rPr>
              <a:t>that perceive and act to achieve goals.</a:t>
            </a:r>
            <a:endParaRPr lang="en-US" sz="5700" dirty="0"/>
          </a:p>
        </p:txBody>
      </p:sp>
      <p:sp>
        <p:nvSpPr>
          <p:cNvPr id="4" name="Text 2"/>
          <p:cNvSpPr/>
          <p:nvPr/>
        </p:nvSpPr>
        <p:spPr>
          <a:xfrm>
            <a:off x="1047750" y="5695474"/>
            <a:ext cx="13411200" cy="493871"/>
          </a:xfrm>
          <a:prstGeom prst="rect">
            <a:avLst/>
          </a:prstGeom>
          <a:noFill/>
          <a:ln/>
        </p:spPr>
        <p:txBody>
          <a:bodyPr wrap="square" lIns="25400" tIns="25400" rIns="25400" bIns="25400" rtlCol="0" anchor="t">
            <a:normAutofit/>
          </a:bodyPr>
          <a:lstStyle/>
          <a:p>
            <a:pPr marL="0" indent="0" algn="l">
              <a:lnSpc>
                <a:spcPct val="145000"/>
              </a:lnSpc>
              <a:buNone/>
            </a:pPr>
            <a:r>
              <a:rPr lang="en-US" sz="2475" dirty="0">
                <a:solidFill>
                  <a:srgbClr val="CDD9CF"/>
                </a:solidFill>
                <a:latin typeface="IBM Plex Sans" pitchFamily="34" charset="0"/>
                <a:ea typeface="IBM Plex Sans" pitchFamily="34" charset="-122"/>
                <a:cs typeface="IBM Plex Sans" pitchFamily="34" charset="-120"/>
              </a:rPr>
              <a:t>An agent perceives its environment through </a:t>
            </a:r>
            <a:r>
              <a:rPr lang="en-US" sz="2475" b="1" dirty="0">
                <a:solidFill>
                  <a:srgbClr val="F4F1E8"/>
                </a:solidFill>
                <a:latin typeface="IBM Plex Sans" pitchFamily="34" charset="0"/>
                <a:ea typeface="IBM Plex Sans" pitchFamily="34" charset="-122"/>
                <a:cs typeface="IBM Plex Sans" pitchFamily="34" charset="-120"/>
              </a:rPr>
              <a:t>sensors </a:t>
            </a:r>
            <a:r>
              <a:rPr lang="en-US" sz="2475" dirty="0">
                <a:solidFill>
                  <a:srgbClr val="CDD9CF"/>
                </a:solidFill>
                <a:latin typeface="IBM Plex Sans" pitchFamily="34" charset="0"/>
                <a:ea typeface="IBM Plex Sans" pitchFamily="34" charset="-122"/>
                <a:cs typeface="IBM Plex Sans" pitchFamily="34" charset="-120"/>
              </a:rPr>
              <a:t>and acts on it through </a:t>
            </a:r>
            <a:r>
              <a:rPr lang="en-US" sz="2475" b="1" dirty="0">
                <a:solidFill>
                  <a:srgbClr val="F4F1E8"/>
                </a:solidFill>
                <a:latin typeface="IBM Plex Sans" pitchFamily="34" charset="0"/>
                <a:ea typeface="IBM Plex Sans" pitchFamily="34" charset="-122"/>
                <a:cs typeface="IBM Plex Sans" pitchFamily="34" charset="-120"/>
              </a:rPr>
              <a:t>actuators</a:t>
            </a:r>
            <a:r>
              <a:rPr lang="en-US" sz="2475" dirty="0">
                <a:solidFill>
                  <a:srgbClr val="CDD9CF"/>
                </a:solidFill>
                <a:latin typeface="IBM Plex Sans" pitchFamily="34" charset="0"/>
                <a:ea typeface="IBM Plex Sans" pitchFamily="34" charset="-122"/>
                <a:cs typeface="IBM Plex Sans" pitchFamily="34" charset="-120"/>
              </a:rPr>
              <a:t>.</a:t>
            </a:r>
            <a:endParaRPr lang="en-US" sz="2475" dirty="0"/>
          </a:p>
        </p:txBody>
      </p:sp>
      <p:sp>
        <p:nvSpPr>
          <p:cNvPr id="5" name="Text 3"/>
          <p:cNvSpPr/>
          <p:nvPr/>
        </p:nvSpPr>
        <p:spPr>
          <a:xfrm>
            <a:off x="1047750" y="6755130"/>
            <a:ext cx="1249680" cy="308610"/>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9BB0A1"/>
                </a:solidFill>
                <a:latin typeface="IBM Plex Mono" pitchFamily="34" charset="0"/>
                <a:ea typeface="IBM Plex Mono" pitchFamily="34" charset="-122"/>
                <a:cs typeface="IBM Plex Mono" pitchFamily="34" charset="-120"/>
              </a:rPr>
              <a:t>EXAMPLES</a:t>
            </a:r>
            <a:endParaRPr lang="en-US" sz="1650" dirty="0"/>
          </a:p>
        </p:txBody>
      </p:sp>
      <p:sp>
        <p:nvSpPr>
          <p:cNvPr id="6" name="Shape 4"/>
          <p:cNvSpPr/>
          <p:nvPr/>
        </p:nvSpPr>
        <p:spPr>
          <a:xfrm>
            <a:off x="2392680" y="6608445"/>
            <a:ext cx="1975128" cy="563880"/>
          </a:xfrm>
          <a:prstGeom prst="roundRect">
            <a:avLst>
              <a:gd name="adj" fmla="val 50000"/>
            </a:avLst>
          </a:prstGeom>
          <a:solidFill>
            <a:srgbClr val="34543F"/>
          </a:solidFill>
          <a:ln/>
        </p:spPr>
      </p:sp>
      <p:sp>
        <p:nvSpPr>
          <p:cNvPr id="7" name="Text 5"/>
          <p:cNvSpPr/>
          <p:nvPr/>
        </p:nvSpPr>
        <p:spPr>
          <a:xfrm>
            <a:off x="2640330" y="6722745"/>
            <a:ext cx="1556028" cy="373380"/>
          </a:xfrm>
          <a:prstGeom prst="rect">
            <a:avLst/>
          </a:prstGeom>
          <a:noFill/>
          <a:ln/>
        </p:spPr>
        <p:txBody>
          <a:bodyPr wrap="square" lIns="25400" tIns="25400" rIns="25400" bIns="25400" rtlCol="0" anchor="t">
            <a:normAutofit/>
          </a:bodyPr>
          <a:lstStyle/>
          <a:p>
            <a:pPr marL="0" indent="0" algn="l">
              <a:buNone/>
            </a:pPr>
            <a:r>
              <a:rPr lang="en-US" sz="2025" dirty="0">
                <a:solidFill>
                  <a:srgbClr val="F4F1E8"/>
                </a:solidFill>
                <a:latin typeface="IBM Plex Sans" pitchFamily="34" charset="0"/>
                <a:ea typeface="IBM Plex Sans" pitchFamily="34" charset="-122"/>
                <a:cs typeface="IBM Plex Sans" pitchFamily="34" charset="-120"/>
              </a:rPr>
              <a:t>a thermostat</a:t>
            </a:r>
            <a:endParaRPr lang="en-US" sz="2025" dirty="0"/>
          </a:p>
        </p:txBody>
      </p:sp>
      <p:sp>
        <p:nvSpPr>
          <p:cNvPr id="8" name="Shape 6"/>
          <p:cNvSpPr/>
          <p:nvPr/>
        </p:nvSpPr>
        <p:spPr>
          <a:xfrm>
            <a:off x="4539258" y="6608445"/>
            <a:ext cx="2420541" cy="563880"/>
          </a:xfrm>
          <a:prstGeom prst="roundRect">
            <a:avLst>
              <a:gd name="adj" fmla="val 50000"/>
            </a:avLst>
          </a:prstGeom>
          <a:solidFill>
            <a:srgbClr val="34543F"/>
          </a:solidFill>
          <a:ln/>
        </p:spPr>
      </p:sp>
      <p:sp>
        <p:nvSpPr>
          <p:cNvPr id="9" name="Text 7"/>
          <p:cNvSpPr/>
          <p:nvPr/>
        </p:nvSpPr>
        <p:spPr>
          <a:xfrm>
            <a:off x="4786908" y="6722745"/>
            <a:ext cx="2001441" cy="373380"/>
          </a:xfrm>
          <a:prstGeom prst="rect">
            <a:avLst/>
          </a:prstGeom>
          <a:noFill/>
          <a:ln/>
        </p:spPr>
        <p:txBody>
          <a:bodyPr wrap="square" lIns="25400" tIns="25400" rIns="25400" bIns="25400" rtlCol="0" anchor="t">
            <a:normAutofit/>
          </a:bodyPr>
          <a:lstStyle/>
          <a:p>
            <a:pPr marL="0" indent="0" algn="l">
              <a:buNone/>
            </a:pPr>
            <a:r>
              <a:rPr lang="en-US" sz="2025" dirty="0">
                <a:solidFill>
                  <a:srgbClr val="F4F1E8"/>
                </a:solidFill>
                <a:latin typeface="IBM Plex Sans" pitchFamily="34" charset="0"/>
                <a:ea typeface="IBM Plex Sans" pitchFamily="34" charset="-122"/>
                <a:cs typeface="IBM Plex Sans" pitchFamily="34" charset="-120"/>
              </a:rPr>
              <a:t>a self-driving car</a:t>
            </a:r>
            <a:endParaRPr lang="en-US" sz="2025" dirty="0"/>
          </a:p>
        </p:txBody>
      </p:sp>
      <p:sp>
        <p:nvSpPr>
          <p:cNvPr id="10" name="Shape 8"/>
          <p:cNvSpPr/>
          <p:nvPr/>
        </p:nvSpPr>
        <p:spPr>
          <a:xfrm>
            <a:off x="7131248" y="6608445"/>
            <a:ext cx="1510427" cy="563880"/>
          </a:xfrm>
          <a:prstGeom prst="roundRect">
            <a:avLst>
              <a:gd name="adj" fmla="val 50000"/>
            </a:avLst>
          </a:prstGeom>
          <a:solidFill>
            <a:srgbClr val="34543F"/>
          </a:solidFill>
          <a:ln/>
        </p:spPr>
      </p:sp>
      <p:sp>
        <p:nvSpPr>
          <p:cNvPr id="11" name="Text 9"/>
          <p:cNvSpPr/>
          <p:nvPr/>
        </p:nvSpPr>
        <p:spPr>
          <a:xfrm>
            <a:off x="7378898" y="6722745"/>
            <a:ext cx="1091327" cy="373380"/>
          </a:xfrm>
          <a:prstGeom prst="rect">
            <a:avLst/>
          </a:prstGeom>
          <a:noFill/>
          <a:ln/>
        </p:spPr>
        <p:txBody>
          <a:bodyPr wrap="square" lIns="25400" tIns="25400" rIns="25400" bIns="25400" rtlCol="0" anchor="t">
            <a:normAutofit/>
          </a:bodyPr>
          <a:lstStyle/>
          <a:p>
            <a:pPr marL="0" indent="0" algn="l">
              <a:buNone/>
            </a:pPr>
            <a:r>
              <a:rPr lang="en-US" sz="2025" dirty="0">
                <a:solidFill>
                  <a:srgbClr val="F4F1E8"/>
                </a:solidFill>
                <a:latin typeface="IBM Plex Sans" pitchFamily="34" charset="0"/>
                <a:ea typeface="IBM Plex Sans" pitchFamily="34" charset="-122"/>
                <a:cs typeface="IBM Plex Sans" pitchFamily="34" charset="-120"/>
              </a:rPr>
              <a:t>ChatGPT</a:t>
            </a:r>
            <a:endParaRPr lang="en-US" sz="20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THE AGENT–ENVIRONMENT LOOP</a:t>
            </a:r>
            <a:endParaRPr lang="en-US" sz="1800" dirty="0"/>
          </a:p>
        </p:txBody>
      </p:sp>
      <p:sp>
        <p:nvSpPr>
          <p:cNvPr id="3" name="Text 1"/>
          <p:cNvSpPr/>
          <p:nvPr/>
        </p:nvSpPr>
        <p:spPr>
          <a:xfrm>
            <a:off x="1047750" y="1234440"/>
            <a:ext cx="17811750" cy="632460"/>
          </a:xfrm>
          <a:prstGeom prst="rect">
            <a:avLst/>
          </a:prstGeom>
          <a:noFill/>
          <a:ln/>
        </p:spPr>
        <p:txBody>
          <a:bodyPr wrap="square" lIns="25400" tIns="25400" rIns="25400" bIns="25400" rtlCol="0" anchor="t">
            <a:normAutofit/>
          </a:bodyPr>
          <a:lstStyle/>
          <a:p>
            <a:pPr marL="0" indent="0" algn="l">
              <a:lnSpc>
                <a:spcPct val="104000"/>
              </a:lnSpc>
              <a:buNone/>
            </a:pPr>
            <a:r>
              <a:rPr lang="en-US" sz="4500" b="1" kern="0" spc="-45" dirty="0">
                <a:solidFill>
                  <a:srgbClr val="1C1E1A"/>
                </a:solidFill>
                <a:latin typeface="Spectral" pitchFamily="34" charset="0"/>
                <a:ea typeface="Spectral" pitchFamily="34" charset="-122"/>
                <a:cs typeface="Spectral" pitchFamily="34" charset="-120"/>
              </a:rPr>
              <a:t>Perceive, decide, act — then repeat</a:t>
            </a:r>
            <a:endParaRPr lang="en-US" sz="4500" dirty="0"/>
          </a:p>
        </p:txBody>
      </p:sp>
      <p:sp>
        <p:nvSpPr>
          <p:cNvPr id="4" name="Shape 2"/>
          <p:cNvSpPr/>
          <p:nvPr/>
        </p:nvSpPr>
        <p:spPr>
          <a:xfrm>
            <a:off x="2449830" y="4099560"/>
            <a:ext cx="4000500" cy="2857500"/>
          </a:xfrm>
          <a:prstGeom prst="roundRect">
            <a:avLst>
              <a:gd name="adj" fmla="val 3333"/>
            </a:avLst>
          </a:prstGeom>
          <a:solidFill>
            <a:srgbClr val="21402E"/>
          </a:solidFill>
          <a:ln/>
        </p:spPr>
      </p:sp>
      <p:sp>
        <p:nvSpPr>
          <p:cNvPr id="5" name="Text 3"/>
          <p:cNvSpPr/>
          <p:nvPr/>
        </p:nvSpPr>
        <p:spPr>
          <a:xfrm>
            <a:off x="3821847" y="4958715"/>
            <a:ext cx="1382048" cy="735330"/>
          </a:xfrm>
          <a:prstGeom prst="rect">
            <a:avLst/>
          </a:prstGeom>
          <a:noFill/>
          <a:ln/>
        </p:spPr>
        <p:txBody>
          <a:bodyPr wrap="square" lIns="25400" tIns="25400" rIns="25400" bIns="25400" rtlCol="0" anchor="t">
            <a:normAutofit/>
          </a:bodyPr>
          <a:lstStyle/>
          <a:p>
            <a:pPr marL="0" indent="0" algn="l">
              <a:buNone/>
            </a:pPr>
            <a:r>
              <a:rPr lang="en-US" sz="3600" b="1" dirty="0">
                <a:solidFill>
                  <a:srgbClr val="F4F1E8"/>
                </a:solidFill>
                <a:latin typeface="Spectral" pitchFamily="34" charset="0"/>
                <a:ea typeface="Spectral" pitchFamily="34" charset="-122"/>
                <a:cs typeface="Spectral" pitchFamily="34" charset="-120"/>
              </a:rPr>
              <a:t>Agent</a:t>
            </a:r>
            <a:endParaRPr lang="en-US" sz="3600" dirty="0"/>
          </a:p>
        </p:txBody>
      </p:sp>
      <p:sp>
        <p:nvSpPr>
          <p:cNvPr id="6" name="Text 4"/>
          <p:cNvSpPr/>
          <p:nvPr/>
        </p:nvSpPr>
        <p:spPr>
          <a:xfrm>
            <a:off x="3441144" y="5789295"/>
            <a:ext cx="2219658" cy="346710"/>
          </a:xfrm>
          <a:prstGeom prst="rect">
            <a:avLst/>
          </a:prstGeom>
          <a:noFill/>
          <a:ln/>
        </p:spPr>
        <p:txBody>
          <a:bodyPr wrap="square" lIns="25400" tIns="25400" rIns="25400" bIns="25400" rtlCol="0" anchor="t">
            <a:normAutofit/>
          </a:bodyPr>
          <a:lstStyle/>
          <a:p>
            <a:pPr marL="0" indent="0" algn="l">
              <a:buNone/>
            </a:pPr>
            <a:r>
              <a:rPr lang="en-US" sz="1875" dirty="0">
                <a:solidFill>
                  <a:srgbClr val="CDD9CF"/>
                </a:solidFill>
                <a:latin typeface="IBM Plex Sans" pitchFamily="34" charset="0"/>
                <a:ea typeface="IBM Plex Sans" pitchFamily="34" charset="-122"/>
                <a:cs typeface="IBM Plex Sans" pitchFamily="34" charset="-120"/>
              </a:rPr>
              <a:t>decides what to do</a:t>
            </a:r>
            <a:endParaRPr lang="en-US" sz="1875" dirty="0"/>
          </a:p>
        </p:txBody>
      </p:sp>
      <p:sp>
        <p:nvSpPr>
          <p:cNvPr id="7" name="Text 5"/>
          <p:cNvSpPr/>
          <p:nvPr/>
        </p:nvSpPr>
        <p:spPr>
          <a:xfrm>
            <a:off x="7604582" y="4785360"/>
            <a:ext cx="3327981" cy="323850"/>
          </a:xfrm>
          <a:prstGeom prst="rect">
            <a:avLst/>
          </a:prstGeom>
          <a:noFill/>
          <a:ln/>
        </p:spPr>
        <p:txBody>
          <a:bodyPr wrap="square" lIns="25400" tIns="25400" rIns="25400" bIns="25400" rtlCol="0" anchor="t">
            <a:normAutofit/>
          </a:bodyPr>
          <a:lstStyle/>
          <a:p>
            <a:pPr marL="0" indent="0" algn="l">
              <a:buNone/>
            </a:pPr>
            <a:r>
              <a:rPr lang="en-US" sz="1725" kern="0" spc="103" dirty="0">
                <a:solidFill>
                  <a:srgbClr val="3A6B49"/>
                </a:solidFill>
                <a:latin typeface="IBM Plex Mono" pitchFamily="34" charset="0"/>
                <a:ea typeface="IBM Plex Mono" pitchFamily="34" charset="-122"/>
                <a:cs typeface="IBM Plex Mono" pitchFamily="34" charset="-120"/>
              </a:rPr>
              <a:t>ACTIONS → ACTUATORS</a:t>
            </a:r>
            <a:endParaRPr lang="en-US" sz="1725" dirty="0"/>
          </a:p>
        </p:txBody>
      </p:sp>
      <p:sp>
        <p:nvSpPr>
          <p:cNvPr id="8" name="Shape 6"/>
          <p:cNvSpPr/>
          <p:nvPr/>
        </p:nvSpPr>
        <p:spPr>
          <a:xfrm>
            <a:off x="6640830" y="5185410"/>
            <a:ext cx="4953000" cy="38100"/>
          </a:xfrm>
          <a:prstGeom prst="rect">
            <a:avLst/>
          </a:prstGeom>
          <a:solidFill>
            <a:srgbClr val="21402E"/>
          </a:solidFill>
          <a:ln/>
        </p:spPr>
      </p:sp>
      <p:sp>
        <p:nvSpPr>
          <p:cNvPr id="9" name="Shape 7"/>
          <p:cNvSpPr/>
          <p:nvPr/>
        </p:nvSpPr>
        <p:spPr>
          <a:xfrm>
            <a:off x="11422381" y="5099685"/>
            <a:ext cx="190500" cy="205740"/>
          </a:xfrm>
          <a:prstGeom prst="rect">
            <a:avLst/>
          </a:prstGeom>
          <a:solidFill>
            <a:srgbClr val="21402E"/>
          </a:solidFill>
          <a:ln/>
        </p:spPr>
      </p:sp>
      <p:sp>
        <p:nvSpPr>
          <p:cNvPr id="10" name="Shape 8"/>
          <p:cNvSpPr/>
          <p:nvPr/>
        </p:nvSpPr>
        <p:spPr>
          <a:xfrm>
            <a:off x="6640830" y="5833110"/>
            <a:ext cx="4953000" cy="38100"/>
          </a:xfrm>
          <a:prstGeom prst="rect">
            <a:avLst/>
          </a:prstGeom>
          <a:solidFill>
            <a:srgbClr val="CAB06A"/>
          </a:solidFill>
          <a:ln/>
        </p:spPr>
      </p:sp>
      <p:sp>
        <p:nvSpPr>
          <p:cNvPr id="11" name="Shape 9"/>
          <p:cNvSpPr/>
          <p:nvPr/>
        </p:nvSpPr>
        <p:spPr>
          <a:xfrm>
            <a:off x="6621780" y="5747385"/>
            <a:ext cx="190500" cy="205740"/>
          </a:xfrm>
          <a:prstGeom prst="rect">
            <a:avLst/>
          </a:prstGeom>
          <a:solidFill>
            <a:srgbClr val="CAB06A"/>
          </a:solidFill>
          <a:ln/>
        </p:spPr>
      </p:sp>
      <p:sp>
        <p:nvSpPr>
          <p:cNvPr id="12" name="Text 10"/>
          <p:cNvSpPr/>
          <p:nvPr/>
        </p:nvSpPr>
        <p:spPr>
          <a:xfrm>
            <a:off x="7676912" y="5985510"/>
            <a:ext cx="3168920" cy="323850"/>
          </a:xfrm>
          <a:prstGeom prst="rect">
            <a:avLst/>
          </a:prstGeom>
          <a:noFill/>
          <a:ln/>
        </p:spPr>
        <p:txBody>
          <a:bodyPr wrap="square" lIns="25400" tIns="25400" rIns="25400" bIns="25400" rtlCol="0" anchor="t">
            <a:normAutofit/>
          </a:bodyPr>
          <a:lstStyle/>
          <a:p>
            <a:pPr marL="0" indent="0" algn="l">
              <a:buNone/>
            </a:pPr>
            <a:r>
              <a:rPr lang="en-US" sz="1725" kern="0" spc="103" dirty="0">
                <a:solidFill>
                  <a:srgbClr val="9A7D2E"/>
                </a:solidFill>
                <a:latin typeface="IBM Plex Mono" pitchFamily="34" charset="0"/>
                <a:ea typeface="IBM Plex Mono" pitchFamily="34" charset="-122"/>
                <a:cs typeface="IBM Plex Mono" pitchFamily="34" charset="-120"/>
              </a:rPr>
              <a:t>PERCEPTS ← SENSORS</a:t>
            </a:r>
            <a:endParaRPr lang="en-US" sz="1725" dirty="0"/>
          </a:p>
        </p:txBody>
      </p:sp>
      <p:sp>
        <p:nvSpPr>
          <p:cNvPr id="13" name="Shape 11"/>
          <p:cNvSpPr/>
          <p:nvPr/>
        </p:nvSpPr>
        <p:spPr>
          <a:xfrm>
            <a:off x="11784331" y="4072890"/>
            <a:ext cx="4053840" cy="2910840"/>
          </a:xfrm>
          <a:prstGeom prst="roundRect">
            <a:avLst>
              <a:gd name="adj" fmla="val 3272"/>
            </a:avLst>
          </a:prstGeom>
          <a:solidFill>
            <a:srgbClr val="FFFFFF"/>
          </a:solidFill>
          <a:ln w="26670">
            <a:solidFill>
              <a:srgbClr val="21402E"/>
            </a:solidFill>
            <a:prstDash val="solid"/>
          </a:ln>
        </p:spPr>
      </p:sp>
      <p:sp>
        <p:nvSpPr>
          <p:cNvPr id="14" name="Text 12"/>
          <p:cNvSpPr/>
          <p:nvPr/>
        </p:nvSpPr>
        <p:spPr>
          <a:xfrm>
            <a:off x="12443281" y="4958715"/>
            <a:ext cx="3009531" cy="735330"/>
          </a:xfrm>
          <a:prstGeom prst="rect">
            <a:avLst/>
          </a:prstGeom>
          <a:noFill/>
          <a:ln/>
        </p:spPr>
        <p:txBody>
          <a:bodyPr wrap="square" lIns="25400" tIns="25400" rIns="25400" bIns="25400" rtlCol="0" anchor="t">
            <a:normAutofit/>
          </a:bodyPr>
          <a:lstStyle/>
          <a:p>
            <a:pPr marL="0" indent="0" algn="l">
              <a:buNone/>
            </a:pPr>
            <a:r>
              <a:rPr lang="en-US" sz="3600" b="1" dirty="0">
                <a:solidFill>
                  <a:srgbClr val="1C1E1A"/>
                </a:solidFill>
                <a:latin typeface="Spectral" pitchFamily="34" charset="0"/>
                <a:ea typeface="Spectral" pitchFamily="34" charset="-122"/>
                <a:cs typeface="Spectral" pitchFamily="34" charset="-120"/>
              </a:rPr>
              <a:t>Environment</a:t>
            </a:r>
            <a:endParaRPr lang="en-US" sz="3600" dirty="0"/>
          </a:p>
        </p:txBody>
      </p:sp>
      <p:sp>
        <p:nvSpPr>
          <p:cNvPr id="15" name="Text 13"/>
          <p:cNvSpPr/>
          <p:nvPr/>
        </p:nvSpPr>
        <p:spPr>
          <a:xfrm>
            <a:off x="12792313" y="5789295"/>
            <a:ext cx="2241661" cy="346710"/>
          </a:xfrm>
          <a:prstGeom prst="rect">
            <a:avLst/>
          </a:prstGeom>
          <a:noFill/>
          <a:ln/>
        </p:spPr>
        <p:txBody>
          <a:bodyPr wrap="square" lIns="25400" tIns="25400" rIns="25400" bIns="25400" rtlCol="0" anchor="t">
            <a:normAutofit/>
          </a:bodyPr>
          <a:lstStyle/>
          <a:p>
            <a:pPr marL="0" indent="0" algn="l">
              <a:buNone/>
            </a:pPr>
            <a:r>
              <a:rPr lang="en-US" sz="1875" dirty="0">
                <a:solidFill>
                  <a:srgbClr val="55564D"/>
                </a:solidFill>
                <a:latin typeface="IBM Plex Sans" pitchFamily="34" charset="0"/>
                <a:ea typeface="IBM Plex Sans" pitchFamily="34" charset="-122"/>
                <a:cs typeface="IBM Plex Sans" pitchFamily="34" charset="-120"/>
              </a:rPr>
              <a:t>the world it acts on</a:t>
            </a:r>
            <a:endParaRPr lang="en-US" sz="1875" dirty="0"/>
          </a:p>
        </p:txBody>
      </p:sp>
      <p:sp>
        <p:nvSpPr>
          <p:cNvPr id="16" name="Text 14"/>
          <p:cNvSpPr/>
          <p:nvPr/>
        </p:nvSpPr>
        <p:spPr>
          <a:xfrm>
            <a:off x="238125" y="9227820"/>
            <a:ext cx="17811750" cy="297180"/>
          </a:xfrm>
          <a:prstGeom prst="rect">
            <a:avLst/>
          </a:prstGeom>
          <a:noFill/>
          <a:ln/>
        </p:spPr>
        <p:txBody>
          <a:bodyPr wrap="square" lIns="25400" tIns="25400" rIns="25400" bIns="25400" rtlCol="0" anchor="t">
            <a:normAutofit/>
          </a:bodyPr>
          <a:lstStyle/>
          <a:p>
            <a:pPr marL="0" indent="0" algn="ctr">
              <a:buNone/>
            </a:pPr>
            <a:r>
              <a:rPr lang="en-US" sz="1575" dirty="0">
                <a:solidFill>
                  <a:srgbClr val="8A8470"/>
                </a:solidFill>
                <a:latin typeface="IBM Plex Mono" pitchFamily="34" charset="0"/>
                <a:ea typeface="IBM Plex Mono" pitchFamily="34" charset="-122"/>
                <a:cs typeface="IBM Plex Mono" pitchFamily="34" charset="-120"/>
              </a:rPr>
              <a:t>A thermostat senses temperature (percept) and switches the heat (action) to reach a set goal.</a:t>
            </a:r>
            <a:endParaRPr lang="en-US" sz="15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7620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AI CAPABILITIES</a:t>
            </a:r>
            <a:endParaRPr lang="en-US" sz="1800" dirty="0"/>
          </a:p>
        </p:txBody>
      </p:sp>
      <p:sp>
        <p:nvSpPr>
          <p:cNvPr id="3" name="Text 1"/>
          <p:cNvSpPr/>
          <p:nvPr/>
        </p:nvSpPr>
        <p:spPr>
          <a:xfrm>
            <a:off x="1047750" y="11963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Narrow, general, and superintelligent</a:t>
            </a:r>
            <a:endParaRPr lang="en-US" sz="4800" dirty="0"/>
          </a:p>
        </p:txBody>
      </p:sp>
      <p:sp>
        <p:nvSpPr>
          <p:cNvPr id="4" name="Shape 2"/>
          <p:cNvSpPr/>
          <p:nvPr/>
        </p:nvSpPr>
        <p:spPr>
          <a:xfrm>
            <a:off x="1047750" y="2249388"/>
            <a:ext cx="5219700" cy="3655695"/>
          </a:xfrm>
          <a:prstGeom prst="roundRect">
            <a:avLst>
              <a:gd name="adj" fmla="val 2084"/>
            </a:avLst>
          </a:prstGeom>
          <a:solidFill>
            <a:srgbClr val="FFFFFF"/>
          </a:solidFill>
          <a:ln w="19050">
            <a:solidFill>
              <a:srgbClr val="DDD8C8"/>
            </a:solidFill>
            <a:prstDash val="solid"/>
          </a:ln>
        </p:spPr>
      </p:sp>
      <p:sp>
        <p:nvSpPr>
          <p:cNvPr id="5" name="Text 3"/>
          <p:cNvSpPr/>
          <p:nvPr/>
        </p:nvSpPr>
        <p:spPr>
          <a:xfrm>
            <a:off x="1371600" y="2592288"/>
            <a:ext cx="5029200"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3A6B49"/>
                </a:solidFill>
                <a:latin typeface="IBM Plex Mono" pitchFamily="34" charset="0"/>
                <a:ea typeface="IBM Plex Mono" pitchFamily="34" charset="-122"/>
                <a:cs typeface="IBM Plex Mono" pitchFamily="34" charset="-120"/>
              </a:rPr>
              <a:t>LEVEL 1 · TODAY</a:t>
            </a:r>
            <a:endParaRPr lang="en-US" sz="1575" dirty="0"/>
          </a:p>
        </p:txBody>
      </p:sp>
      <p:sp>
        <p:nvSpPr>
          <p:cNvPr id="6" name="Text 4"/>
          <p:cNvSpPr/>
          <p:nvPr/>
        </p:nvSpPr>
        <p:spPr>
          <a:xfrm>
            <a:off x="1371600" y="2965668"/>
            <a:ext cx="5029200" cy="617220"/>
          </a:xfrm>
          <a:prstGeom prst="rect">
            <a:avLst/>
          </a:prstGeom>
          <a:noFill/>
          <a:ln/>
        </p:spPr>
        <p:txBody>
          <a:bodyPr wrap="square" lIns="25400" tIns="25400" rIns="25400" bIns="25400" rtlCol="0" anchor="t">
            <a:normAutofit/>
          </a:bodyPr>
          <a:lstStyle/>
          <a:p>
            <a:pPr marL="0" indent="0" algn="l">
              <a:buNone/>
            </a:pPr>
            <a:r>
              <a:rPr lang="en-US" sz="3000" b="1" dirty="0">
                <a:solidFill>
                  <a:srgbClr val="1C1E1A"/>
                </a:solidFill>
                <a:latin typeface="Spectral" pitchFamily="34" charset="0"/>
                <a:ea typeface="Spectral" pitchFamily="34" charset="-122"/>
                <a:cs typeface="Spectral" pitchFamily="34" charset="-120"/>
              </a:rPr>
              <a:t>Narrow AI</a:t>
            </a:r>
            <a:endParaRPr lang="en-US" sz="3000" dirty="0"/>
          </a:p>
        </p:txBody>
      </p:sp>
      <p:sp>
        <p:nvSpPr>
          <p:cNvPr id="7" name="Text 5"/>
          <p:cNvSpPr/>
          <p:nvPr/>
        </p:nvSpPr>
        <p:spPr>
          <a:xfrm>
            <a:off x="1371600" y="3678138"/>
            <a:ext cx="4709160" cy="111823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44463E"/>
                </a:solidFill>
                <a:latin typeface="IBM Plex Sans" pitchFamily="34" charset="0"/>
                <a:ea typeface="IBM Plex Sans" pitchFamily="34" charset="-122"/>
                <a:cs typeface="IBM Plex Sans" pitchFamily="34" charset="-120"/>
              </a:rPr>
              <a:t>Good at one specific task or a narrow set of them. Almost all AI today is narrow.</a:t>
            </a:r>
            <a:endParaRPr lang="en-US" sz="2025" dirty="0"/>
          </a:p>
        </p:txBody>
      </p:sp>
      <p:sp>
        <p:nvSpPr>
          <p:cNvPr id="8" name="Text 6"/>
          <p:cNvSpPr/>
          <p:nvPr/>
        </p:nvSpPr>
        <p:spPr>
          <a:xfrm>
            <a:off x="1371600" y="4948773"/>
            <a:ext cx="4709160" cy="651510"/>
          </a:xfrm>
          <a:prstGeom prst="rect">
            <a:avLst/>
          </a:prstGeom>
          <a:noFill/>
          <a:ln/>
        </p:spPr>
        <p:txBody>
          <a:bodyPr wrap="square" lIns="25400" tIns="25400" rIns="25400" bIns="25400" rtlCol="0" anchor="t">
            <a:normAutofit/>
          </a:bodyPr>
          <a:lstStyle/>
          <a:p>
            <a:pPr marL="0" indent="0" algn="l">
              <a:lnSpc>
                <a:spcPct val="140000"/>
              </a:lnSpc>
              <a:buNone/>
            </a:pPr>
            <a:r>
              <a:rPr lang="en-US" sz="1725" dirty="0">
                <a:solidFill>
                  <a:srgbClr val="8A8470"/>
                </a:solidFill>
                <a:latin typeface="IBM Plex Sans" pitchFamily="34" charset="0"/>
                <a:ea typeface="IBM Plex Sans" pitchFamily="34" charset="-122"/>
                <a:cs typeface="IBM Plex Sans" pitchFamily="34" charset="-120"/>
              </a:rPr>
              <a:t>Spam filters, fraud detection, recommendations, voice assistants, ChatGPT.</a:t>
            </a:r>
            <a:endParaRPr lang="en-US" sz="1725" dirty="0"/>
          </a:p>
        </p:txBody>
      </p:sp>
      <p:sp>
        <p:nvSpPr>
          <p:cNvPr id="9" name="Shape 7"/>
          <p:cNvSpPr/>
          <p:nvPr/>
        </p:nvSpPr>
        <p:spPr>
          <a:xfrm>
            <a:off x="6534150" y="2249388"/>
            <a:ext cx="5219700" cy="3655695"/>
          </a:xfrm>
          <a:prstGeom prst="roundRect">
            <a:avLst>
              <a:gd name="adj" fmla="val 2084"/>
            </a:avLst>
          </a:prstGeom>
          <a:solidFill>
            <a:srgbClr val="FFFFFF"/>
          </a:solidFill>
          <a:ln w="19050">
            <a:solidFill>
              <a:srgbClr val="DDD8C8"/>
            </a:solidFill>
            <a:prstDash val="solid"/>
          </a:ln>
        </p:spPr>
      </p:sp>
      <p:sp>
        <p:nvSpPr>
          <p:cNvPr id="10" name="Text 8"/>
          <p:cNvSpPr/>
          <p:nvPr/>
        </p:nvSpPr>
        <p:spPr>
          <a:xfrm>
            <a:off x="6858000" y="2592288"/>
            <a:ext cx="5029200"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3A6B49"/>
                </a:solidFill>
                <a:latin typeface="IBM Plex Mono" pitchFamily="34" charset="0"/>
                <a:ea typeface="IBM Plex Mono" pitchFamily="34" charset="-122"/>
                <a:cs typeface="IBM Plex Mono" pitchFamily="34" charset="-120"/>
              </a:rPr>
              <a:t>LEVEL 2 · HYPOTHETICAL</a:t>
            </a:r>
            <a:endParaRPr lang="en-US" sz="1575" dirty="0"/>
          </a:p>
        </p:txBody>
      </p:sp>
      <p:sp>
        <p:nvSpPr>
          <p:cNvPr id="11" name="Text 9"/>
          <p:cNvSpPr/>
          <p:nvPr/>
        </p:nvSpPr>
        <p:spPr>
          <a:xfrm>
            <a:off x="6858000" y="2965668"/>
            <a:ext cx="5029200" cy="617220"/>
          </a:xfrm>
          <a:prstGeom prst="rect">
            <a:avLst/>
          </a:prstGeom>
          <a:noFill/>
          <a:ln/>
        </p:spPr>
        <p:txBody>
          <a:bodyPr wrap="square" lIns="25400" tIns="25400" rIns="25400" bIns="25400" rtlCol="0" anchor="t">
            <a:normAutofit/>
          </a:bodyPr>
          <a:lstStyle/>
          <a:p>
            <a:pPr marL="0" indent="0" algn="l">
              <a:buNone/>
            </a:pPr>
            <a:r>
              <a:rPr lang="en-US" sz="3000" b="1" dirty="0">
                <a:solidFill>
                  <a:srgbClr val="1C1E1A"/>
                </a:solidFill>
                <a:latin typeface="Spectral" pitchFamily="34" charset="0"/>
                <a:ea typeface="Spectral" pitchFamily="34" charset="-122"/>
                <a:cs typeface="Spectral" pitchFamily="34" charset="-120"/>
              </a:rPr>
              <a:t>General AI</a:t>
            </a:r>
            <a:endParaRPr lang="en-US" sz="3000" dirty="0"/>
          </a:p>
        </p:txBody>
      </p:sp>
      <p:sp>
        <p:nvSpPr>
          <p:cNvPr id="12" name="Text 10"/>
          <p:cNvSpPr/>
          <p:nvPr/>
        </p:nvSpPr>
        <p:spPr>
          <a:xfrm>
            <a:off x="6858000" y="3678138"/>
            <a:ext cx="4709160" cy="111823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44463E"/>
                </a:solidFill>
                <a:latin typeface="IBM Plex Sans" pitchFamily="34" charset="0"/>
                <a:ea typeface="IBM Plex Sans" pitchFamily="34" charset="-122"/>
                <a:cs typeface="IBM Plex Sans" pitchFamily="34" charset="-120"/>
              </a:rPr>
              <a:t>Could learn and perform any intellectual task a human can — not pre-programmed.</a:t>
            </a:r>
            <a:endParaRPr lang="en-US" sz="2025" dirty="0"/>
          </a:p>
        </p:txBody>
      </p:sp>
      <p:sp>
        <p:nvSpPr>
          <p:cNvPr id="13" name="Text 11"/>
          <p:cNvSpPr/>
          <p:nvPr/>
        </p:nvSpPr>
        <p:spPr>
          <a:xfrm>
            <a:off x="6858000" y="4948773"/>
            <a:ext cx="4709160" cy="651510"/>
          </a:xfrm>
          <a:prstGeom prst="rect">
            <a:avLst/>
          </a:prstGeom>
          <a:noFill/>
          <a:ln/>
        </p:spPr>
        <p:txBody>
          <a:bodyPr wrap="square" lIns="25400" tIns="25400" rIns="25400" bIns="25400" rtlCol="0" anchor="t">
            <a:normAutofit/>
          </a:bodyPr>
          <a:lstStyle/>
          <a:p>
            <a:pPr marL="0" indent="0" algn="l">
              <a:lnSpc>
                <a:spcPct val="140000"/>
              </a:lnSpc>
              <a:buNone/>
            </a:pPr>
            <a:r>
              <a:rPr lang="en-US" sz="1725" dirty="0">
                <a:solidFill>
                  <a:srgbClr val="8A8470"/>
                </a:solidFill>
                <a:latin typeface="IBM Plex Sans" pitchFamily="34" charset="0"/>
                <a:ea typeface="IBM Plex Sans" pitchFamily="34" charset="-122"/>
                <a:cs typeface="IBM Plex Sans" pitchFamily="34" charset="-120"/>
              </a:rPr>
              <a:t>Learn a new job, reason across domains, transfer knowledge.</a:t>
            </a:r>
            <a:endParaRPr lang="en-US" sz="1725" dirty="0"/>
          </a:p>
        </p:txBody>
      </p:sp>
      <p:sp>
        <p:nvSpPr>
          <p:cNvPr id="14" name="Shape 12"/>
          <p:cNvSpPr/>
          <p:nvPr/>
        </p:nvSpPr>
        <p:spPr>
          <a:xfrm>
            <a:off x="12020550" y="2249388"/>
            <a:ext cx="5219700" cy="3655695"/>
          </a:xfrm>
          <a:prstGeom prst="roundRect">
            <a:avLst>
              <a:gd name="adj" fmla="val 2084"/>
            </a:avLst>
          </a:prstGeom>
          <a:solidFill>
            <a:srgbClr val="21402E"/>
          </a:solidFill>
          <a:ln w="19050">
            <a:solidFill>
              <a:srgbClr val="21402E"/>
            </a:solidFill>
            <a:prstDash val="solid"/>
          </a:ln>
        </p:spPr>
      </p:sp>
      <p:sp>
        <p:nvSpPr>
          <p:cNvPr id="15" name="Text 13"/>
          <p:cNvSpPr/>
          <p:nvPr/>
        </p:nvSpPr>
        <p:spPr>
          <a:xfrm>
            <a:off x="12344400" y="2592288"/>
            <a:ext cx="5029200" cy="297180"/>
          </a:xfrm>
          <a:prstGeom prst="rect">
            <a:avLst/>
          </a:prstGeom>
          <a:noFill/>
          <a:ln/>
        </p:spPr>
        <p:txBody>
          <a:bodyPr wrap="square" lIns="25400" tIns="25400" rIns="25400" bIns="25400" rtlCol="0" anchor="t">
            <a:normAutofit/>
          </a:bodyPr>
          <a:lstStyle/>
          <a:p>
            <a:pPr marL="0" indent="0" algn="l">
              <a:buNone/>
            </a:pPr>
            <a:r>
              <a:rPr lang="en-US" sz="1575" kern="0" spc="126" dirty="0">
                <a:solidFill>
                  <a:srgbClr val="CCAE62"/>
                </a:solidFill>
                <a:latin typeface="IBM Plex Mono" pitchFamily="34" charset="0"/>
                <a:ea typeface="IBM Plex Mono" pitchFamily="34" charset="-122"/>
                <a:cs typeface="IBM Plex Mono" pitchFamily="34" charset="-120"/>
              </a:rPr>
              <a:t>LEVEL 3 · HYPOTHETICAL</a:t>
            </a:r>
            <a:endParaRPr lang="en-US" sz="1575" dirty="0"/>
          </a:p>
        </p:txBody>
      </p:sp>
      <p:sp>
        <p:nvSpPr>
          <p:cNvPr id="16" name="Text 14"/>
          <p:cNvSpPr/>
          <p:nvPr/>
        </p:nvSpPr>
        <p:spPr>
          <a:xfrm>
            <a:off x="12344400" y="2965668"/>
            <a:ext cx="5029200" cy="617220"/>
          </a:xfrm>
          <a:prstGeom prst="rect">
            <a:avLst/>
          </a:prstGeom>
          <a:noFill/>
          <a:ln/>
        </p:spPr>
        <p:txBody>
          <a:bodyPr wrap="square" lIns="25400" tIns="25400" rIns="25400" bIns="25400" rtlCol="0" anchor="t">
            <a:normAutofit/>
          </a:bodyPr>
          <a:lstStyle/>
          <a:p>
            <a:pPr marL="0" indent="0" algn="l">
              <a:buNone/>
            </a:pPr>
            <a:r>
              <a:rPr lang="en-US" sz="3000" b="1" dirty="0">
                <a:solidFill>
                  <a:srgbClr val="F4F1E8"/>
                </a:solidFill>
                <a:latin typeface="Spectral" pitchFamily="34" charset="0"/>
                <a:ea typeface="Spectral" pitchFamily="34" charset="-122"/>
                <a:cs typeface="Spectral" pitchFamily="34" charset="-120"/>
              </a:rPr>
              <a:t>Superintelligence</a:t>
            </a:r>
            <a:endParaRPr lang="en-US" sz="3000" dirty="0"/>
          </a:p>
        </p:txBody>
      </p:sp>
      <p:sp>
        <p:nvSpPr>
          <p:cNvPr id="17" name="Text 15"/>
          <p:cNvSpPr/>
          <p:nvPr/>
        </p:nvSpPr>
        <p:spPr>
          <a:xfrm>
            <a:off x="12344400" y="3678138"/>
            <a:ext cx="4709160" cy="75819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DBE4DC"/>
                </a:solidFill>
                <a:latin typeface="IBM Plex Sans" pitchFamily="34" charset="0"/>
                <a:ea typeface="IBM Plex Sans" pitchFamily="34" charset="-122"/>
                <a:cs typeface="IBM Plex Sans" pitchFamily="34" charset="-120"/>
              </a:rPr>
              <a:t>More capable than humans at essentially all intellectual tasks.</a:t>
            </a:r>
            <a:endParaRPr lang="en-US" sz="2025" dirty="0"/>
          </a:p>
        </p:txBody>
      </p:sp>
      <p:sp>
        <p:nvSpPr>
          <p:cNvPr id="18" name="Text 16"/>
          <p:cNvSpPr/>
          <p:nvPr/>
        </p:nvSpPr>
        <p:spPr>
          <a:xfrm>
            <a:off x="12344400" y="4948773"/>
            <a:ext cx="4709160" cy="651510"/>
          </a:xfrm>
          <a:prstGeom prst="rect">
            <a:avLst/>
          </a:prstGeom>
          <a:noFill/>
          <a:ln/>
        </p:spPr>
        <p:txBody>
          <a:bodyPr wrap="square" lIns="25400" tIns="25400" rIns="25400" bIns="25400" rtlCol="0" anchor="t">
            <a:normAutofit/>
          </a:bodyPr>
          <a:lstStyle/>
          <a:p>
            <a:pPr marL="0" indent="0" algn="l">
              <a:lnSpc>
                <a:spcPct val="140000"/>
              </a:lnSpc>
              <a:buNone/>
            </a:pPr>
            <a:r>
              <a:rPr lang="en-US" sz="1725" dirty="0">
                <a:solidFill>
                  <a:srgbClr val="9BB0A1"/>
                </a:solidFill>
                <a:latin typeface="IBM Plex Sans" pitchFamily="34" charset="0"/>
                <a:ea typeface="IBM Plex Sans" pitchFamily="34" charset="-122"/>
                <a:cs typeface="IBM Plex Sans" pitchFamily="34" charset="-120"/>
              </a:rPr>
              <a:t>Reason, create, discover, and strategize far beyond people.</a:t>
            </a:r>
            <a:endParaRPr lang="en-US" sz="17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047750" y="914400"/>
            <a:ext cx="17811750" cy="33909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CAE62"/>
                </a:solidFill>
                <a:latin typeface="IBM Plex Mono" pitchFamily="34" charset="0"/>
                <a:ea typeface="IBM Plex Mono" pitchFamily="34" charset="-122"/>
                <a:cs typeface="IBM Plex Mono" pitchFamily="34" charset="-120"/>
              </a:rPr>
              <a:t>PART THREE</a:t>
            </a:r>
            <a:endParaRPr lang="en-US" sz="1800" dirty="0"/>
          </a:p>
        </p:txBody>
      </p:sp>
      <p:sp>
        <p:nvSpPr>
          <p:cNvPr id="3" name="Text 1"/>
          <p:cNvSpPr/>
          <p:nvPr/>
        </p:nvSpPr>
        <p:spPr>
          <a:xfrm>
            <a:off x="1047750" y="3480435"/>
            <a:ext cx="1781175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3A6B49"/>
                </a:solidFill>
                <a:latin typeface="Spectral" pitchFamily="34" charset="0"/>
                <a:ea typeface="Spectral" pitchFamily="34" charset="-122"/>
                <a:cs typeface="Spectral" pitchFamily="34" charset="-120"/>
              </a:rPr>
              <a:t>03</a:t>
            </a:r>
            <a:endParaRPr lang="en-US" sz="15000" dirty="0"/>
          </a:p>
        </p:txBody>
      </p:sp>
      <p:sp>
        <p:nvSpPr>
          <p:cNvPr id="4" name="Text 2"/>
          <p:cNvSpPr/>
          <p:nvPr/>
        </p:nvSpPr>
        <p:spPr>
          <a:xfrm>
            <a:off x="1047750" y="5309235"/>
            <a:ext cx="17811750" cy="918210"/>
          </a:xfrm>
          <a:prstGeom prst="rect">
            <a:avLst/>
          </a:prstGeom>
          <a:noFill/>
          <a:ln/>
        </p:spPr>
        <p:txBody>
          <a:bodyPr wrap="square" lIns="25400" tIns="25400" rIns="25400" bIns="25400" rtlCol="0" anchor="t">
            <a:normAutofit/>
          </a:bodyPr>
          <a:lstStyle/>
          <a:p>
            <a:pPr marL="0" indent="0" algn="l">
              <a:lnSpc>
                <a:spcPct val="105000"/>
              </a:lnSpc>
              <a:buNone/>
            </a:pPr>
            <a:r>
              <a:rPr lang="en-US" sz="6600" b="1" kern="0" spc="-66" dirty="0">
                <a:solidFill>
                  <a:srgbClr val="F4F1E8"/>
                </a:solidFill>
                <a:latin typeface="Spectral" pitchFamily="34" charset="0"/>
                <a:ea typeface="Spectral" pitchFamily="34" charset="-122"/>
                <a:cs typeface="Spectral" pitchFamily="34" charset="-120"/>
              </a:rPr>
              <a:t>AI, Machine Learning &amp; Deep Learning</a:t>
            </a:r>
            <a:endParaRPr lang="en-US" sz="6600" dirty="0"/>
          </a:p>
        </p:txBody>
      </p:sp>
      <p:sp>
        <p:nvSpPr>
          <p:cNvPr id="5" name="Text 3"/>
          <p:cNvSpPr/>
          <p:nvPr/>
        </p:nvSpPr>
        <p:spPr>
          <a:xfrm>
            <a:off x="1047750" y="6417945"/>
            <a:ext cx="115252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CDD9CF"/>
                </a:solidFill>
                <a:latin typeface="IBM Plex Sans" pitchFamily="34" charset="0"/>
                <a:ea typeface="IBM Plex Sans" pitchFamily="34" charset="-122"/>
                <a:cs typeface="IBM Plex Sans" pitchFamily="34" charset="-120"/>
              </a:rPr>
              <a:t>Three words people confuse — and how they actually fit together.</a:t>
            </a:r>
            <a:endParaRPr lang="en-US" sz="2550" dirty="0"/>
          </a:p>
        </p:txBody>
      </p:sp>
      <p:sp>
        <p:nvSpPr>
          <p:cNvPr id="6" name="Text 4"/>
          <p:cNvSpPr/>
          <p:nvPr/>
        </p:nvSpPr>
        <p:spPr>
          <a:xfrm>
            <a:off x="1047750" y="9102090"/>
            <a:ext cx="17811750" cy="308610"/>
          </a:xfrm>
          <a:prstGeom prst="rect">
            <a:avLst/>
          </a:prstGeom>
          <a:noFill/>
          <a:ln/>
        </p:spPr>
        <p:txBody>
          <a:bodyPr wrap="square" lIns="25400" tIns="25400" rIns="25400" bIns="25400" rtlCol="0" anchor="t">
            <a:normAutofit/>
          </a:bodyPr>
          <a:lstStyle/>
          <a:p>
            <a:pPr marL="0" indent="0" algn="l">
              <a:buNone/>
            </a:pPr>
            <a:r>
              <a:rPr lang="en-US" sz="1650" dirty="0">
                <a:solidFill>
                  <a:srgbClr val="9BB0A1"/>
                </a:solidFill>
                <a:latin typeface="IBM Plex Mono" pitchFamily="34" charset="0"/>
                <a:ea typeface="IBM Plex Mono" pitchFamily="34" charset="-122"/>
                <a:cs typeface="IBM Plex Mono" pitchFamily="34" charset="-120"/>
              </a:rPr>
              <a:t>CIAI · Class 01 †</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74295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HOW THE FIELDS NEST</a:t>
            </a:r>
            <a:endParaRPr lang="en-US" sz="1800" dirty="0"/>
          </a:p>
        </p:txBody>
      </p:sp>
      <p:sp>
        <p:nvSpPr>
          <p:cNvPr id="3" name="Text 1"/>
          <p:cNvSpPr/>
          <p:nvPr/>
        </p:nvSpPr>
        <p:spPr>
          <a:xfrm>
            <a:off x="1047750" y="1177290"/>
            <a:ext cx="17811750" cy="612636"/>
          </a:xfrm>
          <a:prstGeom prst="rect">
            <a:avLst/>
          </a:prstGeom>
          <a:noFill/>
          <a:ln/>
        </p:spPr>
        <p:txBody>
          <a:bodyPr wrap="square" lIns="25400" tIns="25400" rIns="25400" bIns="25400" rtlCol="0" anchor="t">
            <a:normAutofit/>
          </a:bodyPr>
          <a:lstStyle/>
          <a:p>
            <a:pPr marL="0" indent="0" algn="l">
              <a:lnSpc>
                <a:spcPct val="104000"/>
              </a:lnSpc>
              <a:buNone/>
            </a:pPr>
            <a:r>
              <a:rPr lang="en-US" sz="4350" b="1" kern="0" spc="-43" dirty="0">
                <a:solidFill>
                  <a:srgbClr val="1C1E1A"/>
                </a:solidFill>
                <a:latin typeface="Spectral" pitchFamily="34" charset="0"/>
                <a:ea typeface="Spectral" pitchFamily="34" charset="-122"/>
                <a:cs typeface="Spectral" pitchFamily="34" charset="-120"/>
              </a:rPr>
              <a:t>One sits inside the next</a:t>
            </a:r>
            <a:endParaRPr lang="en-US" sz="4350" dirty="0"/>
          </a:p>
        </p:txBody>
      </p:sp>
      <p:sp>
        <p:nvSpPr>
          <p:cNvPr id="4" name="Shape 2"/>
          <p:cNvSpPr/>
          <p:nvPr/>
        </p:nvSpPr>
        <p:spPr>
          <a:xfrm>
            <a:off x="1795582" y="2018526"/>
            <a:ext cx="6515100" cy="6515100"/>
          </a:xfrm>
          <a:prstGeom prst="ellipse">
            <a:avLst/>
          </a:prstGeom>
          <a:solidFill>
            <a:srgbClr val="EDF2ED"/>
          </a:solidFill>
          <a:ln w="19050">
            <a:solidFill>
              <a:srgbClr val="C8D6C9"/>
            </a:solidFill>
            <a:prstDash val="solid"/>
          </a:ln>
        </p:spPr>
      </p:sp>
      <p:sp>
        <p:nvSpPr>
          <p:cNvPr id="5" name="Text 3"/>
          <p:cNvSpPr/>
          <p:nvPr/>
        </p:nvSpPr>
        <p:spPr>
          <a:xfrm>
            <a:off x="1490782" y="2285226"/>
            <a:ext cx="7124700" cy="323850"/>
          </a:xfrm>
          <a:prstGeom prst="rect">
            <a:avLst/>
          </a:prstGeom>
          <a:noFill/>
          <a:ln/>
        </p:spPr>
        <p:txBody>
          <a:bodyPr wrap="square" lIns="25400" tIns="25400" rIns="25400" bIns="25400" rtlCol="0" anchor="t">
            <a:normAutofit/>
          </a:bodyPr>
          <a:lstStyle/>
          <a:p>
            <a:pPr marL="0" indent="0" algn="ctr">
              <a:buNone/>
            </a:pPr>
            <a:r>
              <a:rPr lang="en-US" sz="1725" kern="0" spc="103" dirty="0">
                <a:solidFill>
                  <a:srgbClr val="5D6F60"/>
                </a:solidFill>
                <a:latin typeface="IBM Plex Mono" pitchFamily="34" charset="0"/>
                <a:ea typeface="IBM Plex Mono" pitchFamily="34" charset="-122"/>
                <a:cs typeface="IBM Plex Mono" pitchFamily="34" charset="-120"/>
              </a:rPr>
              <a:t>COMPUTER SCIENCE</a:t>
            </a:r>
            <a:endParaRPr lang="en-US" sz="1725" dirty="0"/>
          </a:p>
        </p:txBody>
      </p:sp>
      <p:sp>
        <p:nvSpPr>
          <p:cNvPr id="6" name="Shape 4"/>
          <p:cNvSpPr/>
          <p:nvPr/>
        </p:nvSpPr>
        <p:spPr>
          <a:xfrm>
            <a:off x="2557582" y="2780526"/>
            <a:ext cx="4991100" cy="4991100"/>
          </a:xfrm>
          <a:prstGeom prst="ellipse">
            <a:avLst/>
          </a:prstGeom>
          <a:solidFill>
            <a:srgbClr val="D6E6D8"/>
          </a:solidFill>
          <a:ln w="19050">
            <a:solidFill>
              <a:srgbClr val="AECBB2"/>
            </a:solidFill>
            <a:prstDash val="solid"/>
          </a:ln>
        </p:spPr>
      </p:sp>
      <p:sp>
        <p:nvSpPr>
          <p:cNvPr id="7" name="Text 5"/>
          <p:cNvSpPr/>
          <p:nvPr/>
        </p:nvSpPr>
        <p:spPr>
          <a:xfrm>
            <a:off x="2328982" y="3028176"/>
            <a:ext cx="5448300" cy="323850"/>
          </a:xfrm>
          <a:prstGeom prst="rect">
            <a:avLst/>
          </a:prstGeom>
          <a:noFill/>
          <a:ln/>
        </p:spPr>
        <p:txBody>
          <a:bodyPr wrap="square" lIns="25400" tIns="25400" rIns="25400" bIns="25400" rtlCol="0" anchor="t">
            <a:normAutofit/>
          </a:bodyPr>
          <a:lstStyle/>
          <a:p>
            <a:pPr marL="0" indent="0" algn="ctr">
              <a:buNone/>
            </a:pPr>
            <a:r>
              <a:rPr lang="en-US" sz="1725" kern="0" spc="103" dirty="0">
                <a:solidFill>
                  <a:srgbClr val="3A6B49"/>
                </a:solidFill>
                <a:latin typeface="IBM Plex Mono" pitchFamily="34" charset="0"/>
                <a:ea typeface="IBM Plex Mono" pitchFamily="34" charset="-122"/>
                <a:cs typeface="IBM Plex Mono" pitchFamily="34" charset="-120"/>
              </a:rPr>
              <a:t>ARTIFICIAL INTELLIGENCE</a:t>
            </a:r>
            <a:endParaRPr lang="en-US" sz="1725" dirty="0"/>
          </a:p>
        </p:txBody>
      </p:sp>
      <p:sp>
        <p:nvSpPr>
          <p:cNvPr id="8" name="Shape 6"/>
          <p:cNvSpPr/>
          <p:nvPr/>
        </p:nvSpPr>
        <p:spPr>
          <a:xfrm>
            <a:off x="3319582" y="3542526"/>
            <a:ext cx="3467100" cy="3467100"/>
          </a:xfrm>
          <a:prstGeom prst="ellipse">
            <a:avLst/>
          </a:prstGeom>
          <a:solidFill>
            <a:srgbClr val="A9CDB0"/>
          </a:solidFill>
          <a:ln w="19050">
            <a:solidFill>
              <a:srgbClr val="7CAE87"/>
            </a:solidFill>
            <a:prstDash val="solid"/>
          </a:ln>
        </p:spPr>
      </p:sp>
      <p:sp>
        <p:nvSpPr>
          <p:cNvPr id="9" name="Text 7"/>
          <p:cNvSpPr/>
          <p:nvPr/>
        </p:nvSpPr>
        <p:spPr>
          <a:xfrm>
            <a:off x="3167182" y="3771126"/>
            <a:ext cx="3771900" cy="308610"/>
          </a:xfrm>
          <a:prstGeom prst="rect">
            <a:avLst/>
          </a:prstGeom>
          <a:noFill/>
          <a:ln/>
        </p:spPr>
        <p:txBody>
          <a:bodyPr wrap="square" lIns="25400" tIns="25400" rIns="25400" bIns="25400" rtlCol="0" anchor="t">
            <a:normAutofit/>
          </a:bodyPr>
          <a:lstStyle/>
          <a:p>
            <a:pPr marL="0" indent="0" algn="ctr">
              <a:buNone/>
            </a:pPr>
            <a:r>
              <a:rPr lang="en-US" sz="1650" kern="0" spc="83" dirty="0">
                <a:solidFill>
                  <a:srgbClr val="1F3D2A"/>
                </a:solidFill>
                <a:latin typeface="IBM Plex Mono" pitchFamily="34" charset="0"/>
                <a:ea typeface="IBM Plex Mono" pitchFamily="34" charset="-122"/>
                <a:cs typeface="IBM Plex Mono" pitchFamily="34" charset="-120"/>
              </a:rPr>
              <a:t>MACHINE LEARNING</a:t>
            </a:r>
            <a:endParaRPr lang="en-US" sz="1650" dirty="0"/>
          </a:p>
        </p:txBody>
      </p:sp>
      <p:sp>
        <p:nvSpPr>
          <p:cNvPr id="10" name="Shape 8"/>
          <p:cNvSpPr/>
          <p:nvPr/>
        </p:nvSpPr>
        <p:spPr>
          <a:xfrm>
            <a:off x="4100632" y="4323576"/>
            <a:ext cx="1905000" cy="1905000"/>
          </a:xfrm>
          <a:prstGeom prst="ellipse">
            <a:avLst/>
          </a:prstGeom>
          <a:solidFill>
            <a:srgbClr val="21402E"/>
          </a:solidFill>
          <a:ln/>
        </p:spPr>
      </p:sp>
      <p:sp>
        <p:nvSpPr>
          <p:cNvPr id="11" name="Text 9"/>
          <p:cNvSpPr/>
          <p:nvPr/>
        </p:nvSpPr>
        <p:spPr>
          <a:xfrm>
            <a:off x="4502944" y="5016044"/>
            <a:ext cx="1100376" cy="558165"/>
          </a:xfrm>
          <a:prstGeom prst="rect">
            <a:avLst/>
          </a:prstGeom>
          <a:noFill/>
          <a:ln/>
        </p:spPr>
        <p:txBody>
          <a:bodyPr wrap="square" lIns="25400" tIns="25400" rIns="25400" bIns="25400" rtlCol="0" anchor="t">
            <a:normAutofit/>
          </a:bodyPr>
          <a:lstStyle/>
          <a:p>
            <a:pPr marL="0" indent="0" algn="ctr">
              <a:lnSpc>
                <a:spcPct val="130000"/>
              </a:lnSpc>
              <a:buNone/>
            </a:pPr>
            <a:r>
              <a:rPr lang="en-US" sz="1575" kern="0" spc="63" dirty="0">
                <a:solidFill>
                  <a:srgbClr val="CCAE62"/>
                </a:solidFill>
                <a:latin typeface="IBM Plex Mono" pitchFamily="34" charset="0"/>
                <a:ea typeface="IBM Plex Mono" pitchFamily="34" charset="-122"/>
                <a:cs typeface="IBM Plex Mono" pitchFamily="34" charset="-120"/>
              </a:rPr>
              <a:t>DEEP LEARNING</a:t>
            </a:r>
            <a:endParaRPr lang="en-US" sz="1575" dirty="0"/>
          </a:p>
        </p:txBody>
      </p:sp>
      <p:sp>
        <p:nvSpPr>
          <p:cNvPr id="12" name="Shape 10"/>
          <p:cNvSpPr/>
          <p:nvPr/>
        </p:nvSpPr>
        <p:spPr>
          <a:xfrm>
            <a:off x="5777032" y="3847326"/>
            <a:ext cx="2857500" cy="2857500"/>
          </a:xfrm>
          <a:prstGeom prst="ellipse">
            <a:avLst/>
          </a:prstGeom>
          <a:solidFill>
            <a:srgbClr val="CAB06A">
              <a:alpha val="28000"/>
            </a:srgbClr>
          </a:solidFill>
          <a:ln w="19050">
            <a:solidFill>
              <a:srgbClr val="B89A4D"/>
            </a:solidFill>
            <a:prstDash val="dash"/>
          </a:ln>
        </p:spPr>
      </p:sp>
      <p:sp>
        <p:nvSpPr>
          <p:cNvPr id="13" name="Text 11"/>
          <p:cNvSpPr/>
          <p:nvPr/>
        </p:nvSpPr>
        <p:spPr>
          <a:xfrm>
            <a:off x="7343418" y="5016044"/>
            <a:ext cx="986314" cy="558165"/>
          </a:xfrm>
          <a:prstGeom prst="rect">
            <a:avLst/>
          </a:prstGeom>
          <a:noFill/>
          <a:ln/>
        </p:spPr>
        <p:txBody>
          <a:bodyPr wrap="square" lIns="25400" tIns="25400" rIns="25400" bIns="25400" rtlCol="0" anchor="t">
            <a:normAutofit/>
          </a:bodyPr>
          <a:lstStyle/>
          <a:p>
            <a:pPr marL="0" indent="0" algn="r">
              <a:lnSpc>
                <a:spcPct val="130000"/>
              </a:lnSpc>
              <a:buNone/>
            </a:pPr>
            <a:r>
              <a:rPr lang="en-US" sz="1575" kern="0" spc="79" dirty="0">
                <a:solidFill>
                  <a:srgbClr val="7D6722"/>
                </a:solidFill>
                <a:latin typeface="IBM Plex Mono" pitchFamily="34" charset="0"/>
                <a:ea typeface="IBM Plex Mono" pitchFamily="34" charset="-122"/>
                <a:cs typeface="IBM Plex Mono" pitchFamily="34" charset="-120"/>
              </a:rPr>
              <a:t>DATA SCIENCE</a:t>
            </a:r>
            <a:endParaRPr lang="en-US" sz="1575" dirty="0"/>
          </a:p>
        </p:txBody>
      </p:sp>
      <p:sp>
        <p:nvSpPr>
          <p:cNvPr id="14" name="Text 12"/>
          <p:cNvSpPr/>
          <p:nvPr/>
        </p:nvSpPr>
        <p:spPr>
          <a:xfrm>
            <a:off x="9630013" y="2974122"/>
            <a:ext cx="8371195" cy="438626"/>
          </a:xfrm>
          <a:prstGeom prst="rect">
            <a:avLst/>
          </a:prstGeom>
          <a:noFill/>
          <a:ln/>
        </p:spPr>
        <p:txBody>
          <a:bodyPr wrap="square" lIns="25400" tIns="25400" rIns="25400" bIns="25400" rtlCol="0" anchor="t">
            <a:normAutofit/>
          </a:bodyPr>
          <a:lstStyle/>
          <a:p>
            <a:pPr marL="0" indent="0" algn="l">
              <a:lnSpc>
                <a:spcPct val="145000"/>
              </a:lnSpc>
              <a:buNone/>
            </a:pPr>
            <a:r>
              <a:rPr lang="en-US" sz="2175" b="1" dirty="0">
                <a:solidFill>
                  <a:srgbClr val="33352F"/>
                </a:solidFill>
                <a:latin typeface="IBM Plex Sans" pitchFamily="34" charset="0"/>
                <a:ea typeface="IBM Plex Sans" pitchFamily="34" charset="-122"/>
                <a:cs typeface="IBM Plex Sans" pitchFamily="34" charset="-120"/>
              </a:rPr>
              <a:t>AI </a:t>
            </a:r>
            <a:r>
              <a:rPr lang="en-US" sz="2175" dirty="0">
                <a:solidFill>
                  <a:srgbClr val="33352F"/>
                </a:solidFill>
                <a:latin typeface="IBM Plex Sans" pitchFamily="34" charset="0"/>
                <a:ea typeface="IBM Plex Sans" pitchFamily="34" charset="-122"/>
                <a:cs typeface="IBM Plex Sans" pitchFamily="34" charset="-120"/>
              </a:rPr>
              <a:t>is the broad idea of machines doing intelligent things.</a:t>
            </a:r>
            <a:endParaRPr lang="en-US" sz="2175" dirty="0"/>
          </a:p>
        </p:txBody>
      </p:sp>
      <p:sp>
        <p:nvSpPr>
          <p:cNvPr id="15" name="Text 13"/>
          <p:cNvSpPr/>
          <p:nvPr/>
        </p:nvSpPr>
        <p:spPr>
          <a:xfrm>
            <a:off x="9630013" y="3603248"/>
            <a:ext cx="7838483" cy="839152"/>
          </a:xfrm>
          <a:prstGeom prst="rect">
            <a:avLst/>
          </a:prstGeom>
          <a:noFill/>
          <a:ln/>
        </p:spPr>
        <p:txBody>
          <a:bodyPr wrap="square" lIns="25400" tIns="25400" rIns="25400" bIns="25400" rtlCol="0" anchor="t">
            <a:normAutofit/>
          </a:bodyPr>
          <a:lstStyle/>
          <a:p>
            <a:pPr marL="0" indent="0" algn="l">
              <a:lnSpc>
                <a:spcPct val="145000"/>
              </a:lnSpc>
              <a:buNone/>
            </a:pPr>
            <a:r>
              <a:rPr lang="en-US" sz="2175" b="1" dirty="0">
                <a:solidFill>
                  <a:srgbClr val="33352F"/>
                </a:solidFill>
                <a:latin typeface="IBM Plex Sans" pitchFamily="34" charset="0"/>
                <a:ea typeface="IBM Plex Sans" pitchFamily="34" charset="-122"/>
                <a:cs typeface="IBM Plex Sans" pitchFamily="34" charset="-120"/>
              </a:rPr>
              <a:t>Machine Learning </a:t>
            </a:r>
            <a:r>
              <a:rPr lang="en-US" sz="2175" dirty="0">
                <a:solidFill>
                  <a:srgbClr val="33352F"/>
                </a:solidFill>
                <a:latin typeface="IBM Plex Sans" pitchFamily="34" charset="0"/>
                <a:ea typeface="IBM Plex Sans" pitchFamily="34" charset="-122"/>
                <a:cs typeface="IBM Plex Sans" pitchFamily="34" charset="-120"/>
              </a:rPr>
              <a:t>is a part of AI that learns patterns from data instead of being given every rule.</a:t>
            </a:r>
            <a:endParaRPr lang="en-US" sz="2175" dirty="0"/>
          </a:p>
        </p:txBody>
      </p:sp>
      <p:sp>
        <p:nvSpPr>
          <p:cNvPr id="16" name="Text 14"/>
          <p:cNvSpPr/>
          <p:nvPr/>
        </p:nvSpPr>
        <p:spPr>
          <a:xfrm>
            <a:off x="9630013" y="4632901"/>
            <a:ext cx="7838483" cy="839152"/>
          </a:xfrm>
          <a:prstGeom prst="rect">
            <a:avLst/>
          </a:prstGeom>
          <a:noFill/>
          <a:ln/>
        </p:spPr>
        <p:txBody>
          <a:bodyPr wrap="square" lIns="25400" tIns="25400" rIns="25400" bIns="25400" rtlCol="0" anchor="t">
            <a:normAutofit/>
          </a:bodyPr>
          <a:lstStyle/>
          <a:p>
            <a:pPr marL="0" indent="0" algn="l">
              <a:lnSpc>
                <a:spcPct val="145000"/>
              </a:lnSpc>
              <a:buNone/>
            </a:pPr>
            <a:r>
              <a:rPr lang="en-US" sz="2175" b="1" dirty="0">
                <a:solidFill>
                  <a:srgbClr val="33352F"/>
                </a:solidFill>
                <a:latin typeface="IBM Plex Sans" pitchFamily="34" charset="0"/>
                <a:ea typeface="IBM Plex Sans" pitchFamily="34" charset="-122"/>
                <a:cs typeface="IBM Plex Sans" pitchFamily="34" charset="-120"/>
              </a:rPr>
              <a:t>Deep Learning </a:t>
            </a:r>
            <a:r>
              <a:rPr lang="en-US" sz="2175" dirty="0">
                <a:solidFill>
                  <a:srgbClr val="33352F"/>
                </a:solidFill>
                <a:latin typeface="IBM Plex Sans" pitchFamily="34" charset="0"/>
                <a:ea typeface="IBM Plex Sans" pitchFamily="34" charset="-122"/>
                <a:cs typeface="IBM Plex Sans" pitchFamily="34" charset="-120"/>
              </a:rPr>
              <a:t>is a part of ML that uses neural networks to model complex patterns.</a:t>
            </a:r>
            <a:endParaRPr lang="en-US" sz="2175" dirty="0"/>
          </a:p>
        </p:txBody>
      </p:sp>
      <p:sp>
        <p:nvSpPr>
          <p:cNvPr id="17" name="Text 15"/>
          <p:cNvSpPr/>
          <p:nvPr/>
        </p:nvSpPr>
        <p:spPr>
          <a:xfrm>
            <a:off x="9630013" y="5662553"/>
            <a:ext cx="7838483" cy="839152"/>
          </a:xfrm>
          <a:prstGeom prst="rect">
            <a:avLst/>
          </a:prstGeom>
          <a:noFill/>
          <a:ln/>
        </p:spPr>
        <p:txBody>
          <a:bodyPr wrap="square" lIns="25400" tIns="25400" rIns="25400" bIns="25400" rtlCol="0" anchor="t">
            <a:normAutofit/>
          </a:bodyPr>
          <a:lstStyle/>
          <a:p>
            <a:pPr marL="0" indent="0" algn="l">
              <a:lnSpc>
                <a:spcPct val="145000"/>
              </a:lnSpc>
              <a:buNone/>
            </a:pPr>
            <a:r>
              <a:rPr lang="en-US" sz="2175" b="1" dirty="0">
                <a:solidFill>
                  <a:srgbClr val="7D6722"/>
                </a:solidFill>
                <a:latin typeface="IBM Plex Sans" pitchFamily="34" charset="0"/>
                <a:ea typeface="IBM Plex Sans" pitchFamily="34" charset="-122"/>
                <a:cs typeface="IBM Plex Sans" pitchFamily="34" charset="-120"/>
              </a:rPr>
              <a:t>Data Science </a:t>
            </a:r>
            <a:r>
              <a:rPr lang="en-US" sz="2175" dirty="0">
                <a:solidFill>
                  <a:srgbClr val="7D6722"/>
                </a:solidFill>
                <a:latin typeface="IBM Plex Sans" pitchFamily="34" charset="0"/>
                <a:ea typeface="IBM Plex Sans" pitchFamily="34" charset="-122"/>
                <a:cs typeface="IBM Plex Sans" pitchFamily="34" charset="-120"/>
              </a:rPr>
              <a:t>overlaps them all — it's how we collect, organize, and draw conclusions from data.</a:t>
            </a:r>
            <a:endParaRPr lang="en-US" sz="2175" dirty="0"/>
          </a:p>
        </p:txBody>
      </p:sp>
      <p:sp>
        <p:nvSpPr>
          <p:cNvPr id="18" name="Text 16"/>
          <p:cNvSpPr/>
          <p:nvPr/>
        </p:nvSpPr>
        <p:spPr>
          <a:xfrm>
            <a:off x="9630013" y="6749355"/>
            <a:ext cx="7838483"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i="1" dirty="0">
                <a:solidFill>
                  <a:srgbClr val="21402E"/>
                </a:solidFill>
                <a:latin typeface="Spectral" pitchFamily="34" charset="0"/>
                <a:ea typeface="Spectral" pitchFamily="34" charset="-122"/>
                <a:cs typeface="Spectral" pitchFamily="34" charset="-120"/>
              </a:rPr>
              <a:t>Think of AI as the universe, ML as a galaxy, and DL as a solar system within it.</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7620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TWO WAYS MACHINES LEARN</a:t>
            </a:r>
            <a:endParaRPr lang="en-US" sz="1800" dirty="0"/>
          </a:p>
        </p:txBody>
      </p:sp>
      <p:sp>
        <p:nvSpPr>
          <p:cNvPr id="3" name="Text 1"/>
          <p:cNvSpPr/>
          <p:nvPr/>
        </p:nvSpPr>
        <p:spPr>
          <a:xfrm>
            <a:off x="1047750" y="11963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Supervised vs. unsupervised learning</a:t>
            </a:r>
            <a:endParaRPr lang="en-US" sz="4800" dirty="0"/>
          </a:p>
        </p:txBody>
      </p:sp>
      <p:sp>
        <p:nvSpPr>
          <p:cNvPr id="4" name="Shape 2"/>
          <p:cNvSpPr/>
          <p:nvPr/>
        </p:nvSpPr>
        <p:spPr>
          <a:xfrm>
            <a:off x="1047750" y="2230338"/>
            <a:ext cx="7943850" cy="4306729"/>
          </a:xfrm>
          <a:prstGeom prst="roundRect">
            <a:avLst>
              <a:gd name="adj" fmla="val 1769"/>
            </a:avLst>
          </a:prstGeom>
          <a:solidFill>
            <a:srgbClr val="FFFFFF"/>
          </a:solidFill>
          <a:ln w="19050">
            <a:solidFill>
              <a:srgbClr val="DDD8C8"/>
            </a:solidFill>
            <a:prstDash val="solid"/>
          </a:ln>
        </p:spPr>
      </p:sp>
      <p:sp>
        <p:nvSpPr>
          <p:cNvPr id="5" name="Text 3"/>
          <p:cNvSpPr/>
          <p:nvPr/>
        </p:nvSpPr>
        <p:spPr>
          <a:xfrm>
            <a:off x="1447800" y="2611338"/>
            <a:ext cx="7858125" cy="647700"/>
          </a:xfrm>
          <a:prstGeom prst="rect">
            <a:avLst/>
          </a:prstGeom>
          <a:noFill/>
          <a:ln/>
        </p:spPr>
        <p:txBody>
          <a:bodyPr wrap="square" lIns="25400" tIns="25400" rIns="25400" bIns="25400" rtlCol="0" anchor="t">
            <a:normAutofit/>
          </a:bodyPr>
          <a:lstStyle/>
          <a:p>
            <a:pPr marL="0" indent="0" algn="l">
              <a:buNone/>
            </a:pPr>
            <a:r>
              <a:rPr lang="en-US" sz="3150" b="1" dirty="0">
                <a:solidFill>
                  <a:srgbClr val="1C1E1A"/>
                </a:solidFill>
                <a:latin typeface="Spectral" pitchFamily="34" charset="0"/>
                <a:ea typeface="Spectral" pitchFamily="34" charset="-122"/>
                <a:cs typeface="Spectral" pitchFamily="34" charset="-120"/>
              </a:rPr>
              <a:t>Supervised</a:t>
            </a:r>
            <a:endParaRPr lang="en-US" sz="3150" dirty="0"/>
          </a:p>
        </p:txBody>
      </p:sp>
      <p:sp>
        <p:nvSpPr>
          <p:cNvPr id="6" name="Text 4"/>
          <p:cNvSpPr/>
          <p:nvPr/>
        </p:nvSpPr>
        <p:spPr>
          <a:xfrm>
            <a:off x="1447800" y="3316188"/>
            <a:ext cx="7858125" cy="308610"/>
          </a:xfrm>
          <a:prstGeom prst="rect">
            <a:avLst/>
          </a:prstGeom>
          <a:noFill/>
          <a:ln/>
        </p:spPr>
        <p:txBody>
          <a:bodyPr wrap="square" lIns="25400" tIns="25400" rIns="25400" bIns="25400" rtlCol="0" anchor="t">
            <a:normAutofit/>
          </a:bodyPr>
          <a:lstStyle/>
          <a:p>
            <a:pPr marL="0" indent="0" algn="l">
              <a:buNone/>
            </a:pPr>
            <a:r>
              <a:rPr lang="en-US" sz="1650" kern="0" spc="99" dirty="0">
                <a:solidFill>
                  <a:srgbClr val="3A6B49"/>
                </a:solidFill>
                <a:latin typeface="IBM Plex Mono" pitchFamily="34" charset="0"/>
                <a:ea typeface="IBM Plex Mono" pitchFamily="34" charset="-122"/>
                <a:cs typeface="IBM Plex Mono" pitchFamily="34" charset="-120"/>
              </a:rPr>
              <a:t>LEARNS FROM LABELS</a:t>
            </a:r>
            <a:endParaRPr lang="en-US" sz="1650" dirty="0"/>
          </a:p>
        </p:txBody>
      </p:sp>
      <p:sp>
        <p:nvSpPr>
          <p:cNvPr id="7" name="Text 5"/>
          <p:cNvSpPr/>
          <p:nvPr/>
        </p:nvSpPr>
        <p:spPr>
          <a:xfrm>
            <a:off x="1447800" y="3796248"/>
            <a:ext cx="7358063" cy="1239679"/>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44463E"/>
                </a:solidFill>
                <a:latin typeface="IBM Plex Sans" pitchFamily="34" charset="0"/>
                <a:ea typeface="IBM Plex Sans" pitchFamily="34" charset="-122"/>
                <a:cs typeface="IBM Plex Sans" pitchFamily="34" charset="-120"/>
              </a:rPr>
              <a:t>Trained on data where the correct answers are already known. It compares its guesses to the right answers and improves.</a:t>
            </a:r>
            <a:endParaRPr lang="en-US" sz="2175" dirty="0"/>
          </a:p>
        </p:txBody>
      </p:sp>
      <p:sp>
        <p:nvSpPr>
          <p:cNvPr id="8" name="Shape 6"/>
          <p:cNvSpPr/>
          <p:nvPr/>
        </p:nvSpPr>
        <p:spPr>
          <a:xfrm>
            <a:off x="1447800" y="5226427"/>
            <a:ext cx="7143750" cy="9525"/>
          </a:xfrm>
          <a:prstGeom prst="rect">
            <a:avLst/>
          </a:prstGeom>
          <a:solidFill>
            <a:srgbClr val="E6E1D1"/>
          </a:solidFill>
          <a:ln/>
        </p:spPr>
      </p:sp>
      <p:sp>
        <p:nvSpPr>
          <p:cNvPr id="9" name="Text 7"/>
          <p:cNvSpPr/>
          <p:nvPr/>
        </p:nvSpPr>
        <p:spPr>
          <a:xfrm>
            <a:off x="1447800" y="5462647"/>
            <a:ext cx="7358063"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b="1" dirty="0">
                <a:solidFill>
                  <a:srgbClr val="21402E"/>
                </a:solidFill>
                <a:latin typeface="IBM Plex Sans" pitchFamily="34" charset="0"/>
                <a:ea typeface="IBM Plex Sans" pitchFamily="34" charset="-122"/>
                <a:cs typeface="IBM Plex Sans" pitchFamily="34" charset="-120"/>
              </a:rPr>
              <a:t>Example — </a:t>
            </a:r>
            <a:r>
              <a:rPr lang="en-US" sz="1950" dirty="0">
                <a:solidFill>
                  <a:srgbClr val="21402E"/>
                </a:solidFill>
                <a:latin typeface="IBM Plex Sans" pitchFamily="34" charset="0"/>
                <a:ea typeface="IBM Plex Sans" pitchFamily="34" charset="-122"/>
                <a:cs typeface="IBM Plex Sans" pitchFamily="34" charset="-120"/>
              </a:rPr>
              <a:t>emails labeled </a:t>
            </a:r>
            <a:r>
              <a:rPr lang="en-US" sz="1950" i="1" dirty="0">
                <a:solidFill>
                  <a:srgbClr val="21402E"/>
                </a:solidFill>
                <a:latin typeface="IBM Plex Sans" pitchFamily="34" charset="0"/>
                <a:ea typeface="IBM Plex Sans" pitchFamily="34" charset="-122"/>
                <a:cs typeface="IBM Plex Sans" pitchFamily="34" charset="-120"/>
              </a:rPr>
              <a:t>spam </a:t>
            </a:r>
            <a:r>
              <a:rPr lang="en-US" sz="1950" dirty="0">
                <a:solidFill>
                  <a:srgbClr val="21402E"/>
                </a:solidFill>
                <a:latin typeface="IBM Plex Sans" pitchFamily="34" charset="0"/>
                <a:ea typeface="IBM Plex Sans" pitchFamily="34" charset="-122"/>
                <a:cs typeface="IBM Plex Sans" pitchFamily="34" charset="-120"/>
              </a:rPr>
              <a:t>/ </a:t>
            </a:r>
            <a:r>
              <a:rPr lang="en-US" sz="1950" i="1" dirty="0">
                <a:solidFill>
                  <a:srgbClr val="21402E"/>
                </a:solidFill>
                <a:latin typeface="IBM Plex Sans" pitchFamily="34" charset="0"/>
                <a:ea typeface="IBM Plex Sans" pitchFamily="34" charset="-122"/>
                <a:cs typeface="IBM Plex Sans" pitchFamily="34" charset="-120"/>
              </a:rPr>
              <a:t>not spam </a:t>
            </a:r>
            <a:r>
              <a:rPr lang="en-US" sz="1950" dirty="0">
                <a:solidFill>
                  <a:srgbClr val="21402E"/>
                </a:solidFill>
                <a:latin typeface="IBM Plex Sans" pitchFamily="34" charset="0"/>
                <a:ea typeface="IBM Plex Sans" pitchFamily="34" charset="-122"/>
                <a:cs typeface="IBM Plex Sans" pitchFamily="34" charset="-120"/>
              </a:rPr>
              <a:t>, so it learns to sort new ones.</a:t>
            </a:r>
            <a:endParaRPr lang="en-US" sz="1950" dirty="0"/>
          </a:p>
        </p:txBody>
      </p:sp>
      <p:sp>
        <p:nvSpPr>
          <p:cNvPr id="10" name="Shape 8"/>
          <p:cNvSpPr/>
          <p:nvPr/>
        </p:nvSpPr>
        <p:spPr>
          <a:xfrm>
            <a:off x="9296400" y="2230338"/>
            <a:ext cx="7943850" cy="4306729"/>
          </a:xfrm>
          <a:prstGeom prst="roundRect">
            <a:avLst>
              <a:gd name="adj" fmla="val 1769"/>
            </a:avLst>
          </a:prstGeom>
          <a:solidFill>
            <a:srgbClr val="FFFFFF"/>
          </a:solidFill>
          <a:ln w="19050">
            <a:solidFill>
              <a:srgbClr val="DDD8C8"/>
            </a:solidFill>
            <a:prstDash val="solid"/>
          </a:ln>
        </p:spPr>
      </p:sp>
      <p:sp>
        <p:nvSpPr>
          <p:cNvPr id="11" name="Text 9"/>
          <p:cNvSpPr/>
          <p:nvPr/>
        </p:nvSpPr>
        <p:spPr>
          <a:xfrm>
            <a:off x="9696450" y="2611338"/>
            <a:ext cx="7858125" cy="647700"/>
          </a:xfrm>
          <a:prstGeom prst="rect">
            <a:avLst/>
          </a:prstGeom>
          <a:noFill/>
          <a:ln/>
        </p:spPr>
        <p:txBody>
          <a:bodyPr wrap="square" lIns="25400" tIns="25400" rIns="25400" bIns="25400" rtlCol="0" anchor="t">
            <a:normAutofit/>
          </a:bodyPr>
          <a:lstStyle/>
          <a:p>
            <a:pPr marL="0" indent="0" algn="l">
              <a:buNone/>
            </a:pPr>
            <a:r>
              <a:rPr lang="en-US" sz="3150" b="1" dirty="0">
                <a:solidFill>
                  <a:srgbClr val="1C1E1A"/>
                </a:solidFill>
                <a:latin typeface="Spectral" pitchFamily="34" charset="0"/>
                <a:ea typeface="Spectral" pitchFamily="34" charset="-122"/>
                <a:cs typeface="Spectral" pitchFamily="34" charset="-120"/>
              </a:rPr>
              <a:t>Unsupervised</a:t>
            </a:r>
            <a:endParaRPr lang="en-US" sz="3150" dirty="0"/>
          </a:p>
        </p:txBody>
      </p:sp>
      <p:sp>
        <p:nvSpPr>
          <p:cNvPr id="12" name="Text 10"/>
          <p:cNvSpPr/>
          <p:nvPr/>
        </p:nvSpPr>
        <p:spPr>
          <a:xfrm>
            <a:off x="9696450" y="3316188"/>
            <a:ext cx="7858125" cy="308610"/>
          </a:xfrm>
          <a:prstGeom prst="rect">
            <a:avLst/>
          </a:prstGeom>
          <a:noFill/>
          <a:ln/>
        </p:spPr>
        <p:txBody>
          <a:bodyPr wrap="square" lIns="25400" tIns="25400" rIns="25400" bIns="25400" rtlCol="0" anchor="t">
            <a:normAutofit/>
          </a:bodyPr>
          <a:lstStyle/>
          <a:p>
            <a:pPr marL="0" indent="0" algn="l">
              <a:buNone/>
            </a:pPr>
            <a:r>
              <a:rPr lang="en-US" sz="1650" kern="0" spc="99" dirty="0">
                <a:solidFill>
                  <a:srgbClr val="3A6B49"/>
                </a:solidFill>
                <a:latin typeface="IBM Plex Mono" pitchFamily="34" charset="0"/>
                <a:ea typeface="IBM Plex Mono" pitchFamily="34" charset="-122"/>
                <a:cs typeface="IBM Plex Mono" pitchFamily="34" charset="-120"/>
              </a:rPr>
              <a:t>FINDS PATTERNS ALONE</a:t>
            </a:r>
            <a:endParaRPr lang="en-US" sz="1650" dirty="0"/>
          </a:p>
        </p:txBody>
      </p:sp>
      <p:sp>
        <p:nvSpPr>
          <p:cNvPr id="13" name="Text 11"/>
          <p:cNvSpPr/>
          <p:nvPr/>
        </p:nvSpPr>
        <p:spPr>
          <a:xfrm>
            <a:off x="9696450" y="3796248"/>
            <a:ext cx="7358063" cy="839152"/>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44463E"/>
                </a:solidFill>
                <a:latin typeface="IBM Plex Sans" pitchFamily="34" charset="0"/>
                <a:ea typeface="IBM Plex Sans" pitchFamily="34" charset="-122"/>
                <a:cs typeface="IBM Plex Sans" pitchFamily="34" charset="-120"/>
              </a:rPr>
              <a:t>Given unlabeled data with no “right answer.” It hunts for similarities, groupings, and hidden structure on its own.</a:t>
            </a:r>
            <a:endParaRPr lang="en-US" sz="2175" dirty="0"/>
          </a:p>
        </p:txBody>
      </p:sp>
      <p:sp>
        <p:nvSpPr>
          <p:cNvPr id="14" name="Shape 12"/>
          <p:cNvSpPr/>
          <p:nvPr/>
        </p:nvSpPr>
        <p:spPr>
          <a:xfrm>
            <a:off x="9696450" y="4825901"/>
            <a:ext cx="7143750" cy="9525"/>
          </a:xfrm>
          <a:prstGeom prst="rect">
            <a:avLst/>
          </a:prstGeom>
          <a:solidFill>
            <a:srgbClr val="E6E1D1"/>
          </a:solidFill>
          <a:ln/>
        </p:spPr>
      </p:sp>
      <p:sp>
        <p:nvSpPr>
          <p:cNvPr id="15" name="Text 13"/>
          <p:cNvSpPr/>
          <p:nvPr/>
        </p:nvSpPr>
        <p:spPr>
          <a:xfrm>
            <a:off x="9696450" y="5062121"/>
            <a:ext cx="7358063"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b="1" dirty="0">
                <a:solidFill>
                  <a:srgbClr val="21402E"/>
                </a:solidFill>
                <a:latin typeface="IBM Plex Sans" pitchFamily="34" charset="0"/>
                <a:ea typeface="IBM Plex Sans" pitchFamily="34" charset="-122"/>
                <a:cs typeface="IBM Plex Sans" pitchFamily="34" charset="-120"/>
              </a:rPr>
              <a:t>Example — </a:t>
            </a:r>
            <a:r>
              <a:rPr lang="en-US" sz="1950" dirty="0">
                <a:solidFill>
                  <a:srgbClr val="21402E"/>
                </a:solidFill>
                <a:latin typeface="IBM Plex Sans" pitchFamily="34" charset="0"/>
                <a:ea typeface="IBM Plex Sans" pitchFamily="34" charset="-122"/>
                <a:cs typeface="IBM Plex Sans" pitchFamily="34" charset="-120"/>
              </a:rPr>
              <a:t>grouping customers by buying behavior, with no labels given.</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AI IN EVERYDAY LIFE</a:t>
            </a:r>
            <a:endParaRPr lang="en-US" sz="1800" dirty="0"/>
          </a:p>
        </p:txBody>
      </p:sp>
      <p:sp>
        <p:nvSpPr>
          <p:cNvPr id="3" name="Text 1"/>
          <p:cNvSpPr/>
          <p:nvPr/>
        </p:nvSpPr>
        <p:spPr>
          <a:xfrm>
            <a:off x="1047750" y="1234440"/>
            <a:ext cx="17811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You're already using it</a:t>
            </a:r>
            <a:endParaRPr lang="en-US" sz="4800" dirty="0"/>
          </a:p>
        </p:txBody>
      </p:sp>
      <p:sp>
        <p:nvSpPr>
          <p:cNvPr id="4" name="Shape 2"/>
          <p:cNvSpPr/>
          <p:nvPr/>
        </p:nvSpPr>
        <p:spPr>
          <a:xfrm>
            <a:off x="1047750" y="2306538"/>
            <a:ext cx="3070860" cy="26670"/>
          </a:xfrm>
          <a:prstGeom prst="rect">
            <a:avLst/>
          </a:prstGeom>
          <a:solidFill>
            <a:srgbClr val="21402E"/>
          </a:solidFill>
          <a:ln/>
        </p:spPr>
      </p:sp>
      <p:sp>
        <p:nvSpPr>
          <p:cNvPr id="5" name="Text 3"/>
          <p:cNvSpPr/>
          <p:nvPr/>
        </p:nvSpPr>
        <p:spPr>
          <a:xfrm>
            <a:off x="1047750" y="2504658"/>
            <a:ext cx="3162986" cy="502920"/>
          </a:xfrm>
          <a:prstGeom prst="rect">
            <a:avLst/>
          </a:prstGeom>
          <a:noFill/>
          <a:ln/>
        </p:spPr>
        <p:txBody>
          <a:bodyPr wrap="square" lIns="25400" tIns="25400" rIns="25400" bIns="25400" rtlCol="0" anchor="t">
            <a:normAutofit/>
          </a:bodyPr>
          <a:lstStyle/>
          <a:p>
            <a:pPr marL="0" indent="0" algn="l">
              <a:buNone/>
            </a:pPr>
            <a:r>
              <a:rPr lang="en-US" sz="2400" b="1" dirty="0">
                <a:solidFill>
                  <a:srgbClr val="1C1E1A"/>
                </a:solidFill>
                <a:latin typeface="Spectral" pitchFamily="34" charset="0"/>
                <a:ea typeface="Spectral" pitchFamily="34" charset="-122"/>
                <a:cs typeface="Spectral" pitchFamily="34" charset="-120"/>
              </a:rPr>
              <a:t>Smartphones</a:t>
            </a:r>
            <a:endParaRPr lang="en-US" sz="2400" dirty="0"/>
          </a:p>
        </p:txBody>
      </p:sp>
      <p:sp>
        <p:nvSpPr>
          <p:cNvPr id="6" name="Text 4"/>
          <p:cNvSpPr/>
          <p:nvPr/>
        </p:nvSpPr>
        <p:spPr>
          <a:xfrm>
            <a:off x="1047750" y="3102828"/>
            <a:ext cx="3162986"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5564D"/>
                </a:solidFill>
                <a:latin typeface="IBM Plex Sans" pitchFamily="34" charset="0"/>
                <a:ea typeface="IBM Plex Sans" pitchFamily="34" charset="-122"/>
                <a:cs typeface="IBM Plex Sans" pitchFamily="34" charset="-120"/>
              </a:rPr>
              <a:t>Voice assistants and auto-correct.</a:t>
            </a:r>
            <a:endParaRPr lang="en-US" sz="1950" dirty="0"/>
          </a:p>
        </p:txBody>
      </p:sp>
      <p:sp>
        <p:nvSpPr>
          <p:cNvPr id="7" name="Shape 5"/>
          <p:cNvSpPr/>
          <p:nvPr/>
        </p:nvSpPr>
        <p:spPr>
          <a:xfrm>
            <a:off x="4328160" y="2306538"/>
            <a:ext cx="3070860" cy="26670"/>
          </a:xfrm>
          <a:prstGeom prst="rect">
            <a:avLst/>
          </a:prstGeom>
          <a:solidFill>
            <a:srgbClr val="3A6B49"/>
          </a:solidFill>
          <a:ln/>
        </p:spPr>
      </p:sp>
      <p:sp>
        <p:nvSpPr>
          <p:cNvPr id="8" name="Text 6"/>
          <p:cNvSpPr/>
          <p:nvPr/>
        </p:nvSpPr>
        <p:spPr>
          <a:xfrm>
            <a:off x="4328160" y="2504658"/>
            <a:ext cx="3162986" cy="502920"/>
          </a:xfrm>
          <a:prstGeom prst="rect">
            <a:avLst/>
          </a:prstGeom>
          <a:noFill/>
          <a:ln/>
        </p:spPr>
        <p:txBody>
          <a:bodyPr wrap="square" lIns="25400" tIns="25400" rIns="25400" bIns="25400" rtlCol="0" anchor="t">
            <a:normAutofit/>
          </a:bodyPr>
          <a:lstStyle/>
          <a:p>
            <a:pPr marL="0" indent="0" algn="l">
              <a:buNone/>
            </a:pPr>
            <a:r>
              <a:rPr lang="en-US" sz="2400" b="1" dirty="0">
                <a:solidFill>
                  <a:srgbClr val="1C1E1A"/>
                </a:solidFill>
                <a:latin typeface="Spectral" pitchFamily="34" charset="0"/>
                <a:ea typeface="Spectral" pitchFamily="34" charset="-122"/>
                <a:cs typeface="Spectral" pitchFamily="34" charset="-120"/>
              </a:rPr>
              <a:t>Streaming</a:t>
            </a:r>
            <a:endParaRPr lang="en-US" sz="2400" dirty="0"/>
          </a:p>
        </p:txBody>
      </p:sp>
      <p:sp>
        <p:nvSpPr>
          <p:cNvPr id="9" name="Text 7"/>
          <p:cNvSpPr/>
          <p:nvPr/>
        </p:nvSpPr>
        <p:spPr>
          <a:xfrm>
            <a:off x="4328160" y="3102828"/>
            <a:ext cx="3162986"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5564D"/>
                </a:solidFill>
                <a:latin typeface="IBM Plex Sans" pitchFamily="34" charset="0"/>
                <a:ea typeface="IBM Plex Sans" pitchFamily="34" charset="-122"/>
                <a:cs typeface="IBM Plex Sans" pitchFamily="34" charset="-120"/>
              </a:rPr>
              <a:t>Recommendation engines for what's next.</a:t>
            </a:r>
            <a:endParaRPr lang="en-US" sz="1950" dirty="0"/>
          </a:p>
        </p:txBody>
      </p:sp>
      <p:sp>
        <p:nvSpPr>
          <p:cNvPr id="10" name="Shape 8"/>
          <p:cNvSpPr/>
          <p:nvPr/>
        </p:nvSpPr>
        <p:spPr>
          <a:xfrm>
            <a:off x="7608570" y="2306538"/>
            <a:ext cx="3070860" cy="26670"/>
          </a:xfrm>
          <a:prstGeom prst="rect">
            <a:avLst/>
          </a:prstGeom>
          <a:solidFill>
            <a:srgbClr val="6A9A78"/>
          </a:solidFill>
          <a:ln/>
        </p:spPr>
      </p:sp>
      <p:sp>
        <p:nvSpPr>
          <p:cNvPr id="11" name="Text 9"/>
          <p:cNvSpPr/>
          <p:nvPr/>
        </p:nvSpPr>
        <p:spPr>
          <a:xfrm>
            <a:off x="7608570" y="2504658"/>
            <a:ext cx="3162986" cy="502920"/>
          </a:xfrm>
          <a:prstGeom prst="rect">
            <a:avLst/>
          </a:prstGeom>
          <a:noFill/>
          <a:ln/>
        </p:spPr>
        <p:txBody>
          <a:bodyPr wrap="square" lIns="25400" tIns="25400" rIns="25400" bIns="25400" rtlCol="0" anchor="t">
            <a:normAutofit/>
          </a:bodyPr>
          <a:lstStyle/>
          <a:p>
            <a:pPr marL="0" indent="0" algn="l">
              <a:buNone/>
            </a:pPr>
            <a:r>
              <a:rPr lang="en-US" sz="2400" b="1" dirty="0">
                <a:solidFill>
                  <a:srgbClr val="1C1E1A"/>
                </a:solidFill>
                <a:latin typeface="Spectral" pitchFamily="34" charset="0"/>
                <a:ea typeface="Spectral" pitchFamily="34" charset="-122"/>
                <a:cs typeface="Spectral" pitchFamily="34" charset="-120"/>
              </a:rPr>
              <a:t>Social Media</a:t>
            </a:r>
            <a:endParaRPr lang="en-US" sz="2400" dirty="0"/>
          </a:p>
        </p:txBody>
      </p:sp>
      <p:sp>
        <p:nvSpPr>
          <p:cNvPr id="12" name="Text 10"/>
          <p:cNvSpPr/>
          <p:nvPr/>
        </p:nvSpPr>
        <p:spPr>
          <a:xfrm>
            <a:off x="7608570" y="3102828"/>
            <a:ext cx="3162986"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5564D"/>
                </a:solidFill>
                <a:latin typeface="IBM Plex Sans" pitchFamily="34" charset="0"/>
                <a:ea typeface="IBM Plex Sans" pitchFamily="34" charset="-122"/>
                <a:cs typeface="IBM Plex Sans" pitchFamily="34" charset="-120"/>
              </a:rPr>
              <a:t>Feed algorithms and facial tagging.</a:t>
            </a:r>
            <a:endParaRPr lang="en-US" sz="1950" dirty="0"/>
          </a:p>
        </p:txBody>
      </p:sp>
      <p:sp>
        <p:nvSpPr>
          <p:cNvPr id="13" name="Shape 11"/>
          <p:cNvSpPr/>
          <p:nvPr/>
        </p:nvSpPr>
        <p:spPr>
          <a:xfrm>
            <a:off x="10888981" y="2306538"/>
            <a:ext cx="3070860" cy="26670"/>
          </a:xfrm>
          <a:prstGeom prst="rect">
            <a:avLst/>
          </a:prstGeom>
          <a:solidFill>
            <a:srgbClr val="CAB06A"/>
          </a:solidFill>
          <a:ln/>
        </p:spPr>
      </p:sp>
      <p:sp>
        <p:nvSpPr>
          <p:cNvPr id="14" name="Text 12"/>
          <p:cNvSpPr/>
          <p:nvPr/>
        </p:nvSpPr>
        <p:spPr>
          <a:xfrm>
            <a:off x="10888981" y="2504658"/>
            <a:ext cx="3162986" cy="502920"/>
          </a:xfrm>
          <a:prstGeom prst="rect">
            <a:avLst/>
          </a:prstGeom>
          <a:noFill/>
          <a:ln/>
        </p:spPr>
        <p:txBody>
          <a:bodyPr wrap="square" lIns="25400" tIns="25400" rIns="25400" bIns="25400" rtlCol="0" anchor="t">
            <a:normAutofit/>
          </a:bodyPr>
          <a:lstStyle/>
          <a:p>
            <a:pPr marL="0" indent="0" algn="l">
              <a:buNone/>
            </a:pPr>
            <a:r>
              <a:rPr lang="en-US" sz="2400" b="1" dirty="0">
                <a:solidFill>
                  <a:srgbClr val="1C1E1A"/>
                </a:solidFill>
                <a:latin typeface="Spectral" pitchFamily="34" charset="0"/>
                <a:ea typeface="Spectral" pitchFamily="34" charset="-122"/>
                <a:cs typeface="Spectral" pitchFamily="34" charset="-120"/>
              </a:rPr>
              <a:t>Navigation</a:t>
            </a:r>
            <a:endParaRPr lang="en-US" sz="2400" dirty="0"/>
          </a:p>
        </p:txBody>
      </p:sp>
      <p:sp>
        <p:nvSpPr>
          <p:cNvPr id="15" name="Text 13"/>
          <p:cNvSpPr/>
          <p:nvPr/>
        </p:nvSpPr>
        <p:spPr>
          <a:xfrm>
            <a:off x="10888981" y="3102828"/>
            <a:ext cx="3162986"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5564D"/>
                </a:solidFill>
                <a:latin typeface="IBM Plex Sans" pitchFamily="34" charset="0"/>
                <a:ea typeface="IBM Plex Sans" pitchFamily="34" charset="-122"/>
                <a:cs typeface="IBM Plex Sans" pitchFamily="34" charset="-120"/>
              </a:rPr>
              <a:t>Maps predicting traffic ahead.</a:t>
            </a:r>
            <a:endParaRPr lang="en-US" sz="1950" dirty="0"/>
          </a:p>
        </p:txBody>
      </p:sp>
      <p:sp>
        <p:nvSpPr>
          <p:cNvPr id="16" name="Shape 14"/>
          <p:cNvSpPr/>
          <p:nvPr/>
        </p:nvSpPr>
        <p:spPr>
          <a:xfrm>
            <a:off x="14169390" y="2306538"/>
            <a:ext cx="3070860" cy="26670"/>
          </a:xfrm>
          <a:prstGeom prst="rect">
            <a:avLst/>
          </a:prstGeom>
          <a:solidFill>
            <a:srgbClr val="B08A3E"/>
          </a:solidFill>
          <a:ln/>
        </p:spPr>
      </p:sp>
      <p:sp>
        <p:nvSpPr>
          <p:cNvPr id="17" name="Text 15"/>
          <p:cNvSpPr/>
          <p:nvPr/>
        </p:nvSpPr>
        <p:spPr>
          <a:xfrm>
            <a:off x="14169390" y="2504658"/>
            <a:ext cx="3162986" cy="502920"/>
          </a:xfrm>
          <a:prstGeom prst="rect">
            <a:avLst/>
          </a:prstGeom>
          <a:noFill/>
          <a:ln/>
        </p:spPr>
        <p:txBody>
          <a:bodyPr wrap="square" lIns="25400" tIns="25400" rIns="25400" bIns="25400" rtlCol="0" anchor="t">
            <a:normAutofit/>
          </a:bodyPr>
          <a:lstStyle/>
          <a:p>
            <a:pPr marL="0" indent="0" algn="l">
              <a:buNone/>
            </a:pPr>
            <a:r>
              <a:rPr lang="en-US" sz="2400" b="1" dirty="0">
                <a:solidFill>
                  <a:srgbClr val="1C1E1A"/>
                </a:solidFill>
                <a:latin typeface="Spectral" pitchFamily="34" charset="0"/>
                <a:ea typeface="Spectral" pitchFamily="34" charset="-122"/>
                <a:cs typeface="Spectral" pitchFamily="34" charset="-120"/>
              </a:rPr>
              <a:t>Retail</a:t>
            </a:r>
            <a:endParaRPr lang="en-US" sz="2400" dirty="0"/>
          </a:p>
        </p:txBody>
      </p:sp>
      <p:sp>
        <p:nvSpPr>
          <p:cNvPr id="18" name="Text 16"/>
          <p:cNvSpPr/>
          <p:nvPr/>
        </p:nvSpPr>
        <p:spPr>
          <a:xfrm>
            <a:off x="14169390" y="3102828"/>
            <a:ext cx="3162986" cy="73152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5564D"/>
                </a:solidFill>
                <a:latin typeface="IBM Plex Sans" pitchFamily="34" charset="0"/>
                <a:ea typeface="IBM Plex Sans" pitchFamily="34" charset="-122"/>
                <a:cs typeface="IBM Plex Sans" pitchFamily="34" charset="-120"/>
              </a:rPr>
              <a:t>Chatbots and personalized ads.</a:t>
            </a:r>
            <a:endParaRPr lang="en-US" sz="1950" dirty="0"/>
          </a:p>
        </p:txBody>
      </p:sp>
      <p:sp>
        <p:nvSpPr>
          <p:cNvPr id="19" name="Text 17"/>
          <p:cNvSpPr/>
          <p:nvPr/>
        </p:nvSpPr>
        <p:spPr>
          <a:xfrm>
            <a:off x="1047750" y="9022080"/>
            <a:ext cx="17811750" cy="502920"/>
          </a:xfrm>
          <a:prstGeom prst="rect">
            <a:avLst/>
          </a:prstGeom>
          <a:noFill/>
          <a:ln/>
        </p:spPr>
        <p:txBody>
          <a:bodyPr wrap="square" lIns="25400" tIns="25400" rIns="25400" bIns="25400" rtlCol="0" anchor="t">
            <a:normAutofit/>
          </a:bodyPr>
          <a:lstStyle/>
          <a:p>
            <a:pPr marL="0" indent="0" algn="l">
              <a:buNone/>
            </a:pPr>
            <a:r>
              <a:rPr lang="en-US" sz="2400" i="1" dirty="0">
                <a:solidFill>
                  <a:srgbClr val="21402E"/>
                </a:solidFill>
                <a:latin typeface="Spectral" pitchFamily="34" charset="0"/>
                <a:ea typeface="Spectral" pitchFamily="34" charset="-122"/>
                <a:cs typeface="Spectral" pitchFamily="34" charset="-120"/>
              </a:rPr>
              <a:t>Most of it is invisible — which is exactly why we need to learn to see it.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1047750" y="800100"/>
            <a:ext cx="17811750" cy="33909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3A6B49"/>
                </a:solidFill>
                <a:latin typeface="IBM Plex Mono" pitchFamily="34" charset="0"/>
                <a:ea typeface="IBM Plex Mono" pitchFamily="34" charset="-122"/>
                <a:cs typeface="IBM Plex Mono" pitchFamily="34" charset="-120"/>
              </a:rPr>
              <a:t>ETHICS &amp; BIAS · A TEASER</a:t>
            </a:r>
            <a:endParaRPr lang="en-US" sz="1800" dirty="0"/>
          </a:p>
        </p:txBody>
      </p:sp>
      <p:sp>
        <p:nvSpPr>
          <p:cNvPr id="3" name="Text 1"/>
          <p:cNvSpPr/>
          <p:nvPr/>
        </p:nvSpPr>
        <p:spPr>
          <a:xfrm>
            <a:off x="1047750" y="1234440"/>
            <a:ext cx="13620750" cy="672048"/>
          </a:xfrm>
          <a:prstGeom prst="rect">
            <a:avLst/>
          </a:prstGeom>
          <a:noFill/>
          <a:ln/>
        </p:spPr>
        <p:txBody>
          <a:bodyPr wrap="square" lIns="25400" tIns="25400" rIns="25400" bIns="25400" rtlCol="0" anchor="t">
            <a:normAutofit/>
          </a:bodyPr>
          <a:lstStyle/>
          <a:p>
            <a:pPr marL="0" indent="0" algn="l">
              <a:lnSpc>
                <a:spcPct val="104000"/>
              </a:lnSpc>
              <a:buNone/>
            </a:pPr>
            <a:r>
              <a:rPr lang="en-US" sz="4800" b="1" kern="0" spc="-48" dirty="0">
                <a:solidFill>
                  <a:srgbClr val="1C1E1A"/>
                </a:solidFill>
                <a:latin typeface="Spectral" pitchFamily="34" charset="0"/>
                <a:ea typeface="Spectral" pitchFamily="34" charset="-122"/>
                <a:cs typeface="Spectral" pitchFamily="34" charset="-120"/>
              </a:rPr>
              <a:t>AI can be wrong — and it can be unfair</a:t>
            </a:r>
            <a:endParaRPr lang="en-US" sz="4800" dirty="0"/>
          </a:p>
        </p:txBody>
      </p:sp>
      <p:sp>
        <p:nvSpPr>
          <p:cNvPr id="4" name="Text 2"/>
          <p:cNvSpPr/>
          <p:nvPr/>
        </p:nvSpPr>
        <p:spPr>
          <a:xfrm>
            <a:off x="1047750" y="2306538"/>
            <a:ext cx="371475" cy="466249"/>
          </a:xfrm>
          <a:prstGeom prst="rect">
            <a:avLst/>
          </a:prstGeom>
          <a:noFill/>
          <a:ln/>
        </p:spPr>
        <p:txBody>
          <a:bodyPr wrap="square" lIns="25400" tIns="25400" rIns="25400" bIns="25400" rtlCol="0" anchor="t">
            <a:normAutofit/>
          </a:bodyPr>
          <a:lstStyle/>
          <a:p>
            <a:pPr marL="0" indent="0" algn="l">
              <a:lnSpc>
                <a:spcPct val="145000"/>
              </a:lnSpc>
              <a:buNone/>
            </a:pPr>
            <a:r>
              <a:rPr lang="en-US" sz="2325" b="1" dirty="0">
                <a:solidFill>
                  <a:srgbClr val="9A3B2E"/>
                </a:solidFill>
                <a:latin typeface="Spectral" pitchFamily="34" charset="0"/>
                <a:ea typeface="Spectral" pitchFamily="34" charset="-122"/>
                <a:cs typeface="Spectral" pitchFamily="34" charset="-120"/>
              </a:rPr>
              <a:t>→</a:t>
            </a:r>
            <a:endParaRPr lang="en-US" sz="2325" dirty="0"/>
          </a:p>
        </p:txBody>
      </p:sp>
      <p:sp>
        <p:nvSpPr>
          <p:cNvPr id="5" name="Text 3"/>
          <p:cNvSpPr/>
          <p:nvPr/>
        </p:nvSpPr>
        <p:spPr>
          <a:xfrm>
            <a:off x="1533525" y="2306538"/>
            <a:ext cx="7485602" cy="894398"/>
          </a:xfrm>
          <a:prstGeom prst="rect">
            <a:avLst/>
          </a:prstGeom>
          <a:noFill/>
          <a:ln/>
        </p:spPr>
        <p:txBody>
          <a:bodyPr wrap="square" lIns="25400" tIns="25400" rIns="25400" bIns="25400" rtlCol="0" anchor="t">
            <a:normAutofit/>
          </a:bodyPr>
          <a:lstStyle/>
          <a:p>
            <a:pPr marL="0" indent="0" algn="l">
              <a:lnSpc>
                <a:spcPct val="145000"/>
              </a:lnSpc>
              <a:buNone/>
            </a:pPr>
            <a:r>
              <a:rPr lang="en-US" sz="2325" dirty="0">
                <a:solidFill>
                  <a:srgbClr val="1C1E1A"/>
                </a:solidFill>
                <a:latin typeface="IBM Plex Sans" pitchFamily="34" charset="0"/>
                <a:ea typeface="IBM Plex Sans" pitchFamily="34" charset="-122"/>
                <a:cs typeface="IBM Plex Sans" pitchFamily="34" charset="-120"/>
              </a:rPr>
              <a:t>AI makes mistakes — like </a:t>
            </a:r>
            <a:r>
              <a:rPr lang="en-US" sz="2325" b="1" dirty="0">
                <a:solidFill>
                  <a:srgbClr val="1C1E1A"/>
                </a:solidFill>
                <a:latin typeface="IBM Plex Sans" pitchFamily="34" charset="0"/>
                <a:ea typeface="IBM Plex Sans" pitchFamily="34" charset="-122"/>
                <a:cs typeface="IBM Plex Sans" pitchFamily="34" charset="-120"/>
              </a:rPr>
              <a:t>false arrests </a:t>
            </a:r>
            <a:r>
              <a:rPr lang="en-US" sz="2325" dirty="0">
                <a:solidFill>
                  <a:srgbClr val="1C1E1A"/>
                </a:solidFill>
                <a:latin typeface="IBM Plex Sans" pitchFamily="34" charset="0"/>
                <a:ea typeface="IBM Plex Sans" pitchFamily="34" charset="-122"/>
                <a:cs typeface="IBM Plex Sans" pitchFamily="34" charset="-120"/>
              </a:rPr>
              <a:t>from facial-recognition errors.</a:t>
            </a:r>
            <a:endParaRPr lang="en-US" sz="2325" dirty="0"/>
          </a:p>
        </p:txBody>
      </p:sp>
      <p:sp>
        <p:nvSpPr>
          <p:cNvPr id="6" name="Text 4"/>
          <p:cNvSpPr/>
          <p:nvPr/>
        </p:nvSpPr>
        <p:spPr>
          <a:xfrm>
            <a:off x="1047750" y="3391436"/>
            <a:ext cx="371475" cy="466249"/>
          </a:xfrm>
          <a:prstGeom prst="rect">
            <a:avLst/>
          </a:prstGeom>
          <a:noFill/>
          <a:ln/>
        </p:spPr>
        <p:txBody>
          <a:bodyPr wrap="square" lIns="25400" tIns="25400" rIns="25400" bIns="25400" rtlCol="0" anchor="t">
            <a:normAutofit/>
          </a:bodyPr>
          <a:lstStyle/>
          <a:p>
            <a:pPr marL="0" indent="0" algn="l">
              <a:lnSpc>
                <a:spcPct val="145000"/>
              </a:lnSpc>
              <a:buNone/>
            </a:pPr>
            <a:r>
              <a:rPr lang="en-US" sz="2325" b="1" dirty="0">
                <a:solidFill>
                  <a:srgbClr val="9A3B2E"/>
                </a:solidFill>
                <a:latin typeface="Spectral" pitchFamily="34" charset="0"/>
                <a:ea typeface="Spectral" pitchFamily="34" charset="-122"/>
                <a:cs typeface="Spectral" pitchFamily="34" charset="-120"/>
              </a:rPr>
              <a:t>→</a:t>
            </a:r>
            <a:endParaRPr lang="en-US" sz="2325" dirty="0"/>
          </a:p>
        </p:txBody>
      </p:sp>
      <p:sp>
        <p:nvSpPr>
          <p:cNvPr id="7" name="Text 5"/>
          <p:cNvSpPr/>
          <p:nvPr/>
        </p:nvSpPr>
        <p:spPr>
          <a:xfrm>
            <a:off x="1533525" y="3391436"/>
            <a:ext cx="6895898" cy="466249"/>
          </a:xfrm>
          <a:prstGeom prst="rect">
            <a:avLst/>
          </a:prstGeom>
          <a:noFill/>
          <a:ln/>
        </p:spPr>
        <p:txBody>
          <a:bodyPr wrap="square" lIns="25400" tIns="25400" rIns="25400" bIns="25400" rtlCol="0" anchor="t">
            <a:normAutofit/>
          </a:bodyPr>
          <a:lstStyle/>
          <a:p>
            <a:pPr marL="0" indent="0" algn="l">
              <a:lnSpc>
                <a:spcPct val="145000"/>
              </a:lnSpc>
              <a:buNone/>
            </a:pPr>
            <a:r>
              <a:rPr lang="en-US" sz="2325" dirty="0">
                <a:solidFill>
                  <a:srgbClr val="1C1E1A"/>
                </a:solidFill>
                <a:latin typeface="IBM Plex Sans" pitchFamily="34" charset="0"/>
                <a:ea typeface="IBM Plex Sans" pitchFamily="34" charset="-122"/>
                <a:cs typeface="IBM Plex Sans" pitchFamily="34" charset="-120"/>
              </a:rPr>
              <a:t>The data used to train AI can carry human </a:t>
            </a:r>
            <a:r>
              <a:rPr lang="en-US" sz="2325" b="1" dirty="0">
                <a:solidFill>
                  <a:srgbClr val="1C1E1A"/>
                </a:solidFill>
                <a:latin typeface="IBM Plex Sans" pitchFamily="34" charset="0"/>
                <a:ea typeface="IBM Plex Sans" pitchFamily="34" charset="-122"/>
                <a:cs typeface="IBM Plex Sans" pitchFamily="34" charset="-120"/>
              </a:rPr>
              <a:t>bias.</a:t>
            </a:r>
            <a:endParaRPr lang="en-US" sz="2325" dirty="0"/>
          </a:p>
        </p:txBody>
      </p:sp>
      <p:sp>
        <p:nvSpPr>
          <p:cNvPr id="8" name="Shape 6"/>
          <p:cNvSpPr/>
          <p:nvPr/>
        </p:nvSpPr>
        <p:spPr>
          <a:xfrm>
            <a:off x="9486900" y="2306538"/>
            <a:ext cx="7753350" cy="2726055"/>
          </a:xfrm>
          <a:prstGeom prst="roundRect">
            <a:avLst>
              <a:gd name="adj" fmla="val 2795"/>
            </a:avLst>
          </a:prstGeom>
          <a:solidFill>
            <a:srgbClr val="21402E"/>
          </a:solidFill>
          <a:ln/>
        </p:spPr>
      </p:sp>
      <p:sp>
        <p:nvSpPr>
          <p:cNvPr id="9" name="Text 7"/>
          <p:cNvSpPr/>
          <p:nvPr/>
        </p:nvSpPr>
        <p:spPr>
          <a:xfrm>
            <a:off x="9886950" y="2687538"/>
            <a:ext cx="7648575" cy="308610"/>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CCAE62"/>
                </a:solidFill>
                <a:latin typeface="IBM Plex Mono" pitchFamily="34" charset="0"/>
                <a:ea typeface="IBM Plex Mono" pitchFamily="34" charset="-122"/>
                <a:cs typeface="IBM Plex Mono" pitchFamily="34" charset="-120"/>
              </a:rPr>
              <a:t>DISCUSS</a:t>
            </a:r>
            <a:endParaRPr lang="en-US" sz="1650" dirty="0"/>
          </a:p>
        </p:txBody>
      </p:sp>
      <p:sp>
        <p:nvSpPr>
          <p:cNvPr id="10" name="Text 8"/>
          <p:cNvSpPr/>
          <p:nvPr/>
        </p:nvSpPr>
        <p:spPr>
          <a:xfrm>
            <a:off x="9886950" y="3205698"/>
            <a:ext cx="7648575" cy="508635"/>
          </a:xfrm>
          <a:prstGeom prst="rect">
            <a:avLst/>
          </a:prstGeom>
          <a:noFill/>
          <a:ln/>
        </p:spPr>
        <p:txBody>
          <a:bodyPr wrap="square" lIns="25400" tIns="25400" rIns="25400" bIns="25400" rtlCol="0" anchor="t">
            <a:normAutofit/>
          </a:bodyPr>
          <a:lstStyle/>
          <a:p>
            <a:pPr marL="0" indent="0" algn="l">
              <a:lnSpc>
                <a:spcPct val="130000"/>
              </a:lnSpc>
              <a:buNone/>
            </a:pPr>
            <a:r>
              <a:rPr lang="en-US" sz="2850" dirty="0">
                <a:solidFill>
                  <a:srgbClr val="F4F1E8"/>
                </a:solidFill>
                <a:latin typeface="Spectral" pitchFamily="34" charset="0"/>
                <a:ea typeface="Spectral" pitchFamily="34" charset="-122"/>
                <a:cs typeface="Spectral" pitchFamily="34" charset="-120"/>
              </a:rPr>
              <a:t>Should we always trust AI?</a:t>
            </a:r>
            <a:endParaRPr lang="en-US" sz="2850" dirty="0"/>
          </a:p>
        </p:txBody>
      </p:sp>
      <p:sp>
        <p:nvSpPr>
          <p:cNvPr id="11" name="Shape 9"/>
          <p:cNvSpPr/>
          <p:nvPr/>
        </p:nvSpPr>
        <p:spPr>
          <a:xfrm>
            <a:off x="9886950" y="3923883"/>
            <a:ext cx="571500" cy="9525"/>
          </a:xfrm>
          <a:prstGeom prst="rect">
            <a:avLst/>
          </a:prstGeom>
          <a:solidFill>
            <a:srgbClr val="456B51"/>
          </a:solidFill>
          <a:ln/>
        </p:spPr>
      </p:sp>
      <p:sp>
        <p:nvSpPr>
          <p:cNvPr id="12" name="Text 10"/>
          <p:cNvSpPr/>
          <p:nvPr/>
        </p:nvSpPr>
        <p:spPr>
          <a:xfrm>
            <a:off x="9886950" y="4181058"/>
            <a:ext cx="7648575" cy="508635"/>
          </a:xfrm>
          <a:prstGeom prst="rect">
            <a:avLst/>
          </a:prstGeom>
          <a:noFill/>
          <a:ln/>
        </p:spPr>
        <p:txBody>
          <a:bodyPr wrap="square" lIns="25400" tIns="25400" rIns="25400" bIns="25400" rtlCol="0" anchor="t">
            <a:normAutofit/>
          </a:bodyPr>
          <a:lstStyle/>
          <a:p>
            <a:pPr marL="0" indent="0" algn="l">
              <a:lnSpc>
                <a:spcPct val="130000"/>
              </a:lnSpc>
              <a:buNone/>
            </a:pPr>
            <a:r>
              <a:rPr lang="en-US" sz="2850" dirty="0">
                <a:solidFill>
                  <a:srgbClr val="F4F1E8"/>
                </a:solidFill>
                <a:latin typeface="Spectral" pitchFamily="34" charset="0"/>
                <a:ea typeface="Spectral" pitchFamily="34" charset="-122"/>
                <a:cs typeface="Spectral" pitchFamily="34" charset="-120"/>
              </a:rPr>
              <a:t>Who is responsible when AI is wrong?</a:t>
            </a:r>
            <a:endParaRPr lang="en-US" sz="2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402E"/>
        </a:solidFill>
        <a:effectLst/>
      </p:bgPr>
    </p:bg>
    <p:spTree>
      <p:nvGrpSpPr>
        <p:cNvPr id="1" name=""/>
        <p:cNvGrpSpPr/>
        <p:nvPr/>
      </p:nvGrpSpPr>
      <p:grpSpPr>
        <a:xfrm>
          <a:off x="0" y="0"/>
          <a:ext cx="0" cy="0"/>
          <a:chOff x="0" y="0"/>
          <a:chExt cx="0" cy="0"/>
        </a:xfrm>
      </p:grpSpPr>
      <p:sp>
        <p:nvSpPr>
          <p:cNvPr id="2" name="Text 0"/>
          <p:cNvSpPr/>
          <p:nvPr/>
        </p:nvSpPr>
        <p:spPr>
          <a:xfrm>
            <a:off x="1238250" y="3635514"/>
            <a:ext cx="17392650" cy="33909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CAE62"/>
                </a:solidFill>
                <a:latin typeface="IBM Plex Mono" pitchFamily="34" charset="0"/>
                <a:ea typeface="IBM Plex Mono" pitchFamily="34" charset="-122"/>
                <a:cs typeface="IBM Plex Mono" pitchFamily="34" charset="-120"/>
              </a:rPr>
              <a:t>EXIT TICKET · BEFORE YOU GO</a:t>
            </a:r>
            <a:endParaRPr lang="en-US" sz="1800" dirty="0"/>
          </a:p>
        </p:txBody>
      </p:sp>
      <p:sp>
        <p:nvSpPr>
          <p:cNvPr id="3" name="Text 1"/>
          <p:cNvSpPr/>
          <p:nvPr/>
        </p:nvSpPr>
        <p:spPr>
          <a:xfrm>
            <a:off x="1238250" y="4260354"/>
            <a:ext cx="14519910" cy="1571982"/>
          </a:xfrm>
          <a:prstGeom prst="rect">
            <a:avLst/>
          </a:prstGeom>
          <a:noFill/>
          <a:ln/>
        </p:spPr>
        <p:txBody>
          <a:bodyPr wrap="square" lIns="25400" tIns="25400" rIns="25400" bIns="25400" rtlCol="0" anchor="t">
            <a:normAutofit/>
          </a:bodyPr>
          <a:lstStyle/>
          <a:p>
            <a:pPr marL="0" indent="0" algn="l">
              <a:lnSpc>
                <a:spcPct val="122000"/>
              </a:lnSpc>
              <a:buNone/>
            </a:pPr>
            <a:r>
              <a:rPr lang="en-US" sz="4950" b="1" kern="0" spc="-49" dirty="0">
                <a:solidFill>
                  <a:srgbClr val="F4F1E8"/>
                </a:solidFill>
                <a:latin typeface="Spectral" pitchFamily="34" charset="0"/>
                <a:ea typeface="Spectral" pitchFamily="34" charset="-122"/>
                <a:cs typeface="Spectral" pitchFamily="34" charset="-120"/>
              </a:rPr>
              <a:t>What is one way you've used AI without realizing it — and what do you hope to learn in this course?</a:t>
            </a:r>
            <a:endParaRPr lang="en-US" sz="4950" dirty="0"/>
          </a:p>
        </p:txBody>
      </p:sp>
      <p:sp>
        <p:nvSpPr>
          <p:cNvPr id="4" name="Shape 2"/>
          <p:cNvSpPr/>
          <p:nvPr/>
        </p:nvSpPr>
        <p:spPr>
          <a:xfrm>
            <a:off x="1238250" y="6499086"/>
            <a:ext cx="571500" cy="19050"/>
          </a:xfrm>
          <a:prstGeom prst="rect">
            <a:avLst/>
          </a:prstGeom>
          <a:solidFill>
            <a:srgbClr val="CCAE62"/>
          </a:solidFill>
          <a:ln/>
        </p:spPr>
      </p:sp>
      <p:sp>
        <p:nvSpPr>
          <p:cNvPr id="5" name="Text 3"/>
          <p:cNvSpPr/>
          <p:nvPr/>
        </p:nvSpPr>
        <p:spPr>
          <a:xfrm>
            <a:off x="2000250" y="6365736"/>
            <a:ext cx="8675370" cy="323850"/>
          </a:xfrm>
          <a:prstGeom prst="rect">
            <a:avLst/>
          </a:prstGeom>
          <a:noFill/>
          <a:ln/>
        </p:spPr>
        <p:txBody>
          <a:bodyPr wrap="square" lIns="25400" tIns="25400" rIns="25400" bIns="25400" rtlCol="0" anchor="t">
            <a:normAutofit/>
          </a:bodyPr>
          <a:lstStyle/>
          <a:p>
            <a:pPr marL="0" indent="0" algn="l">
              <a:buNone/>
            </a:pPr>
            <a:r>
              <a:rPr lang="en-US" sz="1725" dirty="0">
                <a:solidFill>
                  <a:srgbClr val="9BB0A1"/>
                </a:solidFill>
                <a:latin typeface="IBM Plex Mono" pitchFamily="34" charset="0"/>
                <a:ea typeface="IBM Plex Mono" pitchFamily="34" charset="-122"/>
                <a:cs typeface="IBM Plex Mono" pitchFamily="34" charset="-120"/>
              </a:rPr>
              <a:t>Next class — a closer look at how machines actually learn. †</a:t>
            </a:r>
            <a:endParaRPr lang="en-US" sz="17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1983</Words>
  <Application>Microsoft Office PowerPoint</Application>
  <PresentationFormat>Custom</PresentationFormat>
  <Paragraphs>243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IBM Plex Mono</vt:lpstr>
      <vt:lpstr>IBM Plex Sans</vt:lpstr>
      <vt:lpstr>Spectral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 Goddu</cp:lastModifiedBy>
  <cp:revision>2</cp:revision>
  <dcterms:created xsi:type="dcterms:W3CDTF">2026-06-22T21:40:35Z</dcterms:created>
  <dcterms:modified xsi:type="dcterms:W3CDTF">2026-06-22T21:44:58Z</dcterms:modified>
</cp:coreProperties>
</file>